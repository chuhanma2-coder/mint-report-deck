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65cf6a1b654a2d" /><Relationship Type="http://schemas.openxmlformats.org/officeDocument/2006/relationships/extended-properties" Target="/docProps/app.xml" Id="Rf4adbde63ab2478c" /><Relationship Type="http://schemas.openxmlformats.org/officeDocument/2006/relationships/officeDocument" Target="/ppt/presentation.xml" Id="R7f7e278c31ca4b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63fd9166964fa2"/>
    <p:sldMasterId xmlns:r="http://schemas.openxmlformats.org/officeDocument/2006/relationships" id="2147483650" r:id="Re575efd401f54b99"/>
  </p:sldMasterIdLst>
  <p:notesMasterIdLst>
    <p:notesMasterId xmlns:r="http://schemas.openxmlformats.org/officeDocument/2006/relationships" r:id="R0d33f85bd95c44ae"/>
  </p:notesMasterIdLst>
  <p:sldIdLst>
    <p:sldId xmlns:r="http://schemas.openxmlformats.org/officeDocument/2006/relationships" id="256" r:id="R2936ae50d1934cea"/>
    <p:sldId xmlns:r="http://schemas.openxmlformats.org/officeDocument/2006/relationships" id="257" r:id="R79f0a0c78a9d4693"/>
    <p:sldId xmlns:r="http://schemas.openxmlformats.org/officeDocument/2006/relationships" id="258" r:id="R9a1cff4666f2484a"/>
    <p:sldId xmlns:r="http://schemas.openxmlformats.org/officeDocument/2006/relationships" id="259" r:id="R6bbf2a21cbed4d33"/>
    <p:sldId xmlns:r="http://schemas.openxmlformats.org/officeDocument/2006/relationships" id="260" r:id="Re4cd19076d4f426a"/>
    <p:sldId xmlns:r="http://schemas.openxmlformats.org/officeDocument/2006/relationships" id="261" r:id="R86e7ad4990ae4edb"/>
    <p:sldId xmlns:r="http://schemas.openxmlformats.org/officeDocument/2006/relationships" id="262" r:id="R023553b67ec942a5"/>
    <p:sldId xmlns:r="http://schemas.openxmlformats.org/officeDocument/2006/relationships" id="263" r:id="R189d94dcfb4849b5"/>
    <p:sldId xmlns:r="http://schemas.openxmlformats.org/officeDocument/2006/relationships" id="264" r:id="R496b801ea29f48e0"/>
    <p:sldId xmlns:r="http://schemas.openxmlformats.org/officeDocument/2006/relationships" id="265" r:id="R4dc07dfb7a944a6e"/>
    <p:sldId xmlns:r="http://schemas.openxmlformats.org/officeDocument/2006/relationships" id="266" r:id="R217c25154c3d4bd2"/>
    <p:sldId xmlns:r="http://schemas.openxmlformats.org/officeDocument/2006/relationships" id="267" r:id="R8d955b01241e4a1e"/>
    <p:sldId xmlns:r="http://schemas.openxmlformats.org/officeDocument/2006/relationships" id="268" r:id="R5797e4f766f547be"/>
    <p:sldId xmlns:r="http://schemas.openxmlformats.org/officeDocument/2006/relationships" id="269" r:id="R020ed887c4cb4569"/>
    <p:sldId xmlns:r="http://schemas.openxmlformats.org/officeDocument/2006/relationships" id="270" r:id="R5806aa7b7ade4af9"/>
    <p:sldId xmlns:r="http://schemas.openxmlformats.org/officeDocument/2006/relationships" id="271" r:id="Rc7d8d609dc014d91"/>
    <p:sldId xmlns:r="http://schemas.openxmlformats.org/officeDocument/2006/relationships" id="272" r:id="R202d99fb3e7d4bf8"/>
    <p:sldId xmlns:r="http://schemas.openxmlformats.org/officeDocument/2006/relationships" id="273" r:id="Rc5420adb1b394e66"/>
    <p:sldId xmlns:r="http://schemas.openxmlformats.org/officeDocument/2006/relationships" id="274" r:id="R92f35e09dcdf4ff3"/>
    <p:sldId xmlns:r="http://schemas.openxmlformats.org/officeDocument/2006/relationships" id="275" r:id="Rfaadf4616a89408e"/>
    <p:sldId xmlns:r="http://schemas.openxmlformats.org/officeDocument/2006/relationships" id="276" r:id="R5e2a1b617c2549e1"/>
    <p:sldId xmlns:r="http://schemas.openxmlformats.org/officeDocument/2006/relationships" id="277" r:id="R5c5d31db44e34a5c"/>
    <p:sldId xmlns:r="http://schemas.openxmlformats.org/officeDocument/2006/relationships" id="278" r:id="Ra3388cc73f3e44e3"/>
    <p:sldId xmlns:r="http://schemas.openxmlformats.org/officeDocument/2006/relationships" id="279" r:id="R363a6e01152e4a00"/>
    <p:sldId xmlns:r="http://schemas.openxmlformats.org/officeDocument/2006/relationships" id="280" r:id="R2db1c8e954c249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5fc916281e4208" /><Relationship Type="http://schemas.openxmlformats.org/officeDocument/2006/relationships/slideMaster" Target="/ppt/slideMasters/slideMaster1.xml" Id="Rbd63fd9166964fa2" /><Relationship Type="http://schemas.openxmlformats.org/officeDocument/2006/relationships/slideMaster" Target="/ppt/slideMasters/slideMaster2.xml" Id="Re575efd401f54b99" /><Relationship Type="http://schemas.openxmlformats.org/officeDocument/2006/relationships/notesMaster" Target="/ppt/notesMasters/notesMaster1.xml" Id="R0d33f85bd95c44ae" /><Relationship Type="http://schemas.openxmlformats.org/officeDocument/2006/relationships/presProps" Target="/ppt/presProps.xml" Id="R18e91178582843d6" /><Relationship Type="http://schemas.openxmlformats.org/officeDocument/2006/relationships/tableStyles" Target="/ppt/tableStyles.xml" Id="R53554a089efc4363" /><Relationship Type="http://schemas.openxmlformats.org/officeDocument/2006/relationships/slide" Target="/ppt/slides/slide1.xml" Id="R2936ae50d1934cea" /><Relationship Type="http://schemas.openxmlformats.org/officeDocument/2006/relationships/slide" Target="/ppt/slides/slide2.xml" Id="R79f0a0c78a9d4693" /><Relationship Type="http://schemas.openxmlformats.org/officeDocument/2006/relationships/slide" Target="/ppt/slides/slide3.xml" Id="R9a1cff4666f2484a" /><Relationship Type="http://schemas.openxmlformats.org/officeDocument/2006/relationships/slide" Target="/ppt/slides/slide4.xml" Id="R6bbf2a21cbed4d33" /><Relationship Type="http://schemas.openxmlformats.org/officeDocument/2006/relationships/slide" Target="/ppt/slides/slide5.xml" Id="Re4cd19076d4f426a" /><Relationship Type="http://schemas.openxmlformats.org/officeDocument/2006/relationships/slide" Target="/ppt/slides/slide6.xml" Id="R86e7ad4990ae4edb" /><Relationship Type="http://schemas.openxmlformats.org/officeDocument/2006/relationships/slide" Target="/ppt/slides/slide7.xml" Id="R023553b67ec942a5" /><Relationship Type="http://schemas.openxmlformats.org/officeDocument/2006/relationships/slide" Target="/ppt/slides/slide8.xml" Id="R189d94dcfb4849b5" /><Relationship Type="http://schemas.openxmlformats.org/officeDocument/2006/relationships/slide" Target="/ppt/slides/slide9.xml" Id="R496b801ea29f48e0" /><Relationship Type="http://schemas.openxmlformats.org/officeDocument/2006/relationships/slide" Target="/ppt/slides/slide10.xml" Id="R4dc07dfb7a944a6e" /><Relationship Type="http://schemas.openxmlformats.org/officeDocument/2006/relationships/slide" Target="/ppt/slides/slide11.xml" Id="R217c25154c3d4bd2" /><Relationship Type="http://schemas.openxmlformats.org/officeDocument/2006/relationships/slide" Target="/ppt/slides/slide12.xml" Id="R8d955b01241e4a1e" /><Relationship Type="http://schemas.openxmlformats.org/officeDocument/2006/relationships/slide" Target="/ppt/slides/slide13.xml" Id="R5797e4f766f547be" /><Relationship Type="http://schemas.openxmlformats.org/officeDocument/2006/relationships/slide" Target="/ppt/slides/slide14.xml" Id="R020ed887c4cb4569" /><Relationship Type="http://schemas.openxmlformats.org/officeDocument/2006/relationships/slide" Target="/ppt/slides/slide15.xml" Id="R5806aa7b7ade4af9" /><Relationship Type="http://schemas.openxmlformats.org/officeDocument/2006/relationships/slide" Target="/ppt/slides/slide16.xml" Id="Rc7d8d609dc014d91" /><Relationship Type="http://schemas.openxmlformats.org/officeDocument/2006/relationships/slide" Target="/ppt/slides/slide17.xml" Id="R202d99fb3e7d4bf8" /><Relationship Type="http://schemas.openxmlformats.org/officeDocument/2006/relationships/slide" Target="/ppt/slides/slide18.xml" Id="Rc5420adb1b394e66" /><Relationship Type="http://schemas.openxmlformats.org/officeDocument/2006/relationships/slide" Target="/ppt/slides/slide19.xml" Id="R92f35e09dcdf4ff3" /><Relationship Type="http://schemas.openxmlformats.org/officeDocument/2006/relationships/slide" Target="/ppt/slides/slide20.xml" Id="Rfaadf4616a89408e" /><Relationship Type="http://schemas.openxmlformats.org/officeDocument/2006/relationships/slide" Target="/ppt/slides/slide21.xml" Id="R5e2a1b617c2549e1" /><Relationship Type="http://schemas.openxmlformats.org/officeDocument/2006/relationships/slide" Target="/ppt/slides/slide22.xml" Id="R5c5d31db44e34a5c" /><Relationship Type="http://schemas.openxmlformats.org/officeDocument/2006/relationships/slide" Target="/ppt/slides/slide23.xml" Id="Ra3388cc73f3e44e3" /><Relationship Type="http://schemas.openxmlformats.org/officeDocument/2006/relationships/slide" Target="/ppt/slides/slide24.xml" Id="R363a6e01152e4a00" /><Relationship Type="http://schemas.openxmlformats.org/officeDocument/2006/relationships/slide" Target="/ppt/slides/slide25.xml" Id="R2db1c8e954c249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8915ca6fb3dc4d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9eabc5d3a94a81" /><Relationship Type="http://schemas.openxmlformats.org/officeDocument/2006/relationships/notesMaster" Target="/ppt/notesMasters/notesMaster1.xml" Id="R96d4dd33da5a47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682a56c38d4dce" /><Relationship Type="http://schemas.openxmlformats.org/officeDocument/2006/relationships/notesMaster" Target="/ppt/notesMasters/notesMaster1.xml" Id="R3179c470b7dc44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70478c89d94fa9" /><Relationship Type="http://schemas.openxmlformats.org/officeDocument/2006/relationships/notesMaster" Target="/ppt/notesMasters/notesMaster1.xml" Id="R60f2e0745ad949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e9952888a445b9" /><Relationship Type="http://schemas.openxmlformats.org/officeDocument/2006/relationships/notesMaster" Target="/ppt/notesMasters/notesMaster1.xml" Id="Rae7265bfe6514f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946331365c4405" /><Relationship Type="http://schemas.openxmlformats.org/officeDocument/2006/relationships/notesMaster" Target="/ppt/notesMasters/notesMaster1.xml" Id="Re5a7aaeef17c46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e031b255874b01" /><Relationship Type="http://schemas.openxmlformats.org/officeDocument/2006/relationships/notesMaster" Target="/ppt/notesMasters/notesMaster1.xml" Id="Rafaf52ea6d3b4a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7040c512cd4fe6" /><Relationship Type="http://schemas.openxmlformats.org/officeDocument/2006/relationships/notesMaster" Target="/ppt/notesMasters/notesMaster1.xml" Id="R2e06d028aeab4d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f82da83c3342df" /><Relationship Type="http://schemas.openxmlformats.org/officeDocument/2006/relationships/notesMaster" Target="/ppt/notesMasters/notesMaster1.xml" Id="Rbba10ce9dcf047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d097b153314eb9" /><Relationship Type="http://schemas.openxmlformats.org/officeDocument/2006/relationships/notesMaster" Target="/ppt/notesMasters/notesMaster1.xml" Id="R8c3a0df186f64b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f459f9744d48a2" /><Relationship Type="http://schemas.openxmlformats.org/officeDocument/2006/relationships/notesMaster" Target="/ppt/notesMasters/notesMaster1.xml" Id="R6b56197ee4a541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1e2cd4d40046c1" /><Relationship Type="http://schemas.openxmlformats.org/officeDocument/2006/relationships/notesMaster" Target="/ppt/notesMasters/notesMaster1.xml" Id="R62755931f3c34b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b079b386894c36" /><Relationship Type="http://schemas.openxmlformats.org/officeDocument/2006/relationships/notesMaster" Target="/ppt/notesMasters/notesMaster1.xml" Id="R68bf166d9c924d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efb2d95fb8a493e" /><Relationship Type="http://schemas.openxmlformats.org/officeDocument/2006/relationships/notesMaster" Target="/ppt/notesMasters/notesMaster1.xml" Id="R9cf2837acd434d8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078c857484848e8" /><Relationship Type="http://schemas.openxmlformats.org/officeDocument/2006/relationships/notesMaster" Target="/ppt/notesMasters/notesMaster1.xml" Id="Rf3b623f5b8a346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1f43ba7648428c" /><Relationship Type="http://schemas.openxmlformats.org/officeDocument/2006/relationships/notesMaster" Target="/ppt/notesMasters/notesMaster1.xml" Id="Rc12a4abd4cb747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e782a8cfb34f51" /><Relationship Type="http://schemas.openxmlformats.org/officeDocument/2006/relationships/notesMaster" Target="/ppt/notesMasters/notesMaster1.xml" Id="Re4d670adf05d48a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311d1f39b394e37" /><Relationship Type="http://schemas.openxmlformats.org/officeDocument/2006/relationships/notesMaster" Target="/ppt/notesMasters/notesMaster1.xml" Id="R19b1a1c0c28e42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e6f23f990cd4abf" /><Relationship Type="http://schemas.openxmlformats.org/officeDocument/2006/relationships/notesMaster" Target="/ppt/notesMasters/notesMaster1.xml" Id="R8c62a60af2e742a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89ff0b6565c4097" /><Relationship Type="http://schemas.openxmlformats.org/officeDocument/2006/relationships/notesMaster" Target="/ppt/notesMasters/notesMaster1.xml" Id="R4389d12102184ad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cae5e6b33a4b45" /><Relationship Type="http://schemas.openxmlformats.org/officeDocument/2006/relationships/notesMaster" Target="/ppt/notesMasters/notesMaster1.xml" Id="R7c6aae3f849b45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d152056cef84a68" /><Relationship Type="http://schemas.openxmlformats.org/officeDocument/2006/relationships/notesMaster" Target="/ppt/notesMasters/notesMaster1.xml" Id="R8f42d26538584bf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c47fd2f76646f6" /><Relationship Type="http://schemas.openxmlformats.org/officeDocument/2006/relationships/notesMaster" Target="/ppt/notesMasters/notesMaster1.xml" Id="R217ddd89950c426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46bb4628f494c7e" /><Relationship Type="http://schemas.openxmlformats.org/officeDocument/2006/relationships/notesMaster" Target="/ppt/notesMasters/notesMaster1.xml" Id="R4b8507d285a14f1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26ce1eac92945ea" /><Relationship Type="http://schemas.openxmlformats.org/officeDocument/2006/relationships/notesMaster" Target="/ppt/notesMasters/notesMaster1.xml" Id="Rf9e7f331d896464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cc95520efac4a2a" /><Relationship Type="http://schemas.openxmlformats.org/officeDocument/2006/relationships/notesMaster" Target="/ppt/notesMasters/notesMaster1.xml" Id="Reb223da738cb40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92ab0b7fd46e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e1110a99f244b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d679a9e35a049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3c5537c41094e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0ab15a1e40a4d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84d211ffbd94df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3cf049eadc9472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a7fced67fa04f6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cdde58c60024f2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5c68b5f2fb94a5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8645d636806435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3285c854ec349f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d5249008f854840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1b50da3b8f04169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53ac998f1cc4974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937447da0c943e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7ac952c107f48b3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0d1660c2be341e8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ee8039eba984032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c08e5753f5d4e8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681a97920b74244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ae6fa0ed12e4f64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ba03a7d29504a60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07c95d32e714bec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5477f03fc9c4c99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667adee318b43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Mint · 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C92AD68D-4085-4FD9-8BE2-624164E3BF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封面标题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Mint · 管理层总览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27DE25C0-DB6A-4D72-AA94-5C963EB31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管理层总览标题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Mint · 三层合作架构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0D2808CD-6260-4FF5-8621-33669ACF62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三层合作架构标题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Mint · 双轨路线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D28222B7-DA1E-4CBA-8B54-1AF9CE5582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双轨路线图标题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Mint · 横向流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94BA7D49-3931-449D-91D2-9680ADF67E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横向流程标题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Mint · 时间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A46574A0-17B3-4879-B2FA-0E3D351664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时间轴标题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>
  <p:cSld name="Mint · 角色泳道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CC15BC88-8E93-4637-A443-B17B66B0E7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角色泳道标题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>
  <p:cSld name="Mint · 方案对比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849016AE-E086-4BDF-BA8F-2C47E66CB9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方案对比标题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>
  <p:cSld name="Mint · 二维矩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0CAECBBA-793C-4972-9F55-7B99882F04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二维矩阵标题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>
  <p:cSld name="Mint · KPI 与精确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804AB990-1011-4616-8C74-AA1F65B918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KPI 与精确表格标题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>
  <p:cSld name="Mint · 数据图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226C2066-69C2-4853-82C2-5DF6FA4045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数据图表标题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>
  <p:cSld name="Mint · 风险行动 Ow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D3CD5D8E-372F-42BD-8392-DF0CF9659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风险行动 Owner标题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>
  <p:cSld name="Mint · 管理层决策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2D2F9411-FDA1-4B0D-8A99-6F233D5F0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管理层决策标题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>
  <p:cSld name="Mint · 能力链路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016B596A-68DB-4629-AD3D-3C2923AEB4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能力链路标题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>
  <p:cSld name="Mint · 风险聚焦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7269C538-DBF1-4723-8742-B95E4A051E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风险聚焦标题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>
  <p:cSld name="Mint · 资金决策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71CEA28E-55F3-4477-B9EE-6C7512049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资金决策标题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>
  <p:cSld name="Mint · 关键数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51F9509D-4D98-4DFD-B777-9C1C57B9EB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关键数字标题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>
  <p:cSld name="Mint · 实际与目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979C7A0F-7E7F-4523-9AB0-0159899E7E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实际与目标标题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>
  <p:cSld name="Mint · 阈值与监管上限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5449EC05-871A-4F30-8B58-5416709C1C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阈值与监管上限标题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>
  <p:cSld name="Mint · 构成与权益分配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88E66771-F6D6-40A5-A0E1-30537667B0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构成与权益分配标题</a:t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>
  <p:cSld name="Mint · 公式与差额桥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601CA2B3-31C0-416F-B9DB-BC9B20C7DE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公式与差额桥标题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>
  <p:cSld name="Mint · 定量双对象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EA53FB2C-9809-44F2-BB5F-BB0C6251C5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定量双对象比较标题</a:t>
            </a:r>
          </a:p>
        </p:txBody>
      </p:sp>
    </p:spTree>
  </p:cSld>
</p:sldLayout>
</file>

<file path=ppt/slideLayouts/slideLayout24.xml><?xml version="1.0" encoding="utf-8"?>
<p:sldLayout xmlns:p="http://schemas.openxmlformats.org/presentationml/2006/main">
  <p:cSld name="Mint · 情景与预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F68E51A9-F3AB-4EA6-9D07-AA6F5EEA8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情景与预测标题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>
  <p:cSld name="Mint · 章节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BD1104EF-C24C-4F09-BB87-4374352E64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章节页标题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>
  <p:cSld name="Mint · 结尾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_1">
            <a:extLst xmlns:a="http://schemas.openxmlformats.org/drawingml/2006/main">
              <a:ext uri="{FF2B5EF4-FFF2-40B4-BE49-F238E27FC236}">
                <a16:creationId xmlns:a16="http://schemas.microsoft.com/office/drawing/2014/main" id="{1C80DA18-0D80-478A-8AD7-14C7716C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结尾页标题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5ce6d5d13344e6" /><Relationship Type="http://schemas.openxmlformats.org/officeDocument/2006/relationships/slideLayout" Target="/ppt/slideLayouts/slideLayout1.xml" Id="R4de52ecda3b44260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422da585cc494642" /><Relationship Type="http://schemas.openxmlformats.org/officeDocument/2006/relationships/slideLayout" Target="/ppt/slideLayouts/slideLayout2.xml" Id="R350c5701d7b44dd1" /><Relationship Type="http://schemas.openxmlformats.org/officeDocument/2006/relationships/slideLayout" Target="/ppt/slideLayouts/slideLayout3.xml" Id="R4f85fffb4ebc4fc9" /><Relationship Type="http://schemas.openxmlformats.org/officeDocument/2006/relationships/slideLayout" Target="/ppt/slideLayouts/slideLayout4.xml" Id="Rfb9dfb2bd976456e" /><Relationship Type="http://schemas.openxmlformats.org/officeDocument/2006/relationships/slideLayout" Target="/ppt/slideLayouts/slideLayout5.xml" Id="Reaa7372704b44b24" /><Relationship Type="http://schemas.openxmlformats.org/officeDocument/2006/relationships/slideLayout" Target="/ppt/slideLayouts/slideLayout6.xml" Id="R069bcdf4cbb4460d" /><Relationship Type="http://schemas.openxmlformats.org/officeDocument/2006/relationships/slideLayout" Target="/ppt/slideLayouts/slideLayout7.xml" Id="Rd26fce41135f4488" /><Relationship Type="http://schemas.openxmlformats.org/officeDocument/2006/relationships/slideLayout" Target="/ppt/slideLayouts/slideLayout8.xml" Id="R453fa76f052242d2" /><Relationship Type="http://schemas.openxmlformats.org/officeDocument/2006/relationships/slideLayout" Target="/ppt/slideLayouts/slideLayout9.xml" Id="Ra0abf46594f64101" /><Relationship Type="http://schemas.openxmlformats.org/officeDocument/2006/relationships/slideLayout" Target="/ppt/slideLayouts/slideLayout10.xml" Id="R66282568bc8a4cb1" /><Relationship Type="http://schemas.openxmlformats.org/officeDocument/2006/relationships/slideLayout" Target="/ppt/slideLayouts/slideLayout11.xml" Id="R54e7e27b9a1144eb" /><Relationship Type="http://schemas.openxmlformats.org/officeDocument/2006/relationships/slideLayout" Target="/ppt/slideLayouts/slideLayout12.xml" Id="Rb51a8e3eb9294dcb" /><Relationship Type="http://schemas.openxmlformats.org/officeDocument/2006/relationships/slideLayout" Target="/ppt/slideLayouts/slideLayout13.xml" Id="R6c1545317993492b" /><Relationship Type="http://schemas.openxmlformats.org/officeDocument/2006/relationships/slideLayout" Target="/ppt/slideLayouts/slideLayout14.xml" Id="R29a79583d9084759" /><Relationship Type="http://schemas.openxmlformats.org/officeDocument/2006/relationships/slideLayout" Target="/ppt/slideLayouts/slideLayout15.xml" Id="R93b48c017d8e484e" /><Relationship Type="http://schemas.openxmlformats.org/officeDocument/2006/relationships/slideLayout" Target="/ppt/slideLayouts/slideLayout16.xml" Id="R5004a01c22bc4443" /><Relationship Type="http://schemas.openxmlformats.org/officeDocument/2006/relationships/slideLayout" Target="/ppt/slideLayouts/slideLayout17.xml" Id="R9cb442e3f1a14fd3" /><Relationship Type="http://schemas.openxmlformats.org/officeDocument/2006/relationships/slideLayout" Target="/ppt/slideLayouts/slideLayout18.xml" Id="R6c9caf4fff384bee" /><Relationship Type="http://schemas.openxmlformats.org/officeDocument/2006/relationships/slideLayout" Target="/ppt/slideLayouts/slideLayout19.xml" Id="R2b42ad5810364363" /><Relationship Type="http://schemas.openxmlformats.org/officeDocument/2006/relationships/slideLayout" Target="/ppt/slideLayouts/slideLayout20.xml" Id="Rb7f680efeeff4491" /><Relationship Type="http://schemas.openxmlformats.org/officeDocument/2006/relationships/slideLayout" Target="/ppt/slideLayouts/slideLayout21.xml" Id="Rb3af2bfe4fd1405f" /><Relationship Type="http://schemas.openxmlformats.org/officeDocument/2006/relationships/slideLayout" Target="/ppt/slideLayouts/slideLayout22.xml" Id="R95891b040df34f18" /><Relationship Type="http://schemas.openxmlformats.org/officeDocument/2006/relationships/slideLayout" Target="/ppt/slideLayouts/slideLayout23.xml" Id="R6db8620c471c4aba" /><Relationship Type="http://schemas.openxmlformats.org/officeDocument/2006/relationships/slideLayout" Target="/ppt/slideLayouts/slideLayout24.xml" Id="R5aedbe8be6a044af" /><Relationship Type="http://schemas.openxmlformats.org/officeDocument/2006/relationships/slideLayout" Target="/ppt/slideLayouts/slideLayout25.xml" Id="Re2d2626ac6e44a60" /><Relationship Type="http://schemas.openxmlformats.org/officeDocument/2006/relationships/slideLayout" Target="/ppt/slideLayouts/slideLayout26.xml" Id="R8bf5eb71dd1945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e52ecda3b442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int Formal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350c5701d7b44dd1"/>
    <p:sldLayoutId xmlns:r="http://schemas.openxmlformats.org/officeDocument/2006/relationships" id="2147483652" r:id="R4f85fffb4ebc4fc9"/>
    <p:sldLayoutId xmlns:r="http://schemas.openxmlformats.org/officeDocument/2006/relationships" id="2147483653" r:id="Rfb9dfb2bd976456e"/>
    <p:sldLayoutId xmlns:r="http://schemas.openxmlformats.org/officeDocument/2006/relationships" id="2147483654" r:id="Reaa7372704b44b24"/>
    <p:sldLayoutId xmlns:r="http://schemas.openxmlformats.org/officeDocument/2006/relationships" id="2147483655" r:id="R069bcdf4cbb4460d"/>
    <p:sldLayoutId xmlns:r="http://schemas.openxmlformats.org/officeDocument/2006/relationships" id="2147483656" r:id="Rd26fce41135f4488"/>
    <p:sldLayoutId xmlns:r="http://schemas.openxmlformats.org/officeDocument/2006/relationships" id="2147483657" r:id="R453fa76f052242d2"/>
    <p:sldLayoutId xmlns:r="http://schemas.openxmlformats.org/officeDocument/2006/relationships" id="2147483658" r:id="Ra0abf46594f64101"/>
    <p:sldLayoutId xmlns:r="http://schemas.openxmlformats.org/officeDocument/2006/relationships" id="2147483659" r:id="R66282568bc8a4cb1"/>
    <p:sldLayoutId xmlns:r="http://schemas.openxmlformats.org/officeDocument/2006/relationships" id="2147483660" r:id="R54e7e27b9a1144eb"/>
    <p:sldLayoutId xmlns:r="http://schemas.openxmlformats.org/officeDocument/2006/relationships" id="2147483661" r:id="Rb51a8e3eb9294dcb"/>
    <p:sldLayoutId xmlns:r="http://schemas.openxmlformats.org/officeDocument/2006/relationships" id="2147483662" r:id="R6c1545317993492b"/>
    <p:sldLayoutId xmlns:r="http://schemas.openxmlformats.org/officeDocument/2006/relationships" id="2147483663" r:id="R29a79583d9084759"/>
    <p:sldLayoutId xmlns:r="http://schemas.openxmlformats.org/officeDocument/2006/relationships" id="2147483664" r:id="R93b48c017d8e484e"/>
    <p:sldLayoutId xmlns:r="http://schemas.openxmlformats.org/officeDocument/2006/relationships" id="2147483665" r:id="R5004a01c22bc4443"/>
    <p:sldLayoutId xmlns:r="http://schemas.openxmlformats.org/officeDocument/2006/relationships" id="2147483666" r:id="R9cb442e3f1a14fd3"/>
    <p:sldLayoutId xmlns:r="http://schemas.openxmlformats.org/officeDocument/2006/relationships" id="2147483667" r:id="R6c9caf4fff384bee"/>
    <p:sldLayoutId xmlns:r="http://schemas.openxmlformats.org/officeDocument/2006/relationships" id="2147483668" r:id="R2b42ad5810364363"/>
    <p:sldLayoutId xmlns:r="http://schemas.openxmlformats.org/officeDocument/2006/relationships" id="2147483669" r:id="Rb7f680efeeff4491"/>
    <p:sldLayoutId xmlns:r="http://schemas.openxmlformats.org/officeDocument/2006/relationships" id="2147483670" r:id="Rb3af2bfe4fd1405f"/>
    <p:sldLayoutId xmlns:r="http://schemas.openxmlformats.org/officeDocument/2006/relationships" id="2147483671" r:id="R95891b040df34f18"/>
    <p:sldLayoutId xmlns:r="http://schemas.openxmlformats.org/officeDocument/2006/relationships" id="2147483672" r:id="R6db8620c471c4aba"/>
    <p:sldLayoutId xmlns:r="http://schemas.openxmlformats.org/officeDocument/2006/relationships" id="2147483673" r:id="R5aedbe8be6a044af"/>
    <p:sldLayoutId xmlns:r="http://schemas.openxmlformats.org/officeDocument/2006/relationships" id="2147483674" r:id="Re2d2626ac6e44a60"/>
    <p:sldLayoutId xmlns:r="http://schemas.openxmlformats.org/officeDocument/2006/relationships" id="2147483675" r:id="R8bf5eb71dd1945f1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34cfae8fcc42a3" /><Relationship Type="http://schemas.openxmlformats.org/officeDocument/2006/relationships/notesSlide" Target="/ppt/notesSlides/notesSlide1.xml" Id="R0449ef08897542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d0cd9e74254dbb" /><Relationship Type="http://schemas.openxmlformats.org/officeDocument/2006/relationships/notesSlide" Target="/ppt/notesSlides/notesSlide2.xml" Id="Ra033298852384a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358a39e44a14694" /><Relationship Type="http://schemas.openxmlformats.org/officeDocument/2006/relationships/notesSlide" Target="/ppt/notesSlides/notesSlide3.xml" Id="R21b8ca0607aa48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c7824d2bb734d73" /><Relationship Type="http://schemas.openxmlformats.org/officeDocument/2006/relationships/notesSlide" Target="/ppt/notesSlides/notesSlide4.xml" Id="R713886f37dc541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8ae43fd03540cd" /><Relationship Type="http://schemas.openxmlformats.org/officeDocument/2006/relationships/notesSlide" Target="/ppt/notesSlides/notesSlide5.xml" Id="R2e1ac9021ae94e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f7a62a06b445a9" /><Relationship Type="http://schemas.openxmlformats.org/officeDocument/2006/relationships/notesSlide" Target="/ppt/notesSlides/notesSlide6.xml" Id="R1196f77765f449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601fdfb079f4184" /><Relationship Type="http://schemas.openxmlformats.org/officeDocument/2006/relationships/notesSlide" Target="/ppt/notesSlides/notesSlide7.xml" Id="R4fa738d24d2f48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43470969e461426e" /><Relationship Type="http://schemas.openxmlformats.org/officeDocument/2006/relationships/notesSlide" Target="/ppt/notesSlides/notesSlide8.xml" Id="Rfa89e708f2724f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adeb66056f12489c" /><Relationship Type="http://schemas.openxmlformats.org/officeDocument/2006/relationships/notesSlide" Target="/ppt/notesSlides/notesSlide9.xml" Id="R96ccbe21b6314d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44e34400b814022" /><Relationship Type="http://schemas.openxmlformats.org/officeDocument/2006/relationships/notesSlide" Target="/ppt/notesSlides/notesSlide10.xml" Id="R9ae8ce362ddf4c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a31b5af6ba04ef7" /><Relationship Type="http://schemas.openxmlformats.org/officeDocument/2006/relationships/chart" Target="/ppt/slides/charts/chart1.xml" Id="Rb6b1dcad5d8c4248" /><Relationship Type="http://schemas.openxmlformats.org/officeDocument/2006/relationships/chart" Target="/ppt/slides/charts/chart2.xml" Id="R86c9b4c09fdb4a43" /><Relationship Type="http://schemas.openxmlformats.org/officeDocument/2006/relationships/notesSlide" Target="/ppt/notesSlides/notesSlide11.xml" Id="Rac790808a333485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f5c40c6aae234f5a" /><Relationship Type="http://schemas.openxmlformats.org/officeDocument/2006/relationships/notesSlide" Target="/ppt/notesSlides/notesSlide12.xml" Id="R2c4e06ec1b7649e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fbeeaff815694ede" /><Relationship Type="http://schemas.openxmlformats.org/officeDocument/2006/relationships/notesSlide" Target="/ppt/notesSlides/notesSlide13.xml" Id="Ra626a45a3a6f46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3c4d2a32ddc8424c" /><Relationship Type="http://schemas.openxmlformats.org/officeDocument/2006/relationships/notesSlide" Target="/ppt/notesSlides/notesSlide14.xml" Id="R79bf10d96bc84b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7e725aa250ea46ae" /><Relationship Type="http://schemas.openxmlformats.org/officeDocument/2006/relationships/notesSlide" Target="/ppt/notesSlides/notesSlide15.xml" Id="R082594cea59d4a5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7710c3af43749a3" /><Relationship Type="http://schemas.openxmlformats.org/officeDocument/2006/relationships/notesSlide" Target="/ppt/notesSlides/notesSlide16.xml" Id="R9d58553128f5470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2b2c74d141b4088" /><Relationship Type="http://schemas.openxmlformats.org/officeDocument/2006/relationships/notesSlide" Target="/ppt/notesSlides/notesSlide17.xml" Id="R163a7a1c2b274ef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0c80fdf4f9324dda" /><Relationship Type="http://schemas.openxmlformats.org/officeDocument/2006/relationships/notesSlide" Target="/ppt/notesSlides/notesSlide18.xml" Id="Rb6e096658fb04cf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fedc341cc5b84c61" /><Relationship Type="http://schemas.openxmlformats.org/officeDocument/2006/relationships/notesSlide" Target="/ppt/notesSlides/notesSlide19.xml" Id="R99fc1af0ed434e6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1bb04649520945f6" /><Relationship Type="http://schemas.openxmlformats.org/officeDocument/2006/relationships/notesSlide" Target="/ppt/notesSlides/notesSlide20.xml" Id="Rfb7ecb5a597949e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2.xml" Id="R49e3ca16f32745e8" /><Relationship Type="http://schemas.openxmlformats.org/officeDocument/2006/relationships/notesSlide" Target="/ppt/notesSlides/notesSlide21.xml" Id="R070fd53b3173461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42df8976afb34a97" /><Relationship Type="http://schemas.openxmlformats.org/officeDocument/2006/relationships/notesSlide" Target="/ppt/notesSlides/notesSlide22.xml" Id="Rfefd9d23c629499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c68dd7794a0b43ab" /><Relationship Type="http://schemas.openxmlformats.org/officeDocument/2006/relationships/notesSlide" Target="/ppt/notesSlides/notesSlide23.xml" Id="Rd75fbebcbb9346b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5.xml" Id="Rbbbf7d7419254dd6" /><Relationship Type="http://schemas.openxmlformats.org/officeDocument/2006/relationships/notesSlide" Target="/ppt/notesSlides/notesSlide24.xml" Id="Ra1179942235a455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6.xml" Id="R942ef7f8357d4abe" /><Relationship Type="http://schemas.openxmlformats.org/officeDocument/2006/relationships/notesSlide" Target="/ppt/notesSlides/notesSlide25.xml" Id="R86bae8b6c3d645e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本期</c:v>
          </c:tx>
          <c:spPr>
            <a:solidFill xmlns:a="http://schemas.openxmlformats.org/drawingml/2006/main">
              <a:srgbClr val="1C7866"/>
            </a:solidFill>
          </c:spPr>
          <c:cat>
            <c:strLit>
              <c:ptCount val="4"/>
              <c:pt idx="0">
                <c:v>类别 A</c:v>
              </c:pt>
              <c:pt idx="1">
                <c:v>类别 B</c:v>
              </c:pt>
              <c:pt idx="2">
                <c:v>类别 C</c:v>
              </c:pt>
              <c:pt idx="3">
                <c:v>类别 D</c:v>
              </c:pt>
            </c:strLit>
          </c:cat>
          <c:val>
            <c:numLit>
              <c:formatCode>General</c:formatCode>
              <c:ptCount val="4"/>
              <c:pt idx="0">
                <c:v>42</c:v>
              </c:pt>
              <c:pt idx="1">
                <c:v>58</c:v>
              </c:pt>
              <c:pt idx="2">
                <c:v>73</c:v>
              </c:pt>
              <c:pt idx="3">
                <c:v>65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3C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实际</c:v>
          </c:tx>
          <c:spPr>
            <a:ln xmlns:a="http://schemas.openxmlformats.org/drawingml/2006/main" w="28575">
              <a:solidFill>
                <a:srgbClr val="547E89"/>
              </a:solidFill>
            </a:ln>
          </c:spPr>
          <c:marker>
            <c:symbol val="none"/>
          </c:marker>
          <c:cat>
            <c:strLit>
              <c:ptCount val="5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</c:strLit>
          </c:cat>
          <c:val>
            <c:numLit>
              <c:formatCode>General</c:formatCode>
              <c:ptCount val="5"/>
              <c:pt idx="0">
                <c:v>35</c:v>
              </c:pt>
              <c:pt idx="1">
                <c:v>42</c:v>
              </c:pt>
              <c:pt idx="2">
                <c:v>48</c:v>
              </c:pt>
              <c:pt idx="3">
                <c:v>57</c:v>
              </c:pt>
              <c:pt idx="4">
                <c:v>63</c:v>
              </c:pt>
            </c:numLit>
          </c:val>
        </c:ser>
        <c:ser>
          <c:idx val="1"/>
          <c:order val="1"/>
          <c:tx>
            <c:v>目标</c:v>
          </c:tx>
          <c:spPr>
            <a:ln xmlns:a="http://schemas.openxmlformats.org/drawingml/2006/main" w="19050">
              <a:solidFill>
                <a:srgbClr val="BC794D"/>
              </a:solidFill>
            </a:ln>
          </c:spPr>
          <c:marker>
            <c:symbol val="none"/>
          </c:marker>
          <c:cat>
            <c:strLit>
              <c:ptCount val="5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44</c:v>
              </c:pt>
              <c:pt idx="2">
                <c:v>50</c:v>
              </c:pt>
              <c:pt idx="3">
                <c:v>56</c:v>
              </c:pt>
              <c:pt idx="4">
                <c:v>62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BD3C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45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light-panel">
            <a:extLst xmlns:a="http://schemas.openxmlformats.org/drawingml/2006/main">
              <a:ext uri="{FF2B5EF4-FFF2-40B4-BE49-F238E27FC236}">
                <a16:creationId xmlns:a16="http://schemas.microsoft.com/office/drawing/2014/main" id="{199B8993-9229-43EB-B789-5C71CC77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099C7B71-9A95-4A6D-BA26-13801340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CCDB2"/>
                </a:solidFill>
              </a:defRPr>
            </a:pPr>
            <a:r>
              <a:rPr sz="975" b="1">
                <a:solidFill>
                  <a:srgbClr val="8CCDB2"/>
                </a:solidFill>
              </a:rPr>
              <a:t>MINT · REPORT SYSTEM V0.4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C94E7E9-28C2-4270-9D67-C30986E9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DF8"/>
                </a:solidFill>
              </a:defRPr>
            </a:pPr>
            <a:r>
              <a:rPr sz="3150" b="1">
                <a:solidFill>
                  <a:srgbClr val="FFFDF8"/>
                </a:solidFill>
              </a:rPr>
              <a:t>Mint 汇报组件母版库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A7374A9-5263-414D-840C-246ADC95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ECE5"/>
                </a:solidFill>
              </a:defRPr>
            </a:pPr>
            <a:r>
              <a:rPr sz="1500" b="0">
                <a:solidFill>
                  <a:srgbClr val="DCECE5"/>
                </a:solidFill>
              </a:rPr>
              <a:t>从事实和逻辑出发，生成可编辑 PPTX 与互动 HTML</a:t>
            </a:r>
          </a:p>
        </p:txBody>
      </p:sp>
      <p:sp>
        <p:nvSpPr>
          <p:cNvPr id="5" name="rule-70-585">
            <a:extLst xmlns:a="http://schemas.openxmlformats.org/drawingml/2006/main">
              <a:ext uri="{FF2B5EF4-FFF2-40B4-BE49-F238E27FC236}">
                <a16:creationId xmlns:a16="http://schemas.microsoft.com/office/drawing/2014/main" id="{66211F00-4E05-48EE-9730-12E1009D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6B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602DA97F-110B-4EA0-BD90-C246FDFA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6262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CCDB2"/>
                </a:solidFill>
              </a:defRPr>
            </a:pPr>
            <a:r>
              <a:rPr sz="900" b="1">
                <a:solidFill>
                  <a:srgbClr val="8CCDB2"/>
                </a:solidFill>
              </a:rPr>
              <a:t>16:9  ·  中文管理层材料  ·  2026.08</a:t>
            </a:r>
          </a:p>
        </p:txBody>
      </p:sp>
      <p:sp>
        <p:nvSpPr>
          <p:cNvPr id="7" name="arc-0">
            <a:extLst xmlns:a="http://schemas.openxmlformats.org/drawingml/2006/main">
              <a:ext uri="{FF2B5EF4-FFF2-40B4-BE49-F238E27FC236}">
                <a16:creationId xmlns:a16="http://schemas.microsoft.com/office/drawing/2014/main" id="{F532AD3B-D7C5-4745-BEDE-1B44C516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CCDB2"/>
            </a:solidFill>
            <a:prstDash val="solid"/>
          </a:ln>
        </p:spPr>
      </p:sp>
      <p:sp>
        <p:nvSpPr>
          <p:cNvPr id="8" name="arc-1">
            <a:extLst xmlns:a="http://schemas.openxmlformats.org/drawingml/2006/main">
              <a:ext uri="{FF2B5EF4-FFF2-40B4-BE49-F238E27FC236}">
                <a16:creationId xmlns:a16="http://schemas.microsoft.com/office/drawing/2014/main" id="{0E69B42C-77EB-4914-A813-296679E1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85950"/>
            <a:ext cx="2686050" cy="2686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9" name="arc-2">
            <a:extLst xmlns:a="http://schemas.openxmlformats.org/drawingml/2006/main">
              <a:ext uri="{FF2B5EF4-FFF2-40B4-BE49-F238E27FC236}">
                <a16:creationId xmlns:a16="http://schemas.microsoft.com/office/drawing/2014/main" id="{A26862B5-A7E2-4B64-B108-62932B35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43150"/>
            <a:ext cx="2514600" cy="2514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47E89"/>
            </a:solidFill>
            <a:prstDash val="solid"/>
          </a:ln>
        </p:spPr>
      </p:sp>
      <p:sp>
        <p:nvSpPr>
          <p:cNvPr id="10" name="arc-3">
            <a:extLst xmlns:a="http://schemas.openxmlformats.org/drawingml/2006/main">
              <a:ext uri="{FF2B5EF4-FFF2-40B4-BE49-F238E27FC236}">
                <a16:creationId xmlns:a16="http://schemas.microsoft.com/office/drawing/2014/main" id="{B2221D08-8BCE-456D-A8AC-636652A1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0035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ver-mark">
            <a:extLst xmlns:a="http://schemas.openxmlformats.org/drawingml/2006/main">
              <a:ext uri="{FF2B5EF4-FFF2-40B4-BE49-F238E27FC236}">
                <a16:creationId xmlns:a16="http://schemas.microsoft.com/office/drawing/2014/main" id="{71DE723C-4C5B-4C2E-97E0-B8ED4D85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133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FFFDF8"/>
                </a:solidFill>
              </a:defRPr>
            </a:pPr>
            <a:r>
              <a:rPr sz="4500" b="1">
                <a:solidFill>
                  <a:srgbClr val="FFFDF8"/>
                </a:solidFill>
              </a:rPr>
              <a:t>M</a:t>
            </a:r>
          </a:p>
        </p:txBody>
      </p:sp>
      <p:sp>
        <p:nvSpPr>
          <p:cNvPr id="1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E885D65E-3EE9-440C-B902-B282D21A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2388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42B879"/>
                </a:solidFill>
              </a:defRPr>
            </a:pPr>
            <a:r>
              <a:rPr sz="1350" b="1">
                <a:solidFill>
                  <a:srgbClr val="42B879"/>
                </a:solidFill>
              </a:rPr>
              <a:t>mint</a:t>
            </a:r>
          </a:p>
        </p:txBody>
      </p:sp>
    </p:spTree>
    <p:extLst>
      <p:ext uri="{BB962C8B-B14F-4D97-AF65-F5344CB8AC3E}">
        <p14:creationId xmlns:p14="http://schemas.microsoft.com/office/powerpoint/2010/main" val="17110635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ule-60-45">
            <a:extLst xmlns:a="http://schemas.openxmlformats.org/drawingml/2006/main">
              <a:ext uri="{FF2B5EF4-FFF2-40B4-BE49-F238E27FC236}">
                <a16:creationId xmlns:a16="http://schemas.microsoft.com/office/drawing/2014/main" id="{E9D4CC0B-8078-4D92-B135-264BDC46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4406947B-D9E2-4175-AF8C-45551A6C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2D4E691E-D8AC-477C-AAD6-9285F6DB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管理层总览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168592-A584-416F-8EE1-8CA757D8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02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0F699EEF-027F-478A-8635-2C5681BB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126FD5FD-A723-4E44-B5BC-3AB8C6B9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3EA0EC56-D9A4-4392-8E2B-061B9565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3427348-CFCC-4385-B58D-2E93D825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02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F8AA8852-BB6A-49C5-8913-A749022B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一个页面回答：判断、证据、风险与行动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76C8E5FF-9C6C-4669-9F32-9021167E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用于复杂材料的管理层首屏，不把内容拆成低密度卡片。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981E3F6F-F345-45F1-8E82-2FC87C5C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762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88-210">
            <a:extLst xmlns:a="http://schemas.openxmlformats.org/drawingml/2006/main">
              <a:ext uri="{FF2B5EF4-FFF2-40B4-BE49-F238E27FC236}">
                <a16:creationId xmlns:a16="http://schemas.microsoft.com/office/drawing/2014/main" id="{CAD75175-E8C1-4025-A313-BB526FB1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CDB2"/>
                </a:solidFill>
              </a:defRPr>
            </a:pPr>
            <a:r>
              <a:rPr sz="750" b="1">
                <a:solidFill>
                  <a:srgbClr val="8CCDB2"/>
                </a:solidFill>
              </a:rPr>
              <a:t>核心判断</a:t>
            </a:r>
          </a:p>
        </p:txBody>
      </p:sp>
      <p:sp>
        <p:nvSpPr>
          <p:cNvPr id="13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A2E76A7A-9AAB-47AD-B55E-30B1AF2A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DF8"/>
                </a:solidFill>
              </a:defRPr>
            </a:pPr>
            <a:r>
              <a:rPr sz="2025" b="1">
                <a:solidFill>
                  <a:srgbClr val="FFFDF8"/>
                </a:solidFill>
              </a:rPr>
              <a:t>在事实边界内形成一条可推动决策的管理层判断</a:t>
            </a:r>
          </a:p>
        </p:txBody>
      </p:sp>
      <p:sp>
        <p:nvSpPr>
          <p:cNvPr id="14" name="evidence-bg">
            <a:extLst xmlns:a="http://schemas.openxmlformats.org/drawingml/2006/main">
              <a:ext uri="{FF2B5EF4-FFF2-40B4-BE49-F238E27FC236}">
                <a16:creationId xmlns:a16="http://schemas.microsoft.com/office/drawing/2014/main" id="{39650D0C-B914-487C-979B-1F163152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2857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5" name="evidence-accent">
            <a:extLst xmlns:a="http://schemas.openxmlformats.org/drawingml/2006/main">
              <a:ext uri="{FF2B5EF4-FFF2-40B4-BE49-F238E27FC236}">
                <a16:creationId xmlns:a16="http://schemas.microsoft.com/office/drawing/2014/main" id="{E59A12CE-7224-415D-B9A4-6320D775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476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369FA732-91DB-4DF6-B11E-C4DEAA6E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621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证据</a:t>
            </a:r>
          </a:p>
        </p:txBody>
      </p:sp>
      <p:sp>
        <p:nvSpPr>
          <p:cNvPr id="17" name="evidence-detail">
            <a:extLst xmlns:a="http://schemas.openxmlformats.org/drawingml/2006/main">
              <a:ext uri="{FF2B5EF4-FFF2-40B4-BE49-F238E27FC236}">
                <a16:creationId xmlns:a16="http://schemas.microsoft.com/office/drawing/2014/main" id="{326A62FC-9424-42ED-A046-72E76707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24100"/>
            <a:ext cx="243840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列出支撑判断的事实、数字与来源，不混入假设。</a:t>
            </a:r>
          </a:p>
        </p:txBody>
      </p:sp>
      <p:sp>
        <p:nvSpPr>
          <p:cNvPr id="18" name="risk-bg">
            <a:extLst xmlns:a="http://schemas.openxmlformats.org/drawingml/2006/main">
              <a:ext uri="{FF2B5EF4-FFF2-40B4-BE49-F238E27FC236}">
                <a16:creationId xmlns:a16="http://schemas.microsoft.com/office/drawing/2014/main" id="{D518D943-6E70-43A8-B985-665047A1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8575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9" name="risk-accent">
            <a:extLst xmlns:a="http://schemas.openxmlformats.org/drawingml/2006/main">
              <a:ext uri="{FF2B5EF4-FFF2-40B4-BE49-F238E27FC236}">
                <a16:creationId xmlns:a16="http://schemas.microsoft.com/office/drawing/2014/main" id="{B5204DB9-81F6-4D2B-A596-8F618780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476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isk-title">
            <a:extLst xmlns:a="http://schemas.openxmlformats.org/drawingml/2006/main">
              <a:ext uri="{FF2B5EF4-FFF2-40B4-BE49-F238E27FC236}">
                <a16:creationId xmlns:a16="http://schemas.microsoft.com/office/drawing/2014/main" id="{8400324E-20F7-4DFE-9B74-148D85F1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621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风险</a:t>
            </a:r>
          </a:p>
        </p:txBody>
      </p:sp>
      <p:sp>
        <p:nvSpPr>
          <p:cNvPr id="21" name="risk-detail">
            <a:extLst xmlns:a="http://schemas.openxmlformats.org/drawingml/2006/main">
              <a:ext uri="{FF2B5EF4-FFF2-40B4-BE49-F238E27FC236}">
                <a16:creationId xmlns:a16="http://schemas.microsoft.com/office/drawing/2014/main" id="{AFD8C556-7280-4AC1-953A-573433DB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24100"/>
            <a:ext cx="243840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只显示需要管理层看见的限制和影响。</a:t>
            </a:r>
          </a:p>
        </p:txBody>
      </p:sp>
      <p:sp>
        <p:nvSpPr>
          <p:cNvPr id="22" name="action-bg">
            <a:extLst xmlns:a="http://schemas.openxmlformats.org/drawingml/2006/main">
              <a:ext uri="{FF2B5EF4-FFF2-40B4-BE49-F238E27FC236}">
                <a16:creationId xmlns:a16="http://schemas.microsoft.com/office/drawing/2014/main" id="{978555D4-BB3A-4F62-B57D-9C0766FD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1104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3" name="action-accent">
            <a:extLst xmlns:a="http://schemas.openxmlformats.org/drawingml/2006/main">
              <a:ext uri="{FF2B5EF4-FFF2-40B4-BE49-F238E27FC236}">
                <a16:creationId xmlns:a16="http://schemas.microsoft.com/office/drawing/2014/main" id="{4B346DB7-B9D0-4EE1-893E-678CD758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F12A7703-7F01-426A-9FB4-827557CF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002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下一步行动</a:t>
            </a:r>
          </a:p>
        </p:txBody>
      </p:sp>
      <p:sp>
        <p:nvSpPr>
          <p:cNvPr id="25" name="action-detail">
            <a:extLst xmlns:a="http://schemas.openxmlformats.org/drawingml/2006/main">
              <a:ext uri="{FF2B5EF4-FFF2-40B4-BE49-F238E27FC236}">
                <a16:creationId xmlns:a16="http://schemas.microsoft.com/office/drawing/2014/main" id="{22CA7983-EB81-4828-B59F-6FA1AEC4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71975"/>
            <a:ext cx="1062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动作一：明确 Owner 与时间    ·    动作二：补齐关键证据    ·    动作三：形成可验证交付</a:t>
            </a:r>
          </a:p>
        </p:txBody>
      </p:sp>
    </p:spTree>
    <p:extLst>
      <p:ext uri="{BB962C8B-B14F-4D97-AF65-F5344CB8AC3E}">
        <p14:creationId xmlns:p14="http://schemas.microsoft.com/office/powerpoint/2010/main" val="4281552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rule-60-45">
            <a:extLst xmlns:a="http://schemas.openxmlformats.org/drawingml/2006/main">
              <a:ext uri="{FF2B5EF4-FFF2-40B4-BE49-F238E27FC236}">
                <a16:creationId xmlns:a16="http://schemas.microsoft.com/office/drawing/2014/main" id="{2EC95219-FE31-44BE-B7A8-243B2CB3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1633A096-92F7-4C36-B9E2-E7D3F390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033C5CBE-7739-469F-BB12-293768E0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合作架构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EC2786-9E42-4A4E-A190-70598481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03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D80D9715-37DB-4541-9C5B-4078000C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750C7D48-47F9-4D6C-976E-5C3E81E4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E25D169B-A036-40C4-906F-6CF172FF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B8FC5BE-6143-496F-9FEF-A7B57B59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03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B15B37D5-9908-43A0-BBC9-24E54A96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合作由客户入口、能力协同与银行承接三层组成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B757E52E-5AEC-443E-8FCE-3AEA961D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只展示来源提供的主体和关系，不为填版式补写产出。</a:t>
            </a:r>
          </a:p>
        </p:txBody>
      </p:sp>
      <p:sp>
        <p:nvSpPr>
          <p:cNvPr id="11" name="layer-0">
            <a:extLst xmlns:a="http://schemas.openxmlformats.org/drawingml/2006/main">
              <a:ext uri="{FF2B5EF4-FFF2-40B4-BE49-F238E27FC236}">
                <a16:creationId xmlns:a16="http://schemas.microsoft.com/office/drawing/2014/main" id="{A19890DF-445A-4F1E-A216-39875307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11049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layer-accent-0">
            <a:extLst xmlns:a="http://schemas.openxmlformats.org/drawingml/2006/main">
              <a:ext uri="{FF2B5EF4-FFF2-40B4-BE49-F238E27FC236}">
                <a16:creationId xmlns:a16="http://schemas.microsoft.com/office/drawing/2014/main" id="{94950573-3BEC-44A5-9753-10416C3F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yer-no-0">
            <a:extLst xmlns:a="http://schemas.openxmlformats.org/drawingml/2006/main">
              <a:ext uri="{FF2B5EF4-FFF2-40B4-BE49-F238E27FC236}">
                <a16:creationId xmlns:a16="http://schemas.microsoft.com/office/drawing/2014/main" id="{F774E21D-9E20-4688-BE45-08D6E65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288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4" name="layer-name-0">
            <a:extLst xmlns:a="http://schemas.openxmlformats.org/drawingml/2006/main">
              <a:ext uri="{FF2B5EF4-FFF2-40B4-BE49-F238E27FC236}">
                <a16:creationId xmlns:a16="http://schemas.microsoft.com/office/drawing/2014/main" id="{C89FC6DF-DAB3-45B7-B17C-4330F5B0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00250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前台</a:t>
            </a:r>
          </a:p>
        </p:txBody>
      </p:sp>
      <p:sp>
        <p:nvSpPr>
          <p:cNvPr id="15" name="layer-role-0">
            <a:extLst xmlns:a="http://schemas.openxmlformats.org/drawingml/2006/main">
              <a:ext uri="{FF2B5EF4-FFF2-40B4-BE49-F238E27FC236}">
                <a16:creationId xmlns:a16="http://schemas.microsoft.com/office/drawing/2014/main" id="{55048C7B-CE1B-4BA7-85C2-8ECF0B51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客户入口</a:t>
            </a:r>
          </a:p>
        </p:txBody>
      </p:sp>
      <p:sp>
        <p:nvSpPr>
          <p:cNvPr id="16" name="entity-a-0-bg">
            <a:extLst xmlns:a="http://schemas.openxmlformats.org/drawingml/2006/main">
              <a:ext uri="{FF2B5EF4-FFF2-40B4-BE49-F238E27FC236}">
                <a16:creationId xmlns:a16="http://schemas.microsoft.com/office/drawing/2014/main" id="{ED01BDB7-17B7-4891-AD07-23A7D83D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9775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entity-a-0-accent">
            <a:extLst xmlns:a="http://schemas.openxmlformats.org/drawingml/2006/main">
              <a:ext uri="{FF2B5EF4-FFF2-40B4-BE49-F238E27FC236}">
                <a16:creationId xmlns:a16="http://schemas.microsoft.com/office/drawing/2014/main" id="{6FB24547-09B8-4C74-A882-835888AF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977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ntity-a-0-title">
            <a:extLst xmlns:a="http://schemas.openxmlformats.org/drawingml/2006/main">
              <a:ext uri="{FF2B5EF4-FFF2-40B4-BE49-F238E27FC236}">
                <a16:creationId xmlns:a16="http://schemas.microsoft.com/office/drawing/2014/main" id="{A35C6FD9-6C80-4456-897F-24CB5E36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62175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M-PESA</a:t>
            </a:r>
          </a:p>
        </p:txBody>
      </p:sp>
      <p:sp>
        <p:nvSpPr>
          <p:cNvPr id="19" name="entity-a-0-detail">
            <a:extLst xmlns:a="http://schemas.openxmlformats.org/drawingml/2006/main">
              <a:ext uri="{FF2B5EF4-FFF2-40B4-BE49-F238E27FC236}">
                <a16:creationId xmlns:a16="http://schemas.microsoft.com/office/drawing/2014/main" id="{DB10BFF4-C849-405F-AB58-F96C7ABB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24125"/>
            <a:ext cx="3390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移动支付入口</a:t>
            </a:r>
          </a:p>
        </p:txBody>
      </p:sp>
      <p:sp>
        <p:nvSpPr>
          <p:cNvPr id="20" name="entity-b-0-bg">
            <a:extLst xmlns:a="http://schemas.openxmlformats.org/drawingml/2006/main">
              <a:ext uri="{FF2B5EF4-FFF2-40B4-BE49-F238E27FC236}">
                <a16:creationId xmlns:a16="http://schemas.microsoft.com/office/drawing/2014/main" id="{9004F506-5E20-47D2-8160-541E0028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09775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1" name="entity-b-0-accent">
            <a:extLst xmlns:a="http://schemas.openxmlformats.org/drawingml/2006/main">
              <a:ext uri="{FF2B5EF4-FFF2-40B4-BE49-F238E27FC236}">
                <a16:creationId xmlns:a16="http://schemas.microsoft.com/office/drawing/2014/main" id="{1AEA1EB2-54F2-4EC8-BC79-F2EB9373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0977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ntity-b-0-title">
            <a:extLst xmlns:a="http://schemas.openxmlformats.org/drawingml/2006/main">
              <a:ext uri="{FF2B5EF4-FFF2-40B4-BE49-F238E27FC236}">
                <a16:creationId xmlns:a16="http://schemas.microsoft.com/office/drawing/2014/main" id="{C78D96B5-13AA-4698-B72C-07BD5D94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62175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Mint APP</a:t>
            </a:r>
          </a:p>
        </p:txBody>
      </p:sp>
      <p:sp>
        <p:nvSpPr>
          <p:cNvPr id="23" name="entity-b-0-detail">
            <a:extLst xmlns:a="http://schemas.openxmlformats.org/drawingml/2006/main">
              <a:ext uri="{FF2B5EF4-FFF2-40B4-BE49-F238E27FC236}">
                <a16:creationId xmlns:a16="http://schemas.microsoft.com/office/drawing/2014/main" id="{74173279-AB53-44CC-8A13-18E67CBD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24125"/>
            <a:ext cx="3867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Mint 用户入口</a:t>
            </a:r>
          </a:p>
        </p:txBody>
      </p:sp>
      <p:sp>
        <p:nvSpPr>
          <p:cNvPr id="24" name="layer-1">
            <a:extLst xmlns:a="http://schemas.openxmlformats.org/drawingml/2006/main">
              <a:ext uri="{FF2B5EF4-FFF2-40B4-BE49-F238E27FC236}">
                <a16:creationId xmlns:a16="http://schemas.microsoft.com/office/drawing/2014/main" id="{1C111B59-03C0-4B04-831B-575CE8DB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5" name="layer-accent-1">
            <a:extLst xmlns:a="http://schemas.openxmlformats.org/drawingml/2006/main">
              <a:ext uri="{FF2B5EF4-FFF2-40B4-BE49-F238E27FC236}">
                <a16:creationId xmlns:a16="http://schemas.microsoft.com/office/drawing/2014/main" id="{C168D5E8-BA61-4318-8E9F-FF63F9B4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layer-no-1">
            <a:extLst xmlns:a="http://schemas.openxmlformats.org/drawingml/2006/main">
              <a:ext uri="{FF2B5EF4-FFF2-40B4-BE49-F238E27FC236}">
                <a16:creationId xmlns:a16="http://schemas.microsoft.com/office/drawing/2014/main" id="{F9329B96-9808-4220-9110-428FA7B3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02</a:t>
            </a:r>
          </a:p>
        </p:txBody>
      </p:sp>
      <p:sp>
        <p:nvSpPr>
          <p:cNvPr id="27" name="layer-name-1">
            <a:extLst xmlns:a="http://schemas.openxmlformats.org/drawingml/2006/main">
              <a:ext uri="{FF2B5EF4-FFF2-40B4-BE49-F238E27FC236}">
                <a16:creationId xmlns:a16="http://schemas.microsoft.com/office/drawing/2014/main" id="{A92AB785-07A1-4E33-9B70-4C464E96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6707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中台</a:t>
            </a:r>
          </a:p>
        </p:txBody>
      </p:sp>
      <p:sp>
        <p:nvSpPr>
          <p:cNvPr id="28" name="layer-role-1">
            <a:extLst xmlns:a="http://schemas.openxmlformats.org/drawingml/2006/main">
              <a:ext uri="{FF2B5EF4-FFF2-40B4-BE49-F238E27FC236}">
                <a16:creationId xmlns:a16="http://schemas.microsoft.com/office/drawing/2014/main" id="{BCE01265-0A9A-48E8-BD2A-AEA94E50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480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流量与风险能力</a:t>
            </a:r>
          </a:p>
        </p:txBody>
      </p:sp>
      <p:sp>
        <p:nvSpPr>
          <p:cNvPr id="29" name="entity-a-1-bg">
            <a:extLst xmlns:a="http://schemas.openxmlformats.org/drawingml/2006/main">
              <a:ext uri="{FF2B5EF4-FFF2-40B4-BE49-F238E27FC236}">
                <a16:creationId xmlns:a16="http://schemas.microsoft.com/office/drawing/2014/main" id="{2AE09A54-A351-4939-BBE9-927643A3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7660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entity-a-1-accent">
            <a:extLst xmlns:a="http://schemas.openxmlformats.org/drawingml/2006/main">
              <a:ext uri="{FF2B5EF4-FFF2-40B4-BE49-F238E27FC236}">
                <a16:creationId xmlns:a16="http://schemas.microsoft.com/office/drawing/2014/main" id="{667C1E0A-4151-4E19-B096-0E91FA64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766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entity-a-1-title">
            <a:extLst xmlns:a="http://schemas.openxmlformats.org/drawingml/2006/main">
              <a:ext uri="{FF2B5EF4-FFF2-40B4-BE49-F238E27FC236}">
                <a16:creationId xmlns:a16="http://schemas.microsoft.com/office/drawing/2014/main" id="{FD0C7BCA-EF21-4037-83E5-4F2DC1FD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290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M-PESA / Transsion</a:t>
            </a:r>
          </a:p>
        </p:txBody>
      </p:sp>
      <p:sp>
        <p:nvSpPr>
          <p:cNvPr id="32" name="entity-a-1-detail">
            <a:extLst xmlns:a="http://schemas.openxmlformats.org/drawingml/2006/main">
              <a:ext uri="{FF2B5EF4-FFF2-40B4-BE49-F238E27FC236}">
                <a16:creationId xmlns:a16="http://schemas.microsoft.com/office/drawing/2014/main" id="{F17B4EC0-0240-420A-8083-27B673C1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90950"/>
            <a:ext cx="3390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提供流量</a:t>
            </a:r>
          </a:p>
        </p:txBody>
      </p:sp>
      <p:sp>
        <p:nvSpPr>
          <p:cNvPr id="33" name="entity-b-1-bg">
            <a:extLst xmlns:a="http://schemas.openxmlformats.org/drawingml/2006/main">
              <a:ext uri="{FF2B5EF4-FFF2-40B4-BE49-F238E27FC236}">
                <a16:creationId xmlns:a16="http://schemas.microsoft.com/office/drawing/2014/main" id="{E3DA6AA9-4626-4CF7-A30F-F241FA23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4" name="entity-b-1-accent">
            <a:extLst xmlns:a="http://schemas.openxmlformats.org/drawingml/2006/main">
              <a:ext uri="{FF2B5EF4-FFF2-40B4-BE49-F238E27FC236}">
                <a16:creationId xmlns:a16="http://schemas.microsoft.com/office/drawing/2014/main" id="{327E19E6-C76C-4A52-9D35-A1C37F64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entity-b-1-title">
            <a:extLst xmlns:a="http://schemas.openxmlformats.org/drawingml/2006/main">
              <a:ext uri="{FF2B5EF4-FFF2-40B4-BE49-F238E27FC236}">
                <a16:creationId xmlns:a16="http://schemas.microsoft.com/office/drawing/2014/main" id="{FA23EE25-3FBB-4B93-9BA8-91C111D0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29000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微众</a:t>
            </a:r>
          </a:p>
        </p:txBody>
      </p:sp>
      <p:sp>
        <p:nvSpPr>
          <p:cNvPr id="36" name="entity-b-1-detail">
            <a:extLst xmlns:a="http://schemas.openxmlformats.org/drawingml/2006/main">
              <a:ext uri="{FF2B5EF4-FFF2-40B4-BE49-F238E27FC236}">
                <a16:creationId xmlns:a16="http://schemas.microsoft.com/office/drawing/2014/main" id="{C5B3E09E-AA3D-4D44-A093-010310DF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90950"/>
            <a:ext cx="3867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提供风险能力</a:t>
            </a:r>
          </a:p>
        </p:txBody>
      </p:sp>
      <p:sp>
        <p:nvSpPr>
          <p:cNvPr id="37" name="layer-2">
            <a:extLst xmlns:a="http://schemas.openxmlformats.org/drawingml/2006/main">
              <a:ext uri="{FF2B5EF4-FFF2-40B4-BE49-F238E27FC236}">
                <a16:creationId xmlns:a16="http://schemas.microsoft.com/office/drawing/2014/main" id="{48755456-EAEF-427D-80B1-6E2F0762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91025"/>
            <a:ext cx="11049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8" name="layer-accent-2">
            <a:extLst xmlns:a="http://schemas.openxmlformats.org/drawingml/2006/main">
              <a:ext uri="{FF2B5EF4-FFF2-40B4-BE49-F238E27FC236}">
                <a16:creationId xmlns:a16="http://schemas.microsoft.com/office/drawing/2014/main" id="{01E9605D-163F-4A2D-99D7-5F310600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9102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layer-no-2">
            <a:extLst xmlns:a="http://schemas.openxmlformats.org/drawingml/2006/main">
              <a:ext uri="{FF2B5EF4-FFF2-40B4-BE49-F238E27FC236}">
                <a16:creationId xmlns:a16="http://schemas.microsoft.com/office/drawing/2014/main" id="{E1098D74-207D-47EC-8E11-3EA710F4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624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47E89"/>
                </a:solidFill>
              </a:defRPr>
            </a:pPr>
            <a:r>
              <a:rPr sz="975" b="1">
                <a:solidFill>
                  <a:srgbClr val="547E89"/>
                </a:solidFill>
              </a:rPr>
              <a:t>03</a:t>
            </a:r>
          </a:p>
        </p:txBody>
      </p:sp>
      <p:sp>
        <p:nvSpPr>
          <p:cNvPr id="40" name="layer-name-2">
            <a:extLst xmlns:a="http://schemas.openxmlformats.org/drawingml/2006/main">
              <a:ext uri="{FF2B5EF4-FFF2-40B4-BE49-F238E27FC236}">
                <a16:creationId xmlns:a16="http://schemas.microsoft.com/office/drawing/2014/main" id="{D2CBBFDB-32E1-4A19-AB9D-44563287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后台</a:t>
            </a:r>
          </a:p>
        </p:txBody>
      </p:sp>
      <p:sp>
        <p:nvSpPr>
          <p:cNvPr id="41" name="layer-role-2">
            <a:extLst xmlns:a="http://schemas.openxmlformats.org/drawingml/2006/main">
              <a:ext uri="{FF2B5EF4-FFF2-40B4-BE49-F238E27FC236}">
                <a16:creationId xmlns:a16="http://schemas.microsoft.com/office/drawing/2014/main" id="{47245B72-4073-4205-AF8F-1059F75F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149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银行服务承接</a:t>
            </a:r>
          </a:p>
        </p:txBody>
      </p:sp>
      <p:sp>
        <p:nvSpPr>
          <p:cNvPr id="42" name="entity-a-2-bg">
            <a:extLst xmlns:a="http://schemas.openxmlformats.org/drawingml/2006/main">
              <a:ext uri="{FF2B5EF4-FFF2-40B4-BE49-F238E27FC236}">
                <a16:creationId xmlns:a16="http://schemas.microsoft.com/office/drawing/2014/main" id="{EE15529D-F62B-4BAD-B058-2F8AD7CF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43425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3" name="entity-a-2-accent">
            <a:extLst xmlns:a="http://schemas.openxmlformats.org/drawingml/2006/main">
              <a:ext uri="{FF2B5EF4-FFF2-40B4-BE49-F238E27FC236}">
                <a16:creationId xmlns:a16="http://schemas.microsoft.com/office/drawing/2014/main" id="{A1401AE6-432E-43A6-8970-6F12D8C1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4342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entity-a-2-title">
            <a:extLst xmlns:a="http://schemas.openxmlformats.org/drawingml/2006/main">
              <a:ext uri="{FF2B5EF4-FFF2-40B4-BE49-F238E27FC236}">
                <a16:creationId xmlns:a16="http://schemas.microsoft.com/office/drawing/2014/main" id="{C71F3ABE-AE1C-4FA7-A53B-FDEE7A40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695825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传音银行</a:t>
            </a:r>
          </a:p>
        </p:txBody>
      </p:sp>
      <p:sp>
        <p:nvSpPr>
          <p:cNvPr id="45" name="entity-a-2-detail">
            <a:extLst xmlns:a="http://schemas.openxmlformats.org/drawingml/2006/main">
              <a:ext uri="{FF2B5EF4-FFF2-40B4-BE49-F238E27FC236}">
                <a16:creationId xmlns:a16="http://schemas.microsoft.com/office/drawing/2014/main" id="{D55F8020-764A-4A8D-9272-C3980377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057775"/>
            <a:ext cx="3390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银行机构</a:t>
            </a:r>
          </a:p>
        </p:txBody>
      </p:sp>
      <p:sp>
        <p:nvSpPr>
          <p:cNvPr id="46" name="entity-b-2-bg">
            <a:extLst xmlns:a="http://schemas.openxmlformats.org/drawingml/2006/main">
              <a:ext uri="{FF2B5EF4-FFF2-40B4-BE49-F238E27FC236}">
                <a16:creationId xmlns:a16="http://schemas.microsoft.com/office/drawing/2014/main" id="{8524CDD0-7653-4C76-9F38-B61B7DCC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43425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7" name="entity-b-2-accent">
            <a:extLst xmlns:a="http://schemas.openxmlformats.org/drawingml/2006/main">
              <a:ext uri="{FF2B5EF4-FFF2-40B4-BE49-F238E27FC236}">
                <a16:creationId xmlns:a16="http://schemas.microsoft.com/office/drawing/2014/main" id="{164C579C-AB63-4F78-A173-20B31F80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43425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entity-b-2-title">
            <a:extLst xmlns:a="http://schemas.openxmlformats.org/drawingml/2006/main">
              <a:ext uri="{FF2B5EF4-FFF2-40B4-BE49-F238E27FC236}">
                <a16:creationId xmlns:a16="http://schemas.microsoft.com/office/drawing/2014/main" id="{7CA0580E-0BCD-4824-98F4-32BE7C43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695825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其他 Mint 接入银行</a:t>
            </a:r>
          </a:p>
        </p:txBody>
      </p:sp>
      <p:sp>
        <p:nvSpPr>
          <p:cNvPr id="49" name="entity-b-2-detail">
            <a:extLst xmlns:a="http://schemas.openxmlformats.org/drawingml/2006/main">
              <a:ext uri="{FF2B5EF4-FFF2-40B4-BE49-F238E27FC236}">
                <a16:creationId xmlns:a16="http://schemas.microsoft.com/office/drawing/2014/main" id="{167561D7-FEC7-4942-9AA2-E9DB7363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57775"/>
            <a:ext cx="3867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银行机构</a:t>
            </a:r>
          </a:p>
        </p:txBody>
      </p:sp>
    </p:spTree>
    <p:extLst>
      <p:ext uri="{BB962C8B-B14F-4D97-AF65-F5344CB8AC3E}">
        <p14:creationId xmlns:p14="http://schemas.microsoft.com/office/powerpoint/2010/main" val="19409925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rule-60-45">
            <a:extLst xmlns:a="http://schemas.openxmlformats.org/drawingml/2006/main">
              <a:ext uri="{FF2B5EF4-FFF2-40B4-BE49-F238E27FC236}">
                <a16:creationId xmlns:a16="http://schemas.microsoft.com/office/drawing/2014/main" id="{F6BD0C6D-97C2-41A8-A511-EC4DDA7C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4E3F2FAF-2426-419C-854B-AE5AB708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D597CAB8-221D-466A-A8C9-07425D50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战略与牌照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AE3C0A-BD52-4AEB-B56C-7C341A20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04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5C4D218B-D475-4FDE-846E-4CC90A68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B12A31B6-5EA0-4B44-9BDA-2AD1EE29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BBE214D3-E949-4E50-A27D-B264717C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0E4AED0-AF8F-4BF2-BA64-1698FA0D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04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6DA00920-15C5-48E1-BF07-4F8441FB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业务演进与牌照升级并行推进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3CBFF182-4112-4E71-BAC0-AB78517C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两条路径分别表达，底部集中管理层动作。</a:t>
            </a:r>
          </a:p>
        </p:txBody>
      </p:sp>
      <p:sp>
        <p:nvSpPr>
          <p:cNvPr id="11" name="track-0">
            <a:extLst xmlns:a="http://schemas.openxmlformats.org/drawingml/2006/main">
              <a:ext uri="{FF2B5EF4-FFF2-40B4-BE49-F238E27FC236}">
                <a16:creationId xmlns:a16="http://schemas.microsoft.com/office/drawing/2014/main" id="{75F68231-76F3-4AD7-BDD3-17FFABC6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1104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track-accent-0">
            <a:extLst xmlns:a="http://schemas.openxmlformats.org/drawingml/2006/main">
              <a:ext uri="{FF2B5EF4-FFF2-40B4-BE49-F238E27FC236}">
                <a16:creationId xmlns:a16="http://schemas.microsoft.com/office/drawing/2014/main" id="{05EFEB5F-DA3B-4698-8CF4-A7874191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rack-label-0">
            <a:extLst xmlns:a="http://schemas.openxmlformats.org/drawingml/2006/main">
              <a:ext uri="{FF2B5EF4-FFF2-40B4-BE49-F238E27FC236}">
                <a16:creationId xmlns:a16="http://schemas.microsoft.com/office/drawing/2014/main" id="{19693CE5-1FD9-4161-B0DD-96284AEB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5262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C794D"/>
                </a:solidFill>
              </a:defRPr>
            </a:pPr>
            <a:r>
              <a:rPr sz="750" b="1">
                <a:solidFill>
                  <a:srgbClr val="BC794D"/>
                </a:solidFill>
              </a:rPr>
              <a:t>路径 01</a:t>
            </a:r>
          </a:p>
        </p:txBody>
      </p:sp>
      <p:sp>
        <p:nvSpPr>
          <p:cNvPr id="14" name="track-name-0">
            <a:extLst xmlns:a="http://schemas.openxmlformats.org/drawingml/2006/main">
              <a:ext uri="{FF2B5EF4-FFF2-40B4-BE49-F238E27FC236}">
                <a16:creationId xmlns:a16="http://schemas.microsoft.com/office/drawing/2014/main" id="{26050C9A-DE3A-4F9B-AA82-C7A7E93A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098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业务路径</a:t>
            </a:r>
          </a:p>
        </p:txBody>
      </p:sp>
      <p:sp>
        <p:nvSpPr>
          <p:cNvPr id="15" name="track-summary-0">
            <a:extLst xmlns:a="http://schemas.openxmlformats.org/drawingml/2006/main">
              <a:ext uri="{FF2B5EF4-FFF2-40B4-BE49-F238E27FC236}">
                <a16:creationId xmlns:a16="http://schemas.microsoft.com/office/drawing/2014/main" id="{1526589E-1A21-4101-8320-F6E3B5ED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00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先生态，后现金</a:t>
            </a:r>
          </a:p>
        </p:txBody>
      </p:sp>
      <p:sp>
        <p:nvSpPr>
          <p:cNvPr id="16" name="track-0-0-stage">
            <a:extLst xmlns:a="http://schemas.openxmlformats.org/drawingml/2006/main">
              <a:ext uri="{FF2B5EF4-FFF2-40B4-BE49-F238E27FC236}">
                <a16:creationId xmlns:a16="http://schemas.microsoft.com/office/drawing/2014/main" id="{B9888993-3F7D-47F1-9F7D-A6995137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起点</a:t>
            </a:r>
          </a:p>
        </p:txBody>
      </p:sp>
      <p:sp>
        <p:nvSpPr>
          <p:cNvPr id="17" name="track-0-0-title">
            <a:extLst xmlns:a="http://schemas.openxmlformats.org/drawingml/2006/main">
              <a:ext uri="{FF2B5EF4-FFF2-40B4-BE49-F238E27FC236}">
                <a16:creationId xmlns:a16="http://schemas.microsoft.com/office/drawing/2014/main" id="{0803BC79-BB46-41B7-A51B-FF4D2DD6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核心企业生态</a:t>
            </a:r>
          </a:p>
        </p:txBody>
      </p:sp>
      <p:sp>
        <p:nvSpPr>
          <p:cNvPr id="18" name="track-0-0-detail">
            <a:extLst xmlns:a="http://schemas.openxmlformats.org/drawingml/2006/main">
              <a:ext uri="{FF2B5EF4-FFF2-40B4-BE49-F238E27FC236}">
                <a16:creationId xmlns:a16="http://schemas.microsoft.com/office/drawing/2014/main" id="{9FEAC788-9341-40DA-8D4B-1B950514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19" name="track-0-0-arrow">
            <a:extLst xmlns:a="http://schemas.openxmlformats.org/drawingml/2006/main">
              <a:ext uri="{FF2B5EF4-FFF2-40B4-BE49-F238E27FC236}">
                <a16:creationId xmlns:a16="http://schemas.microsoft.com/office/drawing/2014/main" id="{C691EE0A-F0BF-42DD-AF93-7EFDE378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20" name="track-0-1-stage">
            <a:extLst xmlns:a="http://schemas.openxmlformats.org/drawingml/2006/main">
              <a:ext uri="{FF2B5EF4-FFF2-40B4-BE49-F238E27FC236}">
                <a16:creationId xmlns:a16="http://schemas.microsoft.com/office/drawing/2014/main" id="{A43FBC4A-5019-4EFF-86E1-E31F10C8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推进</a:t>
            </a:r>
          </a:p>
        </p:txBody>
      </p:sp>
      <p:sp>
        <p:nvSpPr>
          <p:cNvPr id="21" name="track-0-1-title">
            <a:extLst xmlns:a="http://schemas.openxmlformats.org/drawingml/2006/main">
              <a:ext uri="{FF2B5EF4-FFF2-40B4-BE49-F238E27FC236}">
                <a16:creationId xmlns:a16="http://schemas.microsoft.com/office/drawing/2014/main" id="{36025954-07A0-4753-A445-1636D73B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首发产品</a:t>
            </a:r>
          </a:p>
        </p:txBody>
      </p:sp>
      <p:sp>
        <p:nvSpPr>
          <p:cNvPr id="22" name="track-0-1-detail">
            <a:extLst xmlns:a="http://schemas.openxmlformats.org/drawingml/2006/main">
              <a:ext uri="{FF2B5EF4-FFF2-40B4-BE49-F238E27FC236}">
                <a16:creationId xmlns:a16="http://schemas.microsoft.com/office/drawing/2014/main" id="{202B5A56-A934-4947-9B22-3D6B5D00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23" name="track-0-1-arrow">
            <a:extLst xmlns:a="http://schemas.openxmlformats.org/drawingml/2006/main">
              <a:ext uri="{FF2B5EF4-FFF2-40B4-BE49-F238E27FC236}">
                <a16:creationId xmlns:a16="http://schemas.microsoft.com/office/drawing/2014/main" id="{7D876397-8AA3-415E-9C86-4A0BD049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24" name="track-0-2-stage">
            <a:extLst xmlns:a="http://schemas.openxmlformats.org/drawingml/2006/main">
              <a:ext uri="{FF2B5EF4-FFF2-40B4-BE49-F238E27FC236}">
                <a16:creationId xmlns:a16="http://schemas.microsoft.com/office/drawing/2014/main" id="{0DE857EA-FC80-4B4A-A057-40712B6D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验证</a:t>
            </a:r>
          </a:p>
        </p:txBody>
      </p:sp>
      <p:sp>
        <p:nvSpPr>
          <p:cNvPr id="25" name="track-0-2-title">
            <a:extLst xmlns:a="http://schemas.openxmlformats.org/drawingml/2006/main">
              <a:ext uri="{FF2B5EF4-FFF2-40B4-BE49-F238E27FC236}">
                <a16:creationId xmlns:a16="http://schemas.microsoft.com/office/drawing/2014/main" id="{1538F86D-8555-4A2E-BD72-DE2ECD50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积累数据</a:t>
            </a:r>
          </a:p>
        </p:txBody>
      </p:sp>
      <p:sp>
        <p:nvSpPr>
          <p:cNvPr id="26" name="track-0-2-detail">
            <a:extLst xmlns:a="http://schemas.openxmlformats.org/drawingml/2006/main">
              <a:ext uri="{FF2B5EF4-FFF2-40B4-BE49-F238E27FC236}">
                <a16:creationId xmlns:a16="http://schemas.microsoft.com/office/drawing/2014/main" id="{1EEE1DF5-9B87-4A19-90BA-35616D81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27" name="track-0-2-arrow">
            <a:extLst xmlns:a="http://schemas.openxmlformats.org/drawingml/2006/main">
              <a:ext uri="{FF2B5EF4-FFF2-40B4-BE49-F238E27FC236}">
                <a16:creationId xmlns:a16="http://schemas.microsoft.com/office/drawing/2014/main" id="{71BDE30B-29E2-4CB6-BE2C-49C896B5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28" name="track-0-3-stage">
            <a:extLst xmlns:a="http://schemas.openxmlformats.org/drawingml/2006/main">
              <a:ext uri="{FF2B5EF4-FFF2-40B4-BE49-F238E27FC236}">
                <a16:creationId xmlns:a16="http://schemas.microsoft.com/office/drawing/2014/main" id="{B86F06C2-E6E5-4B82-8C18-EA618DFD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907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C7866"/>
                </a:solidFill>
              </a:defRPr>
            </a:pPr>
            <a:r>
              <a:rPr sz="750" b="1">
                <a:solidFill>
                  <a:srgbClr val="1C7866"/>
                </a:solidFill>
              </a:rPr>
              <a:t>目标</a:t>
            </a:r>
          </a:p>
        </p:txBody>
      </p:sp>
      <p:sp>
        <p:nvSpPr>
          <p:cNvPr id="29" name="track-0-3-title">
            <a:extLst xmlns:a="http://schemas.openxmlformats.org/drawingml/2006/main">
              <a:ext uri="{FF2B5EF4-FFF2-40B4-BE49-F238E27FC236}">
                <a16:creationId xmlns:a16="http://schemas.microsoft.com/office/drawing/2014/main" id="{0B9032F2-78B6-416A-898C-9A9B91F6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383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扩展业务</a:t>
            </a:r>
          </a:p>
        </p:txBody>
      </p:sp>
      <p:sp>
        <p:nvSpPr>
          <p:cNvPr id="30" name="track-0-3-detail">
            <a:extLst xmlns:a="http://schemas.openxmlformats.org/drawingml/2006/main">
              <a:ext uri="{FF2B5EF4-FFF2-40B4-BE49-F238E27FC236}">
                <a16:creationId xmlns:a16="http://schemas.microsoft.com/office/drawing/2014/main" id="{6AA4F186-B2FC-427F-8427-09D88291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5812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31" name="track-1">
            <a:extLst xmlns:a="http://schemas.openxmlformats.org/drawingml/2006/main">
              <a:ext uri="{FF2B5EF4-FFF2-40B4-BE49-F238E27FC236}">
                <a16:creationId xmlns:a16="http://schemas.microsoft.com/office/drawing/2014/main" id="{6DFC424D-9D3C-4417-8810-14134D12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2" name="track-accent-1">
            <a:extLst xmlns:a="http://schemas.openxmlformats.org/drawingml/2006/main">
              <a:ext uri="{FF2B5EF4-FFF2-40B4-BE49-F238E27FC236}">
                <a16:creationId xmlns:a16="http://schemas.microsoft.com/office/drawing/2014/main" id="{CA9D0304-D688-40A5-A3B7-D59FA3F4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rack-label-1">
            <a:extLst xmlns:a="http://schemas.openxmlformats.org/drawingml/2006/main">
              <a:ext uri="{FF2B5EF4-FFF2-40B4-BE49-F238E27FC236}">
                <a16:creationId xmlns:a16="http://schemas.microsoft.com/office/drawing/2014/main" id="{5124B03E-8B55-434A-8DD3-8B1ACC77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6712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C794D"/>
                </a:solidFill>
              </a:defRPr>
            </a:pPr>
            <a:r>
              <a:rPr sz="750" b="1">
                <a:solidFill>
                  <a:srgbClr val="BC794D"/>
                </a:solidFill>
              </a:rPr>
              <a:t>路径 02</a:t>
            </a:r>
          </a:p>
        </p:txBody>
      </p:sp>
      <p:sp>
        <p:nvSpPr>
          <p:cNvPr id="34" name="track-name-1">
            <a:extLst xmlns:a="http://schemas.openxmlformats.org/drawingml/2006/main">
              <a:ext uri="{FF2B5EF4-FFF2-40B4-BE49-F238E27FC236}">
                <a16:creationId xmlns:a16="http://schemas.microsoft.com/office/drawing/2014/main" id="{30B7B0DC-4DDC-451C-B9BD-100784D5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243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A24"/>
                </a:solidFill>
              </a:defRPr>
            </a:pPr>
            <a:r>
              <a:rPr sz="1650" b="1">
                <a:solidFill>
                  <a:srgbClr val="162A24"/>
                </a:solidFill>
              </a:rPr>
              <a:t>牌照路径</a:t>
            </a:r>
          </a:p>
        </p:txBody>
      </p:sp>
      <p:sp>
        <p:nvSpPr>
          <p:cNvPr id="35" name="track-summary-1">
            <a:extLst xmlns:a="http://schemas.openxmlformats.org/drawingml/2006/main">
              <a:ext uri="{FF2B5EF4-FFF2-40B4-BE49-F238E27FC236}">
                <a16:creationId xmlns:a16="http://schemas.microsoft.com/office/drawing/2014/main" id="{AD8311A9-CACD-4A22-A03C-F594B58B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148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DRB → 运营三年 → DFB</a:t>
            </a:r>
          </a:p>
        </p:txBody>
      </p:sp>
      <p:sp>
        <p:nvSpPr>
          <p:cNvPr id="36" name="track-1-0-stage">
            <a:extLst xmlns:a="http://schemas.openxmlformats.org/drawingml/2006/main">
              <a:ext uri="{FF2B5EF4-FFF2-40B4-BE49-F238E27FC236}">
                <a16:creationId xmlns:a16="http://schemas.microsoft.com/office/drawing/2014/main" id="{761859E4-5FF0-4DDB-BF31-80ABC900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起点</a:t>
            </a:r>
          </a:p>
        </p:txBody>
      </p:sp>
      <p:sp>
        <p:nvSpPr>
          <p:cNvPr id="37" name="track-1-0-title">
            <a:extLst xmlns:a="http://schemas.openxmlformats.org/drawingml/2006/main">
              <a:ext uri="{FF2B5EF4-FFF2-40B4-BE49-F238E27FC236}">
                <a16:creationId xmlns:a16="http://schemas.microsoft.com/office/drawing/2014/main" id="{8BC085C3-351C-460F-9767-0E1DF422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核心企业生态</a:t>
            </a:r>
          </a:p>
        </p:txBody>
      </p:sp>
      <p:sp>
        <p:nvSpPr>
          <p:cNvPr id="38" name="track-1-0-detail">
            <a:extLst xmlns:a="http://schemas.openxmlformats.org/drawingml/2006/main">
              <a:ext uri="{FF2B5EF4-FFF2-40B4-BE49-F238E27FC236}">
                <a16:creationId xmlns:a16="http://schemas.microsoft.com/office/drawing/2014/main" id="{9A735CCC-D011-4351-9839-CCC721D2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39" name="track-1-0-arrow">
            <a:extLst xmlns:a="http://schemas.openxmlformats.org/drawingml/2006/main">
              <a:ext uri="{FF2B5EF4-FFF2-40B4-BE49-F238E27FC236}">
                <a16:creationId xmlns:a16="http://schemas.microsoft.com/office/drawing/2014/main" id="{070CA2AE-9CDE-47A7-8C45-208CDC38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40" name="track-1-1-stage">
            <a:extLst xmlns:a="http://schemas.openxmlformats.org/drawingml/2006/main">
              <a:ext uri="{FF2B5EF4-FFF2-40B4-BE49-F238E27FC236}">
                <a16:creationId xmlns:a16="http://schemas.microsoft.com/office/drawing/2014/main" id="{E57AB9C6-9EF0-481E-A32C-7745038E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推进</a:t>
            </a:r>
          </a:p>
        </p:txBody>
      </p:sp>
      <p:sp>
        <p:nvSpPr>
          <p:cNvPr id="41" name="track-1-1-title">
            <a:extLst xmlns:a="http://schemas.openxmlformats.org/drawingml/2006/main">
              <a:ext uri="{FF2B5EF4-FFF2-40B4-BE49-F238E27FC236}">
                <a16:creationId xmlns:a16="http://schemas.microsoft.com/office/drawing/2014/main" id="{2D1B9DAA-E5D4-4060-A472-99EF5E70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首发产品</a:t>
            </a:r>
          </a:p>
        </p:txBody>
      </p:sp>
      <p:sp>
        <p:nvSpPr>
          <p:cNvPr id="42" name="track-1-1-detail">
            <a:extLst xmlns:a="http://schemas.openxmlformats.org/drawingml/2006/main">
              <a:ext uri="{FF2B5EF4-FFF2-40B4-BE49-F238E27FC236}">
                <a16:creationId xmlns:a16="http://schemas.microsoft.com/office/drawing/2014/main" id="{1074721B-F84E-4A6E-8E4D-A721FAE7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43" name="track-1-1-arrow">
            <a:extLst xmlns:a="http://schemas.openxmlformats.org/drawingml/2006/main">
              <a:ext uri="{FF2B5EF4-FFF2-40B4-BE49-F238E27FC236}">
                <a16:creationId xmlns:a16="http://schemas.microsoft.com/office/drawing/2014/main" id="{C8244B3D-7100-42C4-B979-2AABE925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0481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44" name="track-1-2-stage">
            <a:extLst xmlns:a="http://schemas.openxmlformats.org/drawingml/2006/main">
              <a:ext uri="{FF2B5EF4-FFF2-40B4-BE49-F238E27FC236}">
                <a16:creationId xmlns:a16="http://schemas.microsoft.com/office/drawing/2014/main" id="{8BB5A3D9-761A-454B-80CB-8D06297D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验证</a:t>
            </a:r>
          </a:p>
        </p:txBody>
      </p:sp>
      <p:sp>
        <p:nvSpPr>
          <p:cNvPr id="45" name="track-1-2-title">
            <a:extLst xmlns:a="http://schemas.openxmlformats.org/drawingml/2006/main">
              <a:ext uri="{FF2B5EF4-FFF2-40B4-BE49-F238E27FC236}">
                <a16:creationId xmlns:a16="http://schemas.microsoft.com/office/drawing/2014/main" id="{84A539E1-824C-4623-ABE9-2426824B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积累数据</a:t>
            </a:r>
          </a:p>
        </p:txBody>
      </p:sp>
      <p:sp>
        <p:nvSpPr>
          <p:cNvPr id="46" name="track-1-2-detail">
            <a:extLst xmlns:a="http://schemas.openxmlformats.org/drawingml/2006/main">
              <a:ext uri="{FF2B5EF4-FFF2-40B4-BE49-F238E27FC236}">
                <a16:creationId xmlns:a16="http://schemas.microsoft.com/office/drawing/2014/main" id="{C0A738A7-4FC1-4B63-BB7A-9106D2D4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47" name="track-1-2-arrow">
            <a:extLst xmlns:a="http://schemas.openxmlformats.org/drawingml/2006/main">
              <a:ext uri="{FF2B5EF4-FFF2-40B4-BE49-F238E27FC236}">
                <a16:creationId xmlns:a16="http://schemas.microsoft.com/office/drawing/2014/main" id="{A9CB3968-6A2D-437D-965B-CA154F27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481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48" name="track-1-3-stage">
            <a:extLst xmlns:a="http://schemas.openxmlformats.org/drawingml/2006/main">
              <a:ext uri="{FF2B5EF4-FFF2-40B4-BE49-F238E27FC236}">
                <a16:creationId xmlns:a16="http://schemas.microsoft.com/office/drawing/2014/main" id="{95AFCE36-A52D-4442-A361-DB0F01FA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7052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47E89"/>
                </a:solidFill>
              </a:defRPr>
            </a:pPr>
            <a:r>
              <a:rPr sz="750" b="1">
                <a:solidFill>
                  <a:srgbClr val="547E89"/>
                </a:solidFill>
              </a:rPr>
              <a:t>目标</a:t>
            </a:r>
          </a:p>
        </p:txBody>
      </p:sp>
      <p:sp>
        <p:nvSpPr>
          <p:cNvPr id="49" name="track-1-3-title">
            <a:extLst xmlns:a="http://schemas.openxmlformats.org/drawingml/2006/main">
              <a:ext uri="{FF2B5EF4-FFF2-40B4-BE49-F238E27FC236}">
                <a16:creationId xmlns:a16="http://schemas.microsoft.com/office/drawing/2014/main" id="{B3A944F1-C429-407D-9B76-07E6E3A4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952875"/>
            <a:ext cx="157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扩展业务</a:t>
            </a:r>
          </a:p>
        </p:txBody>
      </p:sp>
      <p:sp>
        <p:nvSpPr>
          <p:cNvPr id="50" name="track-1-3-detail">
            <a:extLst xmlns:a="http://schemas.openxmlformats.org/drawingml/2006/main">
              <a:ext uri="{FF2B5EF4-FFF2-40B4-BE49-F238E27FC236}">
                <a16:creationId xmlns:a16="http://schemas.microsoft.com/office/drawing/2014/main" id="{8E108F5D-A4A3-4DD7-843B-2492D572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295775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66F"/>
                </a:solidFill>
              </a:defRPr>
            </a:pPr>
            <a:r>
              <a:rPr sz="750" b="0">
                <a:solidFill>
                  <a:srgbClr val="69766F"/>
                </a:solidFill>
              </a:rPr>
              <a:t>在此填写已确认的阶段内容</a:t>
            </a:r>
          </a:p>
        </p:txBody>
      </p:sp>
      <p:sp>
        <p:nvSpPr>
          <p:cNvPr id="51" name="action-bg">
            <a:extLst xmlns:a="http://schemas.openxmlformats.org/drawingml/2006/main">
              <a:ext uri="{FF2B5EF4-FFF2-40B4-BE49-F238E27FC236}">
                <a16:creationId xmlns:a16="http://schemas.microsoft.com/office/drawing/2014/main" id="{F564438A-69ED-4911-A628-E081B16F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action-title">
            <a:extLst xmlns:a="http://schemas.openxmlformats.org/drawingml/2006/main">
              <a:ext uri="{FF2B5EF4-FFF2-40B4-BE49-F238E27FC236}">
                <a16:creationId xmlns:a16="http://schemas.microsoft.com/office/drawing/2014/main" id="{F57E62B7-B45D-4E65-BE8D-3C8F7AB7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DF8"/>
                </a:solidFill>
              </a:defRPr>
            </a:pPr>
            <a:r>
              <a:rPr sz="1725" b="1">
                <a:solidFill>
                  <a:srgbClr val="FFFDF8"/>
                </a:solidFill>
              </a:rPr>
              <a:t>下一步</a:t>
            </a:r>
          </a:p>
        </p:txBody>
      </p:sp>
      <p:sp>
        <p:nvSpPr>
          <p:cNvPr id="53" name="action-0">
            <a:extLst xmlns:a="http://schemas.openxmlformats.org/drawingml/2006/main">
              <a:ext uri="{FF2B5EF4-FFF2-40B4-BE49-F238E27FC236}">
                <a16:creationId xmlns:a16="http://schemas.microsoft.com/office/drawing/2014/main" id="{549BC09B-C9BF-4B99-B5CA-B8678926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48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合作｜填写动作、Owner 与时间</a:t>
            </a:r>
          </a:p>
        </p:txBody>
      </p:sp>
      <p:sp>
        <p:nvSpPr>
          <p:cNvPr id="54" name="action-1">
            <a:extLst xmlns:a="http://schemas.openxmlformats.org/drawingml/2006/main">
              <a:ext uri="{FF2B5EF4-FFF2-40B4-BE49-F238E27FC236}">
                <a16:creationId xmlns:a16="http://schemas.microsoft.com/office/drawing/2014/main" id="{0B1D5086-B0DC-485A-972D-5CCC31E9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48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资本｜填写动作、Owner 与时间</a:t>
            </a:r>
          </a:p>
        </p:txBody>
      </p:sp>
      <p:sp>
        <p:nvSpPr>
          <p:cNvPr id="55" name="action-2">
            <a:extLst xmlns:a="http://schemas.openxmlformats.org/drawingml/2006/main">
              <a:ext uri="{FF2B5EF4-FFF2-40B4-BE49-F238E27FC236}">
                <a16:creationId xmlns:a16="http://schemas.microsoft.com/office/drawing/2014/main" id="{B29556C9-72BE-4EBD-A909-DF574381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48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申报｜填写动作、Owner 与时间</a:t>
            </a:r>
          </a:p>
        </p:txBody>
      </p:sp>
    </p:spTree>
    <p:extLst>
      <p:ext uri="{BB962C8B-B14F-4D97-AF65-F5344CB8AC3E}">
        <p14:creationId xmlns:p14="http://schemas.microsoft.com/office/powerpoint/2010/main" val="6218410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ule-60-45">
            <a:extLst xmlns:a="http://schemas.openxmlformats.org/drawingml/2006/main">
              <a:ext uri="{FF2B5EF4-FFF2-40B4-BE49-F238E27FC236}">
                <a16:creationId xmlns:a16="http://schemas.microsoft.com/office/drawing/2014/main" id="{F857FC32-5375-4528-8EF2-C6931A03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BF9C02B6-375A-4F07-BD31-89CA601D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C3CA238E-F4AA-4328-930D-F2CB6E38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流程与阶段门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5B6113-C2D7-4C25-96E6-29706D55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05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75FEF776-E96B-44DC-B73F-B6DF3348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61AECFF2-B774-4983-8A6C-D01B0D48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66CA7103-483E-4440-8FD9-D5B00DFF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4B34213-8C5F-44B9-9D3F-A419A717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05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1E59B3B-943A-4A24-9F08-4B8557CB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输入经过有序处理，形成可验证输出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BEFAAED6-B12C-4B12-98E6-34152DD3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仅当内容存在真实顺序时使用流程图。</a:t>
            </a:r>
          </a:p>
        </p:txBody>
      </p:sp>
      <p:sp>
        <p:nvSpPr>
          <p:cNvPr id="11" name="rule-95-390">
            <a:extLst xmlns:a="http://schemas.openxmlformats.org/drawingml/2006/main">
              <a:ext uri="{FF2B5EF4-FFF2-40B4-BE49-F238E27FC236}">
                <a16:creationId xmlns:a16="http://schemas.microsoft.com/office/drawing/2014/main" id="{19B8B2FD-D5D6-4F32-9872-382EE79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14750"/>
            <a:ext cx="1009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rocess-0">
            <a:extLst xmlns:a="http://schemas.openxmlformats.org/drawingml/2006/main">
              <a:ext uri="{FF2B5EF4-FFF2-40B4-BE49-F238E27FC236}">
                <a16:creationId xmlns:a16="http://schemas.microsoft.com/office/drawing/2014/main" id="{B22D48BB-EB1A-4CAE-9553-E87B8A9E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13" name="process-no-0">
            <a:extLst xmlns:a="http://schemas.openxmlformats.org/drawingml/2006/main">
              <a:ext uri="{FF2B5EF4-FFF2-40B4-BE49-F238E27FC236}">
                <a16:creationId xmlns:a16="http://schemas.microsoft.com/office/drawing/2014/main" id="{FCC48C8E-DCD7-48FD-86B9-F37C5F65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4" name="process-title-0">
            <a:extLst xmlns:a="http://schemas.openxmlformats.org/drawingml/2006/main">
              <a:ext uri="{FF2B5EF4-FFF2-40B4-BE49-F238E27FC236}">
                <a16:creationId xmlns:a16="http://schemas.microsoft.com/office/drawing/2014/main" id="{1ED02CA0-33CB-4541-9A1B-9408644A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确认输入</a:t>
            </a:r>
          </a:p>
        </p:txBody>
      </p:sp>
      <p:sp>
        <p:nvSpPr>
          <p:cNvPr id="15" name="process-detail-0">
            <a:extLst xmlns:a="http://schemas.openxmlformats.org/drawingml/2006/main">
              <a:ext uri="{FF2B5EF4-FFF2-40B4-BE49-F238E27FC236}">
                <a16:creationId xmlns:a16="http://schemas.microsoft.com/office/drawing/2014/main" id="{FDD707D7-DA67-4E92-8B2E-C3EB73F5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16" name="process-1">
            <a:extLst xmlns:a="http://schemas.openxmlformats.org/drawingml/2006/main">
              <a:ext uri="{FF2B5EF4-FFF2-40B4-BE49-F238E27FC236}">
                <a16:creationId xmlns:a16="http://schemas.microsoft.com/office/drawing/2014/main" id="{92A3896A-83DF-47D9-A57E-0D2BA7D3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17" name="process-no-1">
            <a:extLst xmlns:a="http://schemas.openxmlformats.org/drawingml/2006/main">
              <a:ext uri="{FF2B5EF4-FFF2-40B4-BE49-F238E27FC236}">
                <a16:creationId xmlns:a16="http://schemas.microsoft.com/office/drawing/2014/main" id="{8CACEC05-8D39-4FC3-9466-9B165E1D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02</a:t>
            </a:r>
          </a:p>
        </p:txBody>
      </p:sp>
      <p:sp>
        <p:nvSpPr>
          <p:cNvPr id="18" name="process-title-1">
            <a:extLst xmlns:a="http://schemas.openxmlformats.org/drawingml/2006/main">
              <a:ext uri="{FF2B5EF4-FFF2-40B4-BE49-F238E27FC236}">
                <a16:creationId xmlns:a16="http://schemas.microsoft.com/office/drawing/2014/main" id="{7C00A418-F5C2-447E-9B61-6801A14B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核对事实</a:t>
            </a:r>
          </a:p>
        </p:txBody>
      </p:sp>
      <p:sp>
        <p:nvSpPr>
          <p:cNvPr id="19" name="process-detail-1">
            <a:extLst xmlns:a="http://schemas.openxmlformats.org/drawingml/2006/main">
              <a:ext uri="{FF2B5EF4-FFF2-40B4-BE49-F238E27FC236}">
                <a16:creationId xmlns:a16="http://schemas.microsoft.com/office/drawing/2014/main" id="{B0DF6819-0497-4BB6-8027-CDC2D9D7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20" name="process-2">
            <a:extLst xmlns:a="http://schemas.openxmlformats.org/drawingml/2006/main">
              <a:ext uri="{FF2B5EF4-FFF2-40B4-BE49-F238E27FC236}">
                <a16:creationId xmlns:a16="http://schemas.microsoft.com/office/drawing/2014/main" id="{F86CFE54-7398-48E7-A8D1-7FE96F0D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rocess-no-2">
            <a:extLst xmlns:a="http://schemas.openxmlformats.org/drawingml/2006/main">
              <a:ext uri="{FF2B5EF4-FFF2-40B4-BE49-F238E27FC236}">
                <a16:creationId xmlns:a16="http://schemas.microsoft.com/office/drawing/2014/main" id="{A7BD9329-7440-408E-814D-F4ABDC90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03</a:t>
            </a:r>
          </a:p>
        </p:txBody>
      </p:sp>
      <p:sp>
        <p:nvSpPr>
          <p:cNvPr id="22" name="process-title-2">
            <a:extLst xmlns:a="http://schemas.openxmlformats.org/drawingml/2006/main">
              <a:ext uri="{FF2B5EF4-FFF2-40B4-BE49-F238E27FC236}">
                <a16:creationId xmlns:a16="http://schemas.microsoft.com/office/drawing/2014/main" id="{2043DDF6-9760-43DF-AE47-DFAB98B3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形成判断</a:t>
            </a:r>
          </a:p>
        </p:txBody>
      </p:sp>
      <p:sp>
        <p:nvSpPr>
          <p:cNvPr id="23" name="process-detail-2">
            <a:extLst xmlns:a="http://schemas.openxmlformats.org/drawingml/2006/main">
              <a:ext uri="{FF2B5EF4-FFF2-40B4-BE49-F238E27FC236}">
                <a16:creationId xmlns:a16="http://schemas.microsoft.com/office/drawing/2014/main" id="{9F7B7CAA-0F67-4D09-A4BE-666CEE49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24" name="process-3">
            <a:extLst xmlns:a="http://schemas.openxmlformats.org/drawingml/2006/main">
              <a:ext uri="{FF2B5EF4-FFF2-40B4-BE49-F238E27FC236}">
                <a16:creationId xmlns:a16="http://schemas.microsoft.com/office/drawing/2014/main" id="{D5745CDA-53F4-4CFB-85D7-C601D021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25" name="process-no-3">
            <a:extLst xmlns:a="http://schemas.openxmlformats.org/drawingml/2006/main">
              <a:ext uri="{FF2B5EF4-FFF2-40B4-BE49-F238E27FC236}">
                <a16:creationId xmlns:a16="http://schemas.microsoft.com/office/drawing/2014/main" id="{C9176B30-165C-4180-AE70-B31D8610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04</a:t>
            </a:r>
          </a:p>
        </p:txBody>
      </p:sp>
      <p:sp>
        <p:nvSpPr>
          <p:cNvPr id="26" name="process-title-3">
            <a:extLst xmlns:a="http://schemas.openxmlformats.org/drawingml/2006/main">
              <a:ext uri="{FF2B5EF4-FFF2-40B4-BE49-F238E27FC236}">
                <a16:creationId xmlns:a16="http://schemas.microsoft.com/office/drawing/2014/main" id="{95EC47D9-20B9-490F-B6D0-E6435357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执行行动</a:t>
            </a:r>
          </a:p>
        </p:txBody>
      </p:sp>
      <p:sp>
        <p:nvSpPr>
          <p:cNvPr id="27" name="process-detail-3">
            <a:extLst xmlns:a="http://schemas.openxmlformats.org/drawingml/2006/main">
              <a:ext uri="{FF2B5EF4-FFF2-40B4-BE49-F238E27FC236}">
                <a16:creationId xmlns:a16="http://schemas.microsoft.com/office/drawing/2014/main" id="{FFF00D68-7DB5-4053-B510-50D23F19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  <p:sp>
        <p:nvSpPr>
          <p:cNvPr id="28" name="process-4">
            <a:extLst xmlns:a="http://schemas.openxmlformats.org/drawingml/2006/main">
              <a:ext uri="{FF2B5EF4-FFF2-40B4-BE49-F238E27FC236}">
                <a16:creationId xmlns:a16="http://schemas.microsoft.com/office/drawing/2014/main" id="{599EB2B7-1850-4CF4-A9CA-F0D2A962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29" name="process-no-4">
            <a:extLst xmlns:a="http://schemas.openxmlformats.org/drawingml/2006/main">
              <a:ext uri="{FF2B5EF4-FFF2-40B4-BE49-F238E27FC236}">
                <a16:creationId xmlns:a16="http://schemas.microsoft.com/office/drawing/2014/main" id="{921D1EB4-319C-4C66-BB78-301CDD4C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90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C794D"/>
                </a:solidFill>
              </a:defRPr>
            </a:pPr>
            <a:r>
              <a:rPr sz="1050" b="1">
                <a:solidFill>
                  <a:srgbClr val="BC794D"/>
                </a:solidFill>
              </a:rPr>
              <a:t>05</a:t>
            </a:r>
          </a:p>
        </p:txBody>
      </p:sp>
      <p:sp>
        <p:nvSpPr>
          <p:cNvPr id="30" name="process-title-4">
            <a:extLst xmlns:a="http://schemas.openxmlformats.org/drawingml/2006/main">
              <a:ext uri="{FF2B5EF4-FFF2-40B4-BE49-F238E27FC236}">
                <a16:creationId xmlns:a16="http://schemas.microsoft.com/office/drawing/2014/main" id="{0A941248-3A85-4F02-A0D3-BCBA2320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193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验证结果</a:t>
            </a:r>
          </a:p>
        </p:txBody>
      </p:sp>
      <p:sp>
        <p:nvSpPr>
          <p:cNvPr id="31" name="process-detail-4">
            <a:extLst xmlns:a="http://schemas.openxmlformats.org/drawingml/2006/main">
              <a:ext uri="{FF2B5EF4-FFF2-40B4-BE49-F238E27FC236}">
                <a16:creationId xmlns:a16="http://schemas.microsoft.com/office/drawing/2014/main" id="{9B6D21FF-99A0-4FAB-ADF2-16AA53AB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289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填写该步骤的动作和结果</a:t>
            </a:r>
          </a:p>
        </p:txBody>
      </p:sp>
    </p:spTree>
    <p:extLst>
      <p:ext uri="{BB962C8B-B14F-4D97-AF65-F5344CB8AC3E}">
        <p14:creationId xmlns:p14="http://schemas.microsoft.com/office/powerpoint/2010/main" val="5606412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le-60-45">
            <a:extLst xmlns:a="http://schemas.openxmlformats.org/drawingml/2006/main">
              <a:ext uri="{FF2B5EF4-FFF2-40B4-BE49-F238E27FC236}">
                <a16:creationId xmlns:a16="http://schemas.microsoft.com/office/drawing/2014/main" id="{D503B3B9-A797-4458-8317-9F2B3A98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B0763B68-F42B-4960-96E1-3588346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43CE1B73-3290-4BC5-B12C-C5D37DB9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时间与里程碑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A6E6BD-10C8-4B04-B83F-458EF602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06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F1150098-80DC-49CE-B8BF-5D5C444F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D8054649-AEBA-4B3B-83FB-69C30A69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8240A5A1-8D06-4D9A-832B-21199F3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D50708E-2E07-4C2D-ACA6-1EA7826C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06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98EADE05-008E-4B85-AD36-27331E07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关键节点沿同一时间轴推进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13CA7E0-E88D-471A-9042-713C60DA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时间、里程碑和交付物必须来自原始材料。</a:t>
            </a:r>
          </a:p>
        </p:txBody>
      </p:sp>
      <p:sp>
        <p:nvSpPr>
          <p:cNvPr id="11" name="rule-110-385">
            <a:extLst xmlns:a="http://schemas.openxmlformats.org/drawingml/2006/main">
              <a:ext uri="{FF2B5EF4-FFF2-40B4-BE49-F238E27FC236}">
                <a16:creationId xmlns:a16="http://schemas.microsoft.com/office/drawing/2014/main" id="{DC13FA05-EB28-4D5B-BFC1-A6A6C51D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ime-dot-0">
            <a:extLst xmlns:a="http://schemas.openxmlformats.org/drawingml/2006/main">
              <a:ext uri="{FF2B5EF4-FFF2-40B4-BE49-F238E27FC236}">
                <a16:creationId xmlns:a16="http://schemas.microsoft.com/office/drawing/2014/main" id="{9BAD115E-1B3B-41D3-91F8-B0251F5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ime-0">
            <a:extLst xmlns:a="http://schemas.openxmlformats.org/drawingml/2006/main">
              <a:ext uri="{FF2B5EF4-FFF2-40B4-BE49-F238E27FC236}">
                <a16:creationId xmlns:a16="http://schemas.microsoft.com/office/drawing/2014/main" id="{E0535339-E05F-41A3-A474-E44489B9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当前</a:t>
            </a:r>
          </a:p>
        </p:txBody>
      </p:sp>
      <p:sp>
        <p:nvSpPr>
          <p:cNvPr id="14" name="time-title-0">
            <a:extLst xmlns:a="http://schemas.openxmlformats.org/drawingml/2006/main">
              <a:ext uri="{FF2B5EF4-FFF2-40B4-BE49-F238E27FC236}">
                <a16:creationId xmlns:a16="http://schemas.microsoft.com/office/drawing/2014/main" id="{A1FECA52-242D-472F-91AE-3821E150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当前基础</a:t>
            </a:r>
          </a:p>
        </p:txBody>
      </p:sp>
      <p:sp>
        <p:nvSpPr>
          <p:cNvPr id="15" name="time-detail-0">
            <a:extLst xmlns:a="http://schemas.openxmlformats.org/drawingml/2006/main">
              <a:ext uri="{FF2B5EF4-FFF2-40B4-BE49-F238E27FC236}">
                <a16:creationId xmlns:a16="http://schemas.microsoft.com/office/drawing/2014/main" id="{5A90AA05-94F8-4244-8A1F-AACE3F21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  <p:sp>
        <p:nvSpPr>
          <p:cNvPr id="16" name="time-dot-1">
            <a:extLst xmlns:a="http://schemas.openxmlformats.org/drawingml/2006/main">
              <a:ext uri="{FF2B5EF4-FFF2-40B4-BE49-F238E27FC236}">
                <a16:creationId xmlns:a16="http://schemas.microsoft.com/office/drawing/2014/main" id="{81DECB10-D82E-47AB-9B25-5575C9D5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ime-1">
            <a:extLst xmlns:a="http://schemas.openxmlformats.org/drawingml/2006/main">
              <a:ext uri="{FF2B5EF4-FFF2-40B4-BE49-F238E27FC236}">
                <a16:creationId xmlns:a16="http://schemas.microsoft.com/office/drawing/2014/main" id="{CC34EEAA-D09F-4400-AE06-DCC77CE8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T+1</a:t>
            </a:r>
          </a:p>
        </p:txBody>
      </p:sp>
      <p:sp>
        <p:nvSpPr>
          <p:cNvPr id="18" name="time-title-1">
            <a:extLst xmlns:a="http://schemas.openxmlformats.org/drawingml/2006/main">
              <a:ext uri="{FF2B5EF4-FFF2-40B4-BE49-F238E27FC236}">
                <a16:creationId xmlns:a16="http://schemas.microsoft.com/office/drawing/2014/main" id="{B3448B25-1539-48E8-9746-6848EC23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完成审批</a:t>
            </a:r>
          </a:p>
        </p:txBody>
      </p:sp>
      <p:sp>
        <p:nvSpPr>
          <p:cNvPr id="19" name="time-detail-1">
            <a:extLst xmlns:a="http://schemas.openxmlformats.org/drawingml/2006/main">
              <a:ext uri="{FF2B5EF4-FFF2-40B4-BE49-F238E27FC236}">
                <a16:creationId xmlns:a16="http://schemas.microsoft.com/office/drawing/2014/main" id="{72C2351D-7F19-4D89-B127-6B76ACBB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  <p:sp>
        <p:nvSpPr>
          <p:cNvPr id="20" name="time-dot-2">
            <a:extLst xmlns:a="http://schemas.openxmlformats.org/drawingml/2006/main">
              <a:ext uri="{FF2B5EF4-FFF2-40B4-BE49-F238E27FC236}">
                <a16:creationId xmlns:a16="http://schemas.microsoft.com/office/drawing/2014/main" id="{85DA3243-6D0C-450F-B29A-022F933A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ime-2">
            <a:extLst xmlns:a="http://schemas.openxmlformats.org/drawingml/2006/main">
              <a:ext uri="{FF2B5EF4-FFF2-40B4-BE49-F238E27FC236}">
                <a16:creationId xmlns:a16="http://schemas.microsoft.com/office/drawing/2014/main" id="{A15F7359-274B-4553-AB5F-23944073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T+2</a:t>
            </a:r>
          </a:p>
        </p:txBody>
      </p:sp>
      <p:sp>
        <p:nvSpPr>
          <p:cNvPr id="22" name="time-title-2">
            <a:extLst xmlns:a="http://schemas.openxmlformats.org/drawingml/2006/main">
              <a:ext uri="{FF2B5EF4-FFF2-40B4-BE49-F238E27FC236}">
                <a16:creationId xmlns:a16="http://schemas.microsoft.com/office/drawing/2014/main" id="{AAAACDFD-F8DB-4E1E-93F5-FD0CDFD0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进入运营</a:t>
            </a:r>
          </a:p>
        </p:txBody>
      </p:sp>
      <p:sp>
        <p:nvSpPr>
          <p:cNvPr id="23" name="time-detail-2">
            <a:extLst xmlns:a="http://schemas.openxmlformats.org/drawingml/2006/main">
              <a:ext uri="{FF2B5EF4-FFF2-40B4-BE49-F238E27FC236}">
                <a16:creationId xmlns:a16="http://schemas.microsoft.com/office/drawing/2014/main" id="{13718439-C63E-4D22-94FC-8BA65A9A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  <p:sp>
        <p:nvSpPr>
          <p:cNvPr id="24" name="time-dot-3">
            <a:extLst xmlns:a="http://schemas.openxmlformats.org/drawingml/2006/main">
              <a:ext uri="{FF2B5EF4-FFF2-40B4-BE49-F238E27FC236}">
                <a16:creationId xmlns:a16="http://schemas.microsoft.com/office/drawing/2014/main" id="{C533AD9C-BEF3-440F-913A-E048711D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495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ime-3">
            <a:extLst xmlns:a="http://schemas.openxmlformats.org/drawingml/2006/main">
              <a:ext uri="{FF2B5EF4-FFF2-40B4-BE49-F238E27FC236}">
                <a16:creationId xmlns:a16="http://schemas.microsoft.com/office/drawing/2014/main" id="{48DF3F5B-1A8E-457A-98FB-34B7B353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目标节点</a:t>
            </a:r>
          </a:p>
        </p:txBody>
      </p:sp>
      <p:sp>
        <p:nvSpPr>
          <p:cNvPr id="26" name="time-title-3">
            <a:extLst xmlns:a="http://schemas.openxmlformats.org/drawingml/2006/main">
              <a:ext uri="{FF2B5EF4-FFF2-40B4-BE49-F238E27FC236}">
                <a16:creationId xmlns:a16="http://schemas.microsoft.com/office/drawing/2014/main" id="{12D472CE-0494-47B4-818F-5EC88308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717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2A24"/>
                </a:solidFill>
              </a:defRPr>
            </a:pPr>
            <a:r>
              <a:rPr sz="1500" b="1">
                <a:solidFill>
                  <a:srgbClr val="162A24"/>
                </a:solidFill>
              </a:rPr>
              <a:t>形成目标能力</a:t>
            </a:r>
          </a:p>
        </p:txBody>
      </p:sp>
      <p:sp>
        <p:nvSpPr>
          <p:cNvPr id="27" name="time-detail-3">
            <a:extLst xmlns:a="http://schemas.openxmlformats.org/drawingml/2006/main">
              <a:ext uri="{FF2B5EF4-FFF2-40B4-BE49-F238E27FC236}">
                <a16:creationId xmlns:a16="http://schemas.microsoft.com/office/drawing/2014/main" id="{80E54BDF-6716-4673-94F5-C052AF67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718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填写来源确认的时间与里程碑</a:t>
            </a:r>
          </a:p>
        </p:txBody>
      </p:sp>
    </p:spTree>
    <p:extLst>
      <p:ext uri="{BB962C8B-B14F-4D97-AF65-F5344CB8AC3E}">
        <p14:creationId xmlns:p14="http://schemas.microsoft.com/office/powerpoint/2010/main" val="627957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rule-60-45">
            <a:extLst xmlns:a="http://schemas.openxmlformats.org/drawingml/2006/main">
              <a:ext uri="{FF2B5EF4-FFF2-40B4-BE49-F238E27FC236}">
                <a16:creationId xmlns:a16="http://schemas.microsoft.com/office/drawing/2014/main" id="{BCA56317-6504-4121-B3C2-66969AD2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6CE9B4B1-E818-4C1F-8810-A150D910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F320D9F7-0217-43CA-B0C1-0C26148D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角色与职责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BA6ED4-1BF3-453C-996B-124B84FC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07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0BAB48C4-9323-4D1D-BFF8-D15CC35A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759A2A95-BE81-4542-B656-547B3641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93E1EEEC-66BD-4485-96F5-7B623225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3DD8331-98F4-4A93-9A99-2EE02305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07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4B37C4E8-F40F-45E8-80A4-BEEEED8F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每个角色沿同一流程承担明确责任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C9A18AE0-DEC2-45B6-91BE-111DC2AC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用角色和动作组织阅读，不把职责拆成孤立卡片。</a:t>
            </a:r>
          </a:p>
        </p:txBody>
      </p:sp>
      <p:sp>
        <p:nvSpPr>
          <p:cNvPr id="11" name="lane-0">
            <a:extLst xmlns:a="http://schemas.openxmlformats.org/drawingml/2006/main">
              <a:ext uri="{FF2B5EF4-FFF2-40B4-BE49-F238E27FC236}">
                <a16:creationId xmlns:a16="http://schemas.microsoft.com/office/drawing/2014/main" id="{4B8A081B-A703-4EAB-82C7-E5A34E5D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lane-actor-0">
            <a:extLst xmlns:a="http://schemas.openxmlformats.org/drawingml/2006/main">
              <a:ext uri="{FF2B5EF4-FFF2-40B4-BE49-F238E27FC236}">
                <a16:creationId xmlns:a16="http://schemas.microsoft.com/office/drawing/2014/main" id="{F516B6BF-0BEC-4652-A062-33273073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业务 Owner</a:t>
            </a:r>
          </a:p>
        </p:txBody>
      </p:sp>
      <p:sp>
        <p:nvSpPr>
          <p:cNvPr id="13" name="lane-0-0">
            <a:extLst xmlns:a="http://schemas.openxmlformats.org/drawingml/2006/main">
              <a:ext uri="{FF2B5EF4-FFF2-40B4-BE49-F238E27FC236}">
                <a16:creationId xmlns:a16="http://schemas.microsoft.com/office/drawing/2014/main" id="{3E692294-C63A-4437-9536-30314597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输入：主要责任</a:t>
            </a:r>
          </a:p>
        </p:txBody>
      </p:sp>
      <p:sp>
        <p:nvSpPr>
          <p:cNvPr id="14" name="lane-0-1">
            <a:extLst xmlns:a="http://schemas.openxmlformats.org/drawingml/2006/main">
              <a:ext uri="{FF2B5EF4-FFF2-40B4-BE49-F238E27FC236}">
                <a16:creationId xmlns:a16="http://schemas.microsoft.com/office/drawing/2014/main" id="{11039BBD-ECCB-4FBD-B6D1-EE6A9A99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判断：配合</a:t>
            </a:r>
          </a:p>
        </p:txBody>
      </p:sp>
      <p:sp>
        <p:nvSpPr>
          <p:cNvPr id="15" name="lane-0-2">
            <a:extLst xmlns:a="http://schemas.openxmlformats.org/drawingml/2006/main">
              <a:ext uri="{FF2B5EF4-FFF2-40B4-BE49-F238E27FC236}">
                <a16:creationId xmlns:a16="http://schemas.microsoft.com/office/drawing/2014/main" id="{2EDE9371-5D2B-46B4-8AE8-5B43E531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行动：配合</a:t>
            </a:r>
          </a:p>
        </p:txBody>
      </p:sp>
      <p:sp>
        <p:nvSpPr>
          <p:cNvPr id="16" name="lane-0-3">
            <a:extLst xmlns:a="http://schemas.openxmlformats.org/drawingml/2006/main">
              <a:ext uri="{FF2B5EF4-FFF2-40B4-BE49-F238E27FC236}">
                <a16:creationId xmlns:a16="http://schemas.microsoft.com/office/drawing/2014/main" id="{13BA555E-3344-4554-AC89-BFAC785A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结果：配合</a:t>
            </a:r>
          </a:p>
        </p:txBody>
      </p:sp>
      <p:sp>
        <p:nvSpPr>
          <p:cNvPr id="17" name="lane-1">
            <a:extLst xmlns:a="http://schemas.openxmlformats.org/drawingml/2006/main">
              <a:ext uri="{FF2B5EF4-FFF2-40B4-BE49-F238E27FC236}">
                <a16:creationId xmlns:a16="http://schemas.microsoft.com/office/drawing/2014/main" id="{59FE43A9-F408-4CC6-A7C8-0D4DDC62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9875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8" name="lane-actor-1">
            <a:extLst xmlns:a="http://schemas.openxmlformats.org/drawingml/2006/main">
              <a:ext uri="{FF2B5EF4-FFF2-40B4-BE49-F238E27FC236}">
                <a16:creationId xmlns:a16="http://schemas.microsoft.com/office/drawing/2014/main" id="{4B0F410D-5E20-444B-81BF-77AAB951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数据 / 风险</a:t>
            </a:r>
          </a:p>
        </p:txBody>
      </p:sp>
      <p:sp>
        <p:nvSpPr>
          <p:cNvPr id="19" name="lane-1-0">
            <a:extLst xmlns:a="http://schemas.openxmlformats.org/drawingml/2006/main">
              <a:ext uri="{FF2B5EF4-FFF2-40B4-BE49-F238E27FC236}">
                <a16:creationId xmlns:a16="http://schemas.microsoft.com/office/drawing/2014/main" id="{2B76F1B7-9AAE-45F3-B98F-BFBB1865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输入：配合</a:t>
            </a:r>
          </a:p>
        </p:txBody>
      </p:sp>
      <p:sp>
        <p:nvSpPr>
          <p:cNvPr id="20" name="lane-1-1">
            <a:extLst xmlns:a="http://schemas.openxmlformats.org/drawingml/2006/main">
              <a:ext uri="{FF2B5EF4-FFF2-40B4-BE49-F238E27FC236}">
                <a16:creationId xmlns:a16="http://schemas.microsoft.com/office/drawing/2014/main" id="{724D49BE-AE26-4624-ACB9-DA74B4FF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判断：主要责任</a:t>
            </a:r>
          </a:p>
        </p:txBody>
      </p:sp>
      <p:sp>
        <p:nvSpPr>
          <p:cNvPr id="21" name="lane-1-2">
            <a:extLst xmlns:a="http://schemas.openxmlformats.org/drawingml/2006/main">
              <a:ext uri="{FF2B5EF4-FFF2-40B4-BE49-F238E27FC236}">
                <a16:creationId xmlns:a16="http://schemas.microsoft.com/office/drawing/2014/main" id="{2083B077-CDB9-40FF-A56E-3B70F1A7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行动：配合</a:t>
            </a:r>
          </a:p>
        </p:txBody>
      </p:sp>
      <p:sp>
        <p:nvSpPr>
          <p:cNvPr id="22" name="lane-1-3">
            <a:extLst xmlns:a="http://schemas.openxmlformats.org/drawingml/2006/main">
              <a:ext uri="{FF2B5EF4-FFF2-40B4-BE49-F238E27FC236}">
                <a16:creationId xmlns:a16="http://schemas.microsoft.com/office/drawing/2014/main" id="{72A8E8DC-EA22-4699-B104-964CB416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037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结果：配合</a:t>
            </a:r>
          </a:p>
        </p:txBody>
      </p:sp>
      <p:sp>
        <p:nvSpPr>
          <p:cNvPr id="23" name="lane-2">
            <a:extLst xmlns:a="http://schemas.openxmlformats.org/drawingml/2006/main">
              <a:ext uri="{FF2B5EF4-FFF2-40B4-BE49-F238E27FC236}">
                <a16:creationId xmlns:a16="http://schemas.microsoft.com/office/drawing/2014/main" id="{80031372-5B52-446D-B9B5-3FB5012B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lane-actor-2">
            <a:extLst xmlns:a="http://schemas.openxmlformats.org/drawingml/2006/main">
              <a:ext uri="{FF2B5EF4-FFF2-40B4-BE49-F238E27FC236}">
                <a16:creationId xmlns:a16="http://schemas.microsoft.com/office/drawing/2014/main" id="{56356327-9435-4A53-A318-AC3CB8A3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合作机构</a:t>
            </a:r>
          </a:p>
        </p:txBody>
      </p:sp>
      <p:sp>
        <p:nvSpPr>
          <p:cNvPr id="25" name="lane-2-0">
            <a:extLst xmlns:a="http://schemas.openxmlformats.org/drawingml/2006/main">
              <a:ext uri="{FF2B5EF4-FFF2-40B4-BE49-F238E27FC236}">
                <a16:creationId xmlns:a16="http://schemas.microsoft.com/office/drawing/2014/main" id="{22ADEAE1-FD13-4843-98E7-437877F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输入：配合</a:t>
            </a:r>
          </a:p>
        </p:txBody>
      </p:sp>
      <p:sp>
        <p:nvSpPr>
          <p:cNvPr id="26" name="lane-2-1">
            <a:extLst xmlns:a="http://schemas.openxmlformats.org/drawingml/2006/main">
              <a:ext uri="{FF2B5EF4-FFF2-40B4-BE49-F238E27FC236}">
                <a16:creationId xmlns:a16="http://schemas.microsoft.com/office/drawing/2014/main" id="{6A0415C4-6534-4E3E-A058-AE803F33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判断：配合</a:t>
            </a:r>
          </a:p>
        </p:txBody>
      </p:sp>
      <p:sp>
        <p:nvSpPr>
          <p:cNvPr id="27" name="lane-2-2">
            <a:extLst xmlns:a="http://schemas.openxmlformats.org/drawingml/2006/main">
              <a:ext uri="{FF2B5EF4-FFF2-40B4-BE49-F238E27FC236}">
                <a16:creationId xmlns:a16="http://schemas.microsoft.com/office/drawing/2014/main" id="{0A5E72BB-9741-43A0-B579-F11AC150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行动：主要责任</a:t>
            </a:r>
          </a:p>
        </p:txBody>
      </p:sp>
      <p:sp>
        <p:nvSpPr>
          <p:cNvPr id="28" name="lane-2-3">
            <a:extLst xmlns:a="http://schemas.openxmlformats.org/drawingml/2006/main">
              <a:ext uri="{FF2B5EF4-FFF2-40B4-BE49-F238E27FC236}">
                <a16:creationId xmlns:a16="http://schemas.microsoft.com/office/drawing/2014/main" id="{42FDE0E1-296D-4BB4-9301-FE63AA32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005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结果：配合</a:t>
            </a:r>
          </a:p>
        </p:txBody>
      </p:sp>
      <p:sp>
        <p:nvSpPr>
          <p:cNvPr id="29" name="lane-3">
            <a:extLst xmlns:a="http://schemas.openxmlformats.org/drawingml/2006/main">
              <a:ext uri="{FF2B5EF4-FFF2-40B4-BE49-F238E27FC236}">
                <a16:creationId xmlns:a16="http://schemas.microsoft.com/office/drawing/2014/main" id="{2C45D9DC-EA5D-447F-9F2F-F1EC8894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1104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lane-actor-3">
            <a:extLst xmlns:a="http://schemas.openxmlformats.org/drawingml/2006/main">
              <a:ext uri="{FF2B5EF4-FFF2-40B4-BE49-F238E27FC236}">
                <a16:creationId xmlns:a16="http://schemas.microsoft.com/office/drawing/2014/main" id="{DF8DD049-FA19-42F7-B964-EE03BD7A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管理层</a:t>
            </a:r>
          </a:p>
        </p:txBody>
      </p:sp>
      <p:sp>
        <p:nvSpPr>
          <p:cNvPr id="31" name="lane-3-0">
            <a:extLst xmlns:a="http://schemas.openxmlformats.org/drawingml/2006/main">
              <a:ext uri="{FF2B5EF4-FFF2-40B4-BE49-F238E27FC236}">
                <a16:creationId xmlns:a16="http://schemas.microsoft.com/office/drawing/2014/main" id="{EB5355CB-8055-4D7C-87B8-76459D19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输入：配合</a:t>
            </a:r>
          </a:p>
        </p:txBody>
      </p:sp>
      <p:sp>
        <p:nvSpPr>
          <p:cNvPr id="32" name="lane-3-1">
            <a:extLst xmlns:a="http://schemas.openxmlformats.org/drawingml/2006/main">
              <a:ext uri="{FF2B5EF4-FFF2-40B4-BE49-F238E27FC236}">
                <a16:creationId xmlns:a16="http://schemas.microsoft.com/office/drawing/2014/main" id="{483B9093-2B1F-46C9-BDEE-25AF0379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判断：配合</a:t>
            </a:r>
          </a:p>
        </p:txBody>
      </p:sp>
      <p:sp>
        <p:nvSpPr>
          <p:cNvPr id="33" name="lane-3-2">
            <a:extLst xmlns:a="http://schemas.openxmlformats.org/drawingml/2006/main">
              <a:ext uri="{FF2B5EF4-FFF2-40B4-BE49-F238E27FC236}">
                <a16:creationId xmlns:a16="http://schemas.microsoft.com/office/drawing/2014/main" id="{97E905FA-0EBB-48FF-92A7-E8897B4E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行动：配合</a:t>
            </a:r>
          </a:p>
        </p:txBody>
      </p:sp>
      <p:sp>
        <p:nvSpPr>
          <p:cNvPr id="34" name="lane-3-3">
            <a:extLst xmlns:a="http://schemas.openxmlformats.org/drawingml/2006/main">
              <a:ext uri="{FF2B5EF4-FFF2-40B4-BE49-F238E27FC236}">
                <a16:creationId xmlns:a16="http://schemas.microsoft.com/office/drawing/2014/main" id="{98CE84D6-B69C-4BD9-8642-F2AF26A1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000625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结果：主要责任</a:t>
            </a:r>
          </a:p>
        </p:txBody>
      </p:sp>
    </p:spTree>
    <p:extLst>
      <p:ext uri="{BB962C8B-B14F-4D97-AF65-F5344CB8AC3E}">
        <p14:creationId xmlns:p14="http://schemas.microsoft.com/office/powerpoint/2010/main" val="2428913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rule-60-45">
            <a:extLst xmlns:a="http://schemas.openxmlformats.org/drawingml/2006/main">
              <a:ext uri="{FF2B5EF4-FFF2-40B4-BE49-F238E27FC236}">
                <a16:creationId xmlns:a16="http://schemas.microsoft.com/office/drawing/2014/main" id="{115E6159-F3CD-49C8-9D7E-2AE15ABA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CB532C8A-C3C7-4A4E-BC03-46EFD3CE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1612CD47-EB92-4B8F-BAF5-E86D86B7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方案比较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391593-D07C-4288-A6FB-953EDFB1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08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6534C944-3DAB-4DE2-900E-A40F7639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4B5D9FDF-667F-4DF8-BA56-CDF690B7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76E35626-A14E-447D-89A5-144869A1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6B7875F-19E6-4D77-8DED-D32A9879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08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27DDD79-6CE4-4322-BDF0-80FE12F6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两个方案按同一维度比较，差异一眼可见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DBD4ABC8-B02C-43D3-A81E-682028A3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评价维度保持一致，结论不能由版式制造。</a:t>
            </a:r>
          </a:p>
        </p:txBody>
      </p:sp>
      <p:sp>
        <p:nvSpPr>
          <p:cNvPr id="11" name="comparison-0">
            <a:extLst xmlns:a="http://schemas.openxmlformats.org/drawingml/2006/main">
              <a:ext uri="{FF2B5EF4-FFF2-40B4-BE49-F238E27FC236}">
                <a16:creationId xmlns:a16="http://schemas.microsoft.com/office/drawing/2014/main" id="{66C201A9-D65A-4E7D-8960-8EA594B2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429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comparison-accent-0">
            <a:extLst xmlns:a="http://schemas.openxmlformats.org/drawingml/2006/main">
              <a:ext uri="{FF2B5EF4-FFF2-40B4-BE49-F238E27FC236}">
                <a16:creationId xmlns:a16="http://schemas.microsoft.com/office/drawing/2014/main" id="{567EA980-FF96-4875-A1FD-74CCF10D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42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mparison-title-0">
            <a:extLst xmlns:a="http://schemas.openxmlformats.org/drawingml/2006/main">
              <a:ext uri="{FF2B5EF4-FFF2-40B4-BE49-F238E27FC236}">
                <a16:creationId xmlns:a16="http://schemas.microsoft.com/office/drawing/2014/main" id="{DB3A2297-E5D5-4129-9B9E-66B6B66C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方案 A</a:t>
            </a:r>
          </a:p>
        </p:txBody>
      </p:sp>
      <p:sp>
        <p:nvSpPr>
          <p:cNvPr id="14" name="rule-90-292">
            <a:extLst xmlns:a="http://schemas.openxmlformats.org/drawingml/2006/main">
              <a:ext uri="{FF2B5EF4-FFF2-40B4-BE49-F238E27FC236}">
                <a16:creationId xmlns:a16="http://schemas.microsoft.com/office/drawing/2014/main" id="{A8313E40-DD54-4E81-946B-AA0BF02F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mparison-label-0-0">
            <a:extLst xmlns:a="http://schemas.openxmlformats.org/drawingml/2006/main">
              <a:ext uri="{FF2B5EF4-FFF2-40B4-BE49-F238E27FC236}">
                <a16:creationId xmlns:a16="http://schemas.microsoft.com/office/drawing/2014/main" id="{912E007B-5144-4E31-924A-B071F6BF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适用场景</a:t>
            </a:r>
          </a:p>
        </p:txBody>
      </p:sp>
      <p:sp>
        <p:nvSpPr>
          <p:cNvPr id="16" name="comparison-value-0-0">
            <a:extLst xmlns:a="http://schemas.openxmlformats.org/drawingml/2006/main">
              <a:ext uri="{FF2B5EF4-FFF2-40B4-BE49-F238E27FC236}">
                <a16:creationId xmlns:a16="http://schemas.microsoft.com/office/drawing/2014/main" id="{C22160FA-22D3-45F0-8601-9F4AC3DC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76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17" name="rule-90-356">
            <a:extLst xmlns:a="http://schemas.openxmlformats.org/drawingml/2006/main">
              <a:ext uri="{FF2B5EF4-FFF2-40B4-BE49-F238E27FC236}">
                <a16:creationId xmlns:a16="http://schemas.microsoft.com/office/drawing/2014/main" id="{942825DB-13DC-49C9-8357-2CEA01F4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mparison-label-0-1">
            <a:extLst xmlns:a="http://schemas.openxmlformats.org/drawingml/2006/main">
              <a:ext uri="{FF2B5EF4-FFF2-40B4-BE49-F238E27FC236}">
                <a16:creationId xmlns:a16="http://schemas.microsoft.com/office/drawing/2014/main" id="{9AB80A69-065D-43FC-B75D-875EC9F8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关键优势</a:t>
            </a:r>
          </a:p>
        </p:txBody>
      </p:sp>
      <p:sp>
        <p:nvSpPr>
          <p:cNvPr id="19" name="comparison-value-0-1">
            <a:extLst xmlns:a="http://schemas.openxmlformats.org/drawingml/2006/main">
              <a:ext uri="{FF2B5EF4-FFF2-40B4-BE49-F238E27FC236}">
                <a16:creationId xmlns:a16="http://schemas.microsoft.com/office/drawing/2014/main" id="{28C3CBBB-9713-445B-83F5-BC973D38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86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20" name="rule-90-420">
            <a:extLst xmlns:a="http://schemas.openxmlformats.org/drawingml/2006/main">
              <a:ext uri="{FF2B5EF4-FFF2-40B4-BE49-F238E27FC236}">
                <a16:creationId xmlns:a16="http://schemas.microsoft.com/office/drawing/2014/main" id="{197FCD18-8D63-495E-AB4C-6E577A14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mparison-label-0-2">
            <a:extLst xmlns:a="http://schemas.openxmlformats.org/drawingml/2006/main">
              <a:ext uri="{FF2B5EF4-FFF2-40B4-BE49-F238E27FC236}">
                <a16:creationId xmlns:a16="http://schemas.microsoft.com/office/drawing/2014/main" id="{C9DBF243-9CBB-4279-B2D1-803485E0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主要限制</a:t>
            </a:r>
          </a:p>
        </p:txBody>
      </p:sp>
      <p:sp>
        <p:nvSpPr>
          <p:cNvPr id="22" name="comparison-value-0-2">
            <a:extLst xmlns:a="http://schemas.openxmlformats.org/drawingml/2006/main">
              <a:ext uri="{FF2B5EF4-FFF2-40B4-BE49-F238E27FC236}">
                <a16:creationId xmlns:a16="http://schemas.microsoft.com/office/drawing/2014/main" id="{29F66F58-BB49-4B0A-9CBE-D153FEC6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95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23" name="rule-90-484">
            <a:extLst xmlns:a="http://schemas.openxmlformats.org/drawingml/2006/main">
              <a:ext uri="{FF2B5EF4-FFF2-40B4-BE49-F238E27FC236}">
                <a16:creationId xmlns:a16="http://schemas.microsoft.com/office/drawing/2014/main" id="{44F5EE12-7BAF-4869-BB42-4DE4D222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mparison-label-0-3">
            <a:extLst xmlns:a="http://schemas.openxmlformats.org/drawingml/2006/main">
              <a:ext uri="{FF2B5EF4-FFF2-40B4-BE49-F238E27FC236}">
                <a16:creationId xmlns:a16="http://schemas.microsoft.com/office/drawing/2014/main" id="{7C80F080-9C03-499C-9D0D-84EFA5F4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053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验证条件</a:t>
            </a:r>
          </a:p>
        </p:txBody>
      </p:sp>
      <p:sp>
        <p:nvSpPr>
          <p:cNvPr id="25" name="comparison-value-0-3">
            <a:extLst xmlns:a="http://schemas.openxmlformats.org/drawingml/2006/main">
              <a:ext uri="{FF2B5EF4-FFF2-40B4-BE49-F238E27FC236}">
                <a16:creationId xmlns:a16="http://schemas.microsoft.com/office/drawing/2014/main" id="{ECCFA299-FE95-4FDB-8FC9-01D9E5DC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05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26" name="comparison-1">
            <a:extLst xmlns:a="http://schemas.openxmlformats.org/drawingml/2006/main">
              <a:ext uri="{FF2B5EF4-FFF2-40B4-BE49-F238E27FC236}">
                <a16:creationId xmlns:a16="http://schemas.microsoft.com/office/drawing/2014/main" id="{4C2619E7-F594-4621-A944-B2C8094C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7" name="comparison-accent-1">
            <a:extLst xmlns:a="http://schemas.openxmlformats.org/drawingml/2006/main">
              <a:ext uri="{FF2B5EF4-FFF2-40B4-BE49-F238E27FC236}">
                <a16:creationId xmlns:a16="http://schemas.microsoft.com/office/drawing/2014/main" id="{0CD44CAE-AB8C-47B7-BDBC-FE04F0A8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rison-title-1">
            <a:extLst xmlns:a="http://schemas.openxmlformats.org/drawingml/2006/main">
              <a:ext uri="{FF2B5EF4-FFF2-40B4-BE49-F238E27FC236}">
                <a16:creationId xmlns:a16="http://schemas.microsoft.com/office/drawing/2014/main" id="{D66ACC2E-9CE0-44A9-8FC4-A5863495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方案 B</a:t>
            </a:r>
          </a:p>
        </p:txBody>
      </p:sp>
      <p:sp>
        <p:nvSpPr>
          <p:cNvPr id="29" name="rule-680-292">
            <a:extLst xmlns:a="http://schemas.openxmlformats.org/drawingml/2006/main">
              <a:ext uri="{FF2B5EF4-FFF2-40B4-BE49-F238E27FC236}">
                <a16:creationId xmlns:a16="http://schemas.microsoft.com/office/drawing/2014/main" id="{D096D542-BDCD-439D-9332-7C8CF6F9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omparison-label-1-0">
            <a:extLst xmlns:a="http://schemas.openxmlformats.org/drawingml/2006/main">
              <a:ext uri="{FF2B5EF4-FFF2-40B4-BE49-F238E27FC236}">
                <a16:creationId xmlns:a16="http://schemas.microsoft.com/office/drawing/2014/main" id="{C4850D94-531B-40E5-BD2D-96E8E78B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765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适用场景</a:t>
            </a:r>
          </a:p>
        </p:txBody>
      </p:sp>
      <p:sp>
        <p:nvSpPr>
          <p:cNvPr id="31" name="comparison-value-1-0">
            <a:extLst xmlns:a="http://schemas.openxmlformats.org/drawingml/2006/main">
              <a:ext uri="{FF2B5EF4-FFF2-40B4-BE49-F238E27FC236}">
                <a16:creationId xmlns:a16="http://schemas.microsoft.com/office/drawing/2014/main" id="{C97D0747-7CE1-4604-83BE-5699AB63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876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32" name="rule-680-356">
            <a:extLst xmlns:a="http://schemas.openxmlformats.org/drawingml/2006/main">
              <a:ext uri="{FF2B5EF4-FFF2-40B4-BE49-F238E27FC236}">
                <a16:creationId xmlns:a16="http://schemas.microsoft.com/office/drawing/2014/main" id="{FE568D60-CC1E-4D99-B8A5-C496BBFC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9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omparison-label-1-1">
            <a:extLst xmlns:a="http://schemas.openxmlformats.org/drawingml/2006/main">
              <a:ext uri="{FF2B5EF4-FFF2-40B4-BE49-F238E27FC236}">
                <a16:creationId xmlns:a16="http://schemas.microsoft.com/office/drawing/2014/main" id="{F83B4564-FB0C-480E-904F-23F8C8E7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关键优势</a:t>
            </a:r>
          </a:p>
        </p:txBody>
      </p:sp>
      <p:sp>
        <p:nvSpPr>
          <p:cNvPr id="34" name="comparison-value-1-1">
            <a:extLst xmlns:a="http://schemas.openxmlformats.org/drawingml/2006/main">
              <a:ext uri="{FF2B5EF4-FFF2-40B4-BE49-F238E27FC236}">
                <a16:creationId xmlns:a16="http://schemas.microsoft.com/office/drawing/2014/main" id="{995C49E3-DD71-42E5-BD8E-8838D0AB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86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35" name="rule-680-420">
            <a:extLst xmlns:a="http://schemas.openxmlformats.org/drawingml/2006/main">
              <a:ext uri="{FF2B5EF4-FFF2-40B4-BE49-F238E27FC236}">
                <a16:creationId xmlns:a16="http://schemas.microsoft.com/office/drawing/2014/main" id="{64B95034-B6E6-4073-B06D-93CFCAF8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rison-label-1-2">
            <a:extLst xmlns:a="http://schemas.openxmlformats.org/drawingml/2006/main">
              <a:ext uri="{FF2B5EF4-FFF2-40B4-BE49-F238E27FC236}">
                <a16:creationId xmlns:a16="http://schemas.microsoft.com/office/drawing/2014/main" id="{EEC905FC-B9DA-4156-895F-42F9624E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主要限制</a:t>
            </a:r>
          </a:p>
        </p:txBody>
      </p:sp>
      <p:sp>
        <p:nvSpPr>
          <p:cNvPr id="37" name="comparison-value-1-2">
            <a:extLst xmlns:a="http://schemas.openxmlformats.org/drawingml/2006/main">
              <a:ext uri="{FF2B5EF4-FFF2-40B4-BE49-F238E27FC236}">
                <a16:creationId xmlns:a16="http://schemas.microsoft.com/office/drawing/2014/main" id="{8DC383E8-6082-409F-AC19-79D073B8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95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  <p:sp>
        <p:nvSpPr>
          <p:cNvPr id="38" name="rule-680-484">
            <a:extLst xmlns:a="http://schemas.openxmlformats.org/drawingml/2006/main">
              <a:ext uri="{FF2B5EF4-FFF2-40B4-BE49-F238E27FC236}">
                <a16:creationId xmlns:a16="http://schemas.microsoft.com/office/drawing/2014/main" id="{B6C3AB6D-30F9-40B7-9DBA-B835FC93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101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rison-label-1-3">
            <a:extLst xmlns:a="http://schemas.openxmlformats.org/drawingml/2006/main">
              <a:ext uri="{FF2B5EF4-FFF2-40B4-BE49-F238E27FC236}">
                <a16:creationId xmlns:a16="http://schemas.microsoft.com/office/drawing/2014/main" id="{D4A9DC3E-1DE7-457E-A2B3-4B0E9522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053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66F"/>
                </a:solidFill>
              </a:defRPr>
            </a:pPr>
            <a:r>
              <a:rPr sz="900" b="1">
                <a:solidFill>
                  <a:srgbClr val="69766F"/>
                </a:solidFill>
              </a:rPr>
              <a:t>验证条件</a:t>
            </a:r>
          </a:p>
        </p:txBody>
      </p:sp>
      <p:sp>
        <p:nvSpPr>
          <p:cNvPr id="40" name="comparison-value-1-3">
            <a:extLst xmlns:a="http://schemas.openxmlformats.org/drawingml/2006/main">
              <a:ext uri="{FF2B5EF4-FFF2-40B4-BE49-F238E27FC236}">
                <a16:creationId xmlns:a16="http://schemas.microsoft.com/office/drawing/2014/main" id="{7C0AB69B-BD28-44D2-A283-277B9FE3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705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填写已确认内容</a:t>
            </a:r>
          </a:p>
        </p:txBody>
      </p:sp>
    </p:spTree>
    <p:extLst>
      <p:ext uri="{BB962C8B-B14F-4D97-AF65-F5344CB8AC3E}">
        <p14:creationId xmlns:p14="http://schemas.microsoft.com/office/powerpoint/2010/main" val="14470117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rule-60-45">
            <a:extLst xmlns:a="http://schemas.openxmlformats.org/drawingml/2006/main">
              <a:ext uri="{FF2B5EF4-FFF2-40B4-BE49-F238E27FC236}">
                <a16:creationId xmlns:a16="http://schemas.microsoft.com/office/drawing/2014/main" id="{67573544-390A-4193-B167-6E2A4E51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CBA024CA-0B22-4327-979A-CA5E7A2E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A4EC03A5-71CA-4A97-8F48-AE8AA8D1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分类矩阵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53FC10-9CA2-4A01-AD9B-7121148F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09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0802B3DB-AA25-4423-9F99-28D5F11F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C08B57E6-6D27-48B5-B04B-E26076A3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9C4CFDD7-3C01-4C63-8F67-678FC6D3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F3B9093-6951-46DA-B1B3-C3D982D1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09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9568C905-B7FE-4558-B014-E0208735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两个分类维度交叉定位机会与风险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96AB8AD7-3323-42DD-B033-CC43D04C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用于类别 × 类别，不用于伪造数值热力图。</a:t>
            </a:r>
          </a:p>
        </p:txBody>
      </p:sp>
      <p:sp>
        <p:nvSpPr>
          <p:cNvPr id="11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6046E84C-F6AF-4CB0-84EA-B19E192F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DF8"/>
                </a:solidFill>
              </a:defRPr>
            </a:pPr>
            <a:r>
              <a:rPr sz="1125" b="1">
                <a:solidFill>
                  <a:srgbClr val="FFFDF8"/>
                </a:solidFill>
              </a:rPr>
              <a:t>低影响</a:t>
            </a:r>
          </a:p>
        </p:txBody>
      </p:sp>
      <p:sp>
        <p:nvSpPr>
          <p:cNvPr id="12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E78A2F0F-159E-441C-8CF2-29491ED9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DF8"/>
                </a:solidFill>
              </a:defRPr>
            </a:pPr>
            <a:r>
              <a:rPr sz="1125" b="1">
                <a:solidFill>
                  <a:srgbClr val="FFFDF8"/>
                </a:solidFill>
              </a:rPr>
              <a:t>中影响</a:t>
            </a:r>
          </a:p>
        </p:txBody>
      </p:sp>
      <p:sp>
        <p:nvSpPr>
          <p:cNvPr id="13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2E99532A-4270-47DE-8AAB-E00933C1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DF8"/>
                </a:solidFill>
              </a:defRPr>
            </a:pPr>
            <a:r>
              <a:rPr sz="1125" b="1">
                <a:solidFill>
                  <a:srgbClr val="FFFDF8"/>
                </a:solidFill>
              </a:rPr>
              <a:t>高影响</a:t>
            </a:r>
          </a:p>
        </p:txBody>
      </p:sp>
      <p:sp>
        <p:nvSpPr>
          <p:cNvPr id="14" name="matrix-head">
            <a:extLst xmlns:a="http://schemas.openxmlformats.org/drawingml/2006/main">
              <a:ext uri="{FF2B5EF4-FFF2-40B4-BE49-F238E27FC236}">
                <a16:creationId xmlns:a16="http://schemas.microsoft.com/office/drawing/2014/main" id="{3AE6911B-EEF0-4C38-B533-BE7671E4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14500"/>
            <a:ext cx="8001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65FA587C-8540-4072-AB98-6FB9E5C7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高可行性</a:t>
            </a:r>
          </a:p>
        </p:txBody>
      </p:sp>
      <p:sp>
        <p:nvSpPr>
          <p:cNvPr id="16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E2B4FF15-A476-49D5-AE00-9E5C1858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5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matrix-copy-0-0">
            <a:extLst xmlns:a="http://schemas.openxmlformats.org/drawingml/2006/main">
              <a:ext uri="{FF2B5EF4-FFF2-40B4-BE49-F238E27FC236}">
                <a16:creationId xmlns:a16="http://schemas.microsoft.com/office/drawing/2014/main" id="{23C1FCB2-E7A8-4E97-A99F-BB9558E8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18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42C1B480-5EF2-45F3-AC39-BC4DA9AC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3336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ACB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9" name="matrix-copy-0-1">
            <a:extLst xmlns:a="http://schemas.openxmlformats.org/drawingml/2006/main">
              <a:ext uri="{FF2B5EF4-FFF2-40B4-BE49-F238E27FC236}">
                <a16:creationId xmlns:a16="http://schemas.microsoft.com/office/drawing/2014/main" id="{27DF8795-0707-4AA3-873D-5467588E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0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94A0E8B9-A3CE-4FFC-897F-249DABCD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336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CDB2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1" name="matrix-copy-0-2">
            <a:extLst xmlns:a="http://schemas.openxmlformats.org/drawingml/2006/main">
              <a:ext uri="{FF2B5EF4-FFF2-40B4-BE49-F238E27FC236}">
                <a16:creationId xmlns:a16="http://schemas.microsoft.com/office/drawing/2014/main" id="{84FC9361-C913-4E43-8C53-9EB63444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2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75AFE6DC-BCFB-487E-BEF8-DC657E56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中可行性</a:t>
            </a:r>
          </a:p>
        </p:txBody>
      </p:sp>
      <p:sp>
        <p:nvSpPr>
          <p:cNvPr id="23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891DC268-F723-43F5-80AE-3F6D2418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8137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matrix-copy-1-0">
            <a:extLst xmlns:a="http://schemas.openxmlformats.org/drawingml/2006/main">
              <a:ext uri="{FF2B5EF4-FFF2-40B4-BE49-F238E27FC236}">
                <a16:creationId xmlns:a16="http://schemas.microsoft.com/office/drawing/2014/main" id="{6D74A3D1-2C70-4D8C-8755-3B9489EC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7147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5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4CAC665A-AFD9-4395-83AE-E01E420D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137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5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matrix-copy-1-1">
            <a:extLst xmlns:a="http://schemas.openxmlformats.org/drawingml/2006/main">
              <a:ext uri="{FF2B5EF4-FFF2-40B4-BE49-F238E27FC236}">
                <a16:creationId xmlns:a16="http://schemas.microsoft.com/office/drawing/2014/main" id="{8BAE7006-1BED-49E1-898A-F61B8C24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7147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7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7CCC84C5-5E2B-4A83-8A7A-D709DFC5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8137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ACB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8" name="matrix-copy-1-2">
            <a:extLst xmlns:a="http://schemas.openxmlformats.org/drawingml/2006/main">
              <a:ext uri="{FF2B5EF4-FFF2-40B4-BE49-F238E27FC236}">
                <a16:creationId xmlns:a16="http://schemas.microsoft.com/office/drawing/2014/main" id="{9E0367D6-DA67-4F95-905A-7F416F90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147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29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6C63A1E5-9A74-4B42-8B0B-F8AA3E44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低可行性</a:t>
            </a:r>
          </a:p>
        </p:txBody>
      </p:sp>
      <p:sp>
        <p:nvSpPr>
          <p:cNvPr id="30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62CF8910-10B1-4979-A5EE-A9D4BB83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291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1" name="matrix-copy-2-0">
            <a:extLst xmlns:a="http://schemas.openxmlformats.org/drawingml/2006/main">
              <a:ext uri="{FF2B5EF4-FFF2-40B4-BE49-F238E27FC236}">
                <a16:creationId xmlns:a16="http://schemas.microsoft.com/office/drawing/2014/main" id="{8A8AF203-36E2-4B1E-9179-16320FD6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32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46B23598-9E63-43BF-A6FC-D3C2D187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4291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3" name="matrix-copy-2-1">
            <a:extLst xmlns:a="http://schemas.openxmlformats.org/drawingml/2006/main">
              <a:ext uri="{FF2B5EF4-FFF2-40B4-BE49-F238E27FC236}">
                <a16:creationId xmlns:a16="http://schemas.microsoft.com/office/drawing/2014/main" id="{4FDC0C20-4147-422E-9E8E-7E247178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  <p:sp>
        <p:nvSpPr>
          <p:cNvPr id="3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B35D44C6-6A67-4245-8EBE-CD8D6D5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29125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CE5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5" name="matrix-copy-2-2">
            <a:extLst xmlns:a="http://schemas.openxmlformats.org/drawingml/2006/main">
              <a:ext uri="{FF2B5EF4-FFF2-40B4-BE49-F238E27FC236}">
                <a16:creationId xmlns:a16="http://schemas.microsoft.com/office/drawing/2014/main" id="{552310A7-5975-423A-B901-BB535C74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62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62A24"/>
                </a:solidFill>
              </a:defRPr>
            </a:pPr>
            <a:r>
              <a:rPr sz="1050" b="0">
                <a:solidFill>
                  <a:srgbClr val="162A24"/>
                </a:solidFill>
              </a:rPr>
              <a:t>填写分类判断</a:t>
            </a:r>
          </a:p>
        </p:txBody>
      </p:sp>
    </p:spTree>
    <p:extLst>
      <p:ext uri="{BB962C8B-B14F-4D97-AF65-F5344CB8AC3E}">
        <p14:creationId xmlns:p14="http://schemas.microsoft.com/office/powerpoint/2010/main" val="9717411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rule-60-45">
            <a:extLst xmlns:a="http://schemas.openxmlformats.org/drawingml/2006/main">
              <a:ext uri="{FF2B5EF4-FFF2-40B4-BE49-F238E27FC236}">
                <a16:creationId xmlns:a16="http://schemas.microsoft.com/office/drawing/2014/main" id="{91AB6CF5-1296-4172-B6C5-22851EDD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B5C24BA0-DAFD-4293-A502-A8C27FBD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B0724B37-77FC-4B64-8250-47356AA8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精确数据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4A0CA2-B12E-4CC3-9A8A-F1FFB0F0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10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4107D700-DD20-4375-B3E2-20B1FBB2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F8751D80-209E-4724-AD7F-671AB0A6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E4F5C71D-A29B-4026-A8E3-4CF0BE29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8928FC0-AE23-4356-A68D-32A6FD02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10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B708CB25-7E50-4F9D-A75F-E245647A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精确数字优先用表格，指标口径同时可见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416B90CC-8457-4C24-B6D0-D690D6A7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每个指标保留单位、期间、统计对象和来源。</a:t>
            </a:r>
          </a:p>
        </p:txBody>
      </p:sp>
      <p:sp>
        <p:nvSpPr>
          <p:cNvPr id="11" name="th-0">
            <a:extLst xmlns:a="http://schemas.openxmlformats.org/drawingml/2006/main">
              <a:ext uri="{FF2B5EF4-FFF2-40B4-BE49-F238E27FC236}">
                <a16:creationId xmlns:a16="http://schemas.microsoft.com/office/drawing/2014/main" id="{9113F654-8A36-416E-A6BE-C77DEF78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h-text-0">
            <a:extLst xmlns:a="http://schemas.openxmlformats.org/drawingml/2006/main">
              <a:ext uri="{FF2B5EF4-FFF2-40B4-BE49-F238E27FC236}">
                <a16:creationId xmlns:a16="http://schemas.microsoft.com/office/drawing/2014/main" id="{D9667C34-D1A1-4A2C-902F-B3B634B8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指标</a:t>
            </a:r>
          </a:p>
        </p:txBody>
      </p:sp>
      <p:sp>
        <p:nvSpPr>
          <p:cNvPr id="13" name="th-1">
            <a:extLst xmlns:a="http://schemas.openxmlformats.org/drawingml/2006/main">
              <a:ext uri="{FF2B5EF4-FFF2-40B4-BE49-F238E27FC236}">
                <a16:creationId xmlns:a16="http://schemas.microsoft.com/office/drawing/2014/main" id="{64750996-3C0B-43E6-A38F-7AF83B87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h-text-1">
            <a:extLst xmlns:a="http://schemas.openxmlformats.org/drawingml/2006/main">
              <a:ext uri="{FF2B5EF4-FFF2-40B4-BE49-F238E27FC236}">
                <a16:creationId xmlns:a16="http://schemas.microsoft.com/office/drawing/2014/main" id="{70E50608-8F10-46A1-973C-05B0A2EC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8595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本期</a:t>
            </a:r>
          </a:p>
        </p:txBody>
      </p:sp>
      <p:sp>
        <p:nvSpPr>
          <p:cNvPr id="15" name="th-2">
            <a:extLst xmlns:a="http://schemas.openxmlformats.org/drawingml/2006/main">
              <a:ext uri="{FF2B5EF4-FFF2-40B4-BE49-F238E27FC236}">
                <a16:creationId xmlns:a16="http://schemas.microsoft.com/office/drawing/2014/main" id="{FFDF4C09-AB44-4400-B4C9-97E25C94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h-text-2">
            <a:extLst xmlns:a="http://schemas.openxmlformats.org/drawingml/2006/main">
              <a:ext uri="{FF2B5EF4-FFF2-40B4-BE49-F238E27FC236}">
                <a16:creationId xmlns:a16="http://schemas.microsoft.com/office/drawing/2014/main" id="{EE96006F-083F-4AFB-AA99-D53376F9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8595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目标</a:t>
            </a:r>
          </a:p>
        </p:txBody>
      </p:sp>
      <p:sp>
        <p:nvSpPr>
          <p:cNvPr id="17" name="th-3">
            <a:extLst xmlns:a="http://schemas.openxmlformats.org/drawingml/2006/main">
              <a:ext uri="{FF2B5EF4-FFF2-40B4-BE49-F238E27FC236}">
                <a16:creationId xmlns:a16="http://schemas.microsoft.com/office/drawing/2014/main" id="{B0A95B90-81F8-49C4-90B7-7ED5A09C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09750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-text-3">
            <a:extLst xmlns:a="http://schemas.openxmlformats.org/drawingml/2006/main">
              <a:ext uri="{FF2B5EF4-FFF2-40B4-BE49-F238E27FC236}">
                <a16:creationId xmlns:a16="http://schemas.microsoft.com/office/drawing/2014/main" id="{A4CF0C50-FC25-441A-9838-C57F250D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8595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变化</a:t>
            </a:r>
          </a:p>
        </p:txBody>
      </p:sp>
      <p:sp>
        <p:nvSpPr>
          <p:cNvPr id="19" name="th-4">
            <a:extLst xmlns:a="http://schemas.openxmlformats.org/drawingml/2006/main">
              <a:ext uri="{FF2B5EF4-FFF2-40B4-BE49-F238E27FC236}">
                <a16:creationId xmlns:a16="http://schemas.microsoft.com/office/drawing/2014/main" id="{728570BA-3D45-41B0-BA44-49C32C95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h-text-4">
            <a:extLst xmlns:a="http://schemas.openxmlformats.org/drawingml/2006/main">
              <a:ext uri="{FF2B5EF4-FFF2-40B4-BE49-F238E27FC236}">
                <a16:creationId xmlns:a16="http://schemas.microsoft.com/office/drawing/2014/main" id="{4E79921D-132D-4AD6-9497-D3178AD4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85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口径 / 说明</a:t>
            </a:r>
          </a:p>
        </p:txBody>
      </p:sp>
      <p:sp>
        <p:nvSpPr>
          <p:cNvPr id="21" name="td-0-0">
            <a:extLst xmlns:a="http://schemas.openxmlformats.org/drawingml/2006/main">
              <a:ext uri="{FF2B5EF4-FFF2-40B4-BE49-F238E27FC236}">
                <a16:creationId xmlns:a16="http://schemas.microsoft.com/office/drawing/2014/main" id="{C124C8CF-3DC4-47D8-AE2D-1FF89ED5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td-text-0-0">
            <a:extLst xmlns:a="http://schemas.openxmlformats.org/drawingml/2006/main">
              <a:ext uri="{FF2B5EF4-FFF2-40B4-BE49-F238E27FC236}">
                <a16:creationId xmlns:a16="http://schemas.microsoft.com/office/drawing/2014/main" id="{4177A6C5-BF93-4AD2-9BE1-0227E3F0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A</a:t>
            </a:r>
          </a:p>
        </p:txBody>
      </p:sp>
      <p:sp>
        <p:nvSpPr>
          <p:cNvPr id="23" name="td-0-1">
            <a:extLst xmlns:a="http://schemas.openxmlformats.org/drawingml/2006/main">
              <a:ext uri="{FF2B5EF4-FFF2-40B4-BE49-F238E27FC236}">
                <a16:creationId xmlns:a16="http://schemas.microsoft.com/office/drawing/2014/main" id="{699235F9-3287-4FB6-AFC0-D7DDD837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050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td-text-0-1">
            <a:extLst xmlns:a="http://schemas.openxmlformats.org/drawingml/2006/main">
              <a:ext uri="{FF2B5EF4-FFF2-40B4-BE49-F238E27FC236}">
                <a16:creationId xmlns:a16="http://schemas.microsoft.com/office/drawing/2014/main" id="{92F09821-D797-476F-B7CE-00086282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42887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25" name="td-0-2">
            <a:extLst xmlns:a="http://schemas.openxmlformats.org/drawingml/2006/main">
              <a:ext uri="{FF2B5EF4-FFF2-40B4-BE49-F238E27FC236}">
                <a16:creationId xmlns:a16="http://schemas.microsoft.com/office/drawing/2014/main" id="{035203FB-6124-45CE-BF7C-FE16EBF2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050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td-text-0-2">
            <a:extLst xmlns:a="http://schemas.openxmlformats.org/drawingml/2006/main">
              <a:ext uri="{FF2B5EF4-FFF2-40B4-BE49-F238E27FC236}">
                <a16:creationId xmlns:a16="http://schemas.microsoft.com/office/drawing/2014/main" id="{20B1CA2D-618E-4E51-8781-391811C3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27" name="td-0-3">
            <a:extLst xmlns:a="http://schemas.openxmlformats.org/drawingml/2006/main">
              <a:ext uri="{FF2B5EF4-FFF2-40B4-BE49-F238E27FC236}">
                <a16:creationId xmlns:a16="http://schemas.microsoft.com/office/drawing/2014/main" id="{CED2AAB9-90DF-42F6-99E0-EA22F567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0505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8" name="td-text-0-3">
            <a:extLst xmlns:a="http://schemas.openxmlformats.org/drawingml/2006/main">
              <a:ext uri="{FF2B5EF4-FFF2-40B4-BE49-F238E27FC236}">
                <a16:creationId xmlns:a16="http://schemas.microsoft.com/office/drawing/2014/main" id="{BFB73F98-39C7-4052-BF9C-AAB884EE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42887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29" name="td-0-4">
            <a:extLst xmlns:a="http://schemas.openxmlformats.org/drawingml/2006/main">
              <a:ext uri="{FF2B5EF4-FFF2-40B4-BE49-F238E27FC236}">
                <a16:creationId xmlns:a16="http://schemas.microsoft.com/office/drawing/2014/main" id="{FD6E9D28-7EAC-47A6-A2AA-E62BDFC8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05050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td-text-0-4">
            <a:extLst xmlns:a="http://schemas.openxmlformats.org/drawingml/2006/main">
              <a:ext uri="{FF2B5EF4-FFF2-40B4-BE49-F238E27FC236}">
                <a16:creationId xmlns:a16="http://schemas.microsoft.com/office/drawing/2014/main" id="{9F4239F5-54D7-4B6F-9C8B-B6EA8704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4288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  <p:sp>
        <p:nvSpPr>
          <p:cNvPr id="31" name="td-1-0">
            <a:extLst xmlns:a="http://schemas.openxmlformats.org/drawingml/2006/main">
              <a:ext uri="{FF2B5EF4-FFF2-40B4-BE49-F238E27FC236}">
                <a16:creationId xmlns:a16="http://schemas.microsoft.com/office/drawing/2014/main" id="{643405C2-73A6-4BC0-B2BF-4D38D32D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2" name="td-text-1-0">
            <a:extLst xmlns:a="http://schemas.openxmlformats.org/drawingml/2006/main">
              <a:ext uri="{FF2B5EF4-FFF2-40B4-BE49-F238E27FC236}">
                <a16:creationId xmlns:a16="http://schemas.microsoft.com/office/drawing/2014/main" id="{D6C2E283-1785-4E36-BC07-404329F1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43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B</a:t>
            </a:r>
          </a:p>
        </p:txBody>
      </p:sp>
      <p:sp>
        <p:nvSpPr>
          <p:cNvPr id="33" name="td-1-1">
            <a:extLst xmlns:a="http://schemas.openxmlformats.org/drawingml/2006/main">
              <a:ext uri="{FF2B5EF4-FFF2-40B4-BE49-F238E27FC236}">
                <a16:creationId xmlns:a16="http://schemas.microsoft.com/office/drawing/2014/main" id="{2AB406CD-8E95-4024-8143-834EB8EF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1942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4" name="td-text-1-1">
            <a:extLst xmlns:a="http://schemas.openxmlformats.org/drawingml/2006/main">
              <a:ext uri="{FF2B5EF4-FFF2-40B4-BE49-F238E27FC236}">
                <a16:creationId xmlns:a16="http://schemas.microsoft.com/office/drawing/2014/main" id="{3BDC6844-EFE7-4F74-BC85-66B079FE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43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35" name="td-1-2">
            <a:extLst xmlns:a="http://schemas.openxmlformats.org/drawingml/2006/main">
              <a:ext uri="{FF2B5EF4-FFF2-40B4-BE49-F238E27FC236}">
                <a16:creationId xmlns:a16="http://schemas.microsoft.com/office/drawing/2014/main" id="{6E874C64-F8A1-46ED-8B45-DB35C13A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6" name="td-text-1-2">
            <a:extLst xmlns:a="http://schemas.openxmlformats.org/drawingml/2006/main">
              <a:ext uri="{FF2B5EF4-FFF2-40B4-BE49-F238E27FC236}">
                <a16:creationId xmlns:a16="http://schemas.microsoft.com/office/drawing/2014/main" id="{B092AF69-CB4A-4E9C-BD75-36911CE4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43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37" name="td-1-3">
            <a:extLst xmlns:a="http://schemas.openxmlformats.org/drawingml/2006/main">
              <a:ext uri="{FF2B5EF4-FFF2-40B4-BE49-F238E27FC236}">
                <a16:creationId xmlns:a16="http://schemas.microsoft.com/office/drawing/2014/main" id="{4E56FF02-9339-416B-9E90-40A78A4A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1942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8" name="td-text-1-3">
            <a:extLst xmlns:a="http://schemas.openxmlformats.org/drawingml/2006/main">
              <a:ext uri="{FF2B5EF4-FFF2-40B4-BE49-F238E27FC236}">
                <a16:creationId xmlns:a16="http://schemas.microsoft.com/office/drawing/2014/main" id="{B064F403-7055-4030-93C4-1DA83FDA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143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39" name="td-1-4">
            <a:extLst xmlns:a="http://schemas.openxmlformats.org/drawingml/2006/main">
              <a:ext uri="{FF2B5EF4-FFF2-40B4-BE49-F238E27FC236}">
                <a16:creationId xmlns:a16="http://schemas.microsoft.com/office/drawing/2014/main" id="{02164DA7-9ACC-4D3A-93D7-E3970E2C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19425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0" name="td-text-1-4">
            <a:extLst xmlns:a="http://schemas.openxmlformats.org/drawingml/2006/main">
              <a:ext uri="{FF2B5EF4-FFF2-40B4-BE49-F238E27FC236}">
                <a16:creationId xmlns:a16="http://schemas.microsoft.com/office/drawing/2014/main" id="{10FC0D5B-DFC4-4543-97DB-CBA4E46F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432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  <p:sp>
        <p:nvSpPr>
          <p:cNvPr id="41" name="td-2-0">
            <a:extLst xmlns:a="http://schemas.openxmlformats.org/drawingml/2006/main">
              <a:ext uri="{FF2B5EF4-FFF2-40B4-BE49-F238E27FC236}">
                <a16:creationId xmlns:a16="http://schemas.microsoft.com/office/drawing/2014/main" id="{9DC442BD-F185-4A39-8E6D-D9F54506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2" name="td-text-2-0">
            <a:extLst xmlns:a="http://schemas.openxmlformats.org/drawingml/2006/main">
              <a:ext uri="{FF2B5EF4-FFF2-40B4-BE49-F238E27FC236}">
                <a16:creationId xmlns:a16="http://schemas.microsoft.com/office/drawing/2014/main" id="{0E4C1BD1-752A-4D3F-93A3-8EC36835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576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C</a:t>
            </a:r>
          </a:p>
        </p:txBody>
      </p:sp>
      <p:sp>
        <p:nvSpPr>
          <p:cNvPr id="43" name="td-2-1">
            <a:extLst xmlns:a="http://schemas.openxmlformats.org/drawingml/2006/main">
              <a:ext uri="{FF2B5EF4-FFF2-40B4-BE49-F238E27FC236}">
                <a16:creationId xmlns:a16="http://schemas.microsoft.com/office/drawing/2014/main" id="{DB40BA75-48F2-4A8D-B178-D2702632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3380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4" name="td-text-2-1">
            <a:extLst xmlns:a="http://schemas.openxmlformats.org/drawingml/2006/main">
              <a:ext uri="{FF2B5EF4-FFF2-40B4-BE49-F238E27FC236}">
                <a16:creationId xmlns:a16="http://schemas.microsoft.com/office/drawing/2014/main" id="{C84B8887-35BA-408E-9DF6-F19D2D45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85762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45" name="td-2-2">
            <a:extLst xmlns:a="http://schemas.openxmlformats.org/drawingml/2006/main">
              <a:ext uri="{FF2B5EF4-FFF2-40B4-BE49-F238E27FC236}">
                <a16:creationId xmlns:a16="http://schemas.microsoft.com/office/drawing/2014/main" id="{2A3946B8-8FC6-404F-9FD9-EC2F5968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6" name="td-text-2-2">
            <a:extLst xmlns:a="http://schemas.openxmlformats.org/drawingml/2006/main">
              <a:ext uri="{FF2B5EF4-FFF2-40B4-BE49-F238E27FC236}">
                <a16:creationId xmlns:a16="http://schemas.microsoft.com/office/drawing/2014/main" id="{8B1BEEAA-5702-40D5-AA07-41E1CCC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5762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47" name="td-2-3">
            <a:extLst xmlns:a="http://schemas.openxmlformats.org/drawingml/2006/main">
              <a:ext uri="{FF2B5EF4-FFF2-40B4-BE49-F238E27FC236}">
                <a16:creationId xmlns:a16="http://schemas.microsoft.com/office/drawing/2014/main" id="{25631F92-C849-4310-A7B0-25FC41C1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33800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8" name="td-text-2-3">
            <a:extLst xmlns:a="http://schemas.openxmlformats.org/drawingml/2006/main">
              <a:ext uri="{FF2B5EF4-FFF2-40B4-BE49-F238E27FC236}">
                <a16:creationId xmlns:a16="http://schemas.microsoft.com/office/drawing/2014/main" id="{4112FF73-A5FD-4E4C-BC01-9FE1C2F9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57625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49" name="td-2-4">
            <a:extLst xmlns:a="http://schemas.openxmlformats.org/drawingml/2006/main">
              <a:ext uri="{FF2B5EF4-FFF2-40B4-BE49-F238E27FC236}">
                <a16:creationId xmlns:a16="http://schemas.microsoft.com/office/drawing/2014/main" id="{7B54F2F2-7811-4861-A8E9-FE42BD1E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33800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0" name="td-text-2-4">
            <a:extLst xmlns:a="http://schemas.openxmlformats.org/drawingml/2006/main">
              <a:ext uri="{FF2B5EF4-FFF2-40B4-BE49-F238E27FC236}">
                <a16:creationId xmlns:a16="http://schemas.microsoft.com/office/drawing/2014/main" id="{ED077620-8B10-4A71-8672-03CB3429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5762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  <p:sp>
        <p:nvSpPr>
          <p:cNvPr id="51" name="td-3-0">
            <a:extLst xmlns:a="http://schemas.openxmlformats.org/drawingml/2006/main">
              <a:ext uri="{FF2B5EF4-FFF2-40B4-BE49-F238E27FC236}">
                <a16:creationId xmlns:a16="http://schemas.microsoft.com/office/drawing/2014/main" id="{D32AAB14-7168-474C-B88F-BABC6EFA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48175"/>
            <a:ext cx="2381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2" name="td-text-3-0">
            <a:extLst xmlns:a="http://schemas.openxmlformats.org/drawingml/2006/main">
              <a:ext uri="{FF2B5EF4-FFF2-40B4-BE49-F238E27FC236}">
                <a16:creationId xmlns:a16="http://schemas.microsoft.com/office/drawing/2014/main" id="{4A138927-263A-4834-819F-15F2A5AB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核心指标 D</a:t>
            </a:r>
          </a:p>
        </p:txBody>
      </p:sp>
      <p:sp>
        <p:nvSpPr>
          <p:cNvPr id="53" name="td-3-1">
            <a:extLst xmlns:a="http://schemas.openxmlformats.org/drawingml/2006/main">
              <a:ext uri="{FF2B5EF4-FFF2-40B4-BE49-F238E27FC236}">
                <a16:creationId xmlns:a16="http://schemas.microsoft.com/office/drawing/2014/main" id="{AEB21C18-677A-4AA5-AB8A-5A8E5FCD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4817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4" name="td-text-3-1">
            <a:extLst xmlns:a="http://schemas.openxmlformats.org/drawingml/2006/main">
              <a:ext uri="{FF2B5EF4-FFF2-40B4-BE49-F238E27FC236}">
                <a16:creationId xmlns:a16="http://schemas.microsoft.com/office/drawing/2014/main" id="{F1C8862F-F967-428F-9FEA-F81DEB9F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57200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55" name="td-3-2">
            <a:extLst xmlns:a="http://schemas.openxmlformats.org/drawingml/2006/main">
              <a:ext uri="{FF2B5EF4-FFF2-40B4-BE49-F238E27FC236}">
                <a16:creationId xmlns:a16="http://schemas.microsoft.com/office/drawing/2014/main" id="{B2CCC0BA-F350-4DED-9335-87BE1DCB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4817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6" name="td-text-3-2">
            <a:extLst xmlns:a="http://schemas.openxmlformats.org/drawingml/2006/main">
              <a:ext uri="{FF2B5EF4-FFF2-40B4-BE49-F238E27FC236}">
                <a16:creationId xmlns:a16="http://schemas.microsoft.com/office/drawing/2014/main" id="{DDD9BEFA-9589-4214-BAFE-84E55489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57200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57" name="td-3-3">
            <a:extLst xmlns:a="http://schemas.openxmlformats.org/drawingml/2006/main">
              <a:ext uri="{FF2B5EF4-FFF2-40B4-BE49-F238E27FC236}">
                <a16:creationId xmlns:a16="http://schemas.microsoft.com/office/drawing/2014/main" id="{9D0699D6-AC3D-4E86-9BBB-8EEF041F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48175"/>
            <a:ext cx="1524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58" name="td-text-3-3">
            <a:extLst xmlns:a="http://schemas.openxmlformats.org/drawingml/2006/main">
              <a:ext uri="{FF2B5EF4-FFF2-40B4-BE49-F238E27FC236}">
                <a16:creationId xmlns:a16="http://schemas.microsoft.com/office/drawing/2014/main" id="{6A87BF80-4A29-419D-A853-E8D721A2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57200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—</a:t>
            </a:r>
          </a:p>
        </p:txBody>
      </p:sp>
      <p:sp>
        <p:nvSpPr>
          <p:cNvPr id="59" name="td-3-4">
            <a:extLst xmlns:a="http://schemas.openxmlformats.org/drawingml/2006/main">
              <a:ext uri="{FF2B5EF4-FFF2-40B4-BE49-F238E27FC236}">
                <a16:creationId xmlns:a16="http://schemas.microsoft.com/office/drawing/2014/main" id="{985F3001-AA3E-4254-BE03-4EF45997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48175"/>
            <a:ext cx="40957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60" name="td-text-3-4">
            <a:extLst xmlns:a="http://schemas.openxmlformats.org/drawingml/2006/main">
              <a:ext uri="{FF2B5EF4-FFF2-40B4-BE49-F238E27FC236}">
                <a16:creationId xmlns:a16="http://schemas.microsoft.com/office/drawing/2014/main" id="{B12FE4FA-6491-426E-B602-7C71B1E7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5720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填写统计口径与来源</a:t>
            </a:r>
          </a:p>
        </p:txBody>
      </p:sp>
    </p:spTree>
    <p:extLst>
      <p:ext uri="{BB962C8B-B14F-4D97-AF65-F5344CB8AC3E}">
        <p14:creationId xmlns:p14="http://schemas.microsoft.com/office/powerpoint/2010/main" val="12900101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ule-60-45">
            <a:extLst xmlns:a="http://schemas.openxmlformats.org/drawingml/2006/main">
              <a:ext uri="{FF2B5EF4-FFF2-40B4-BE49-F238E27FC236}">
                <a16:creationId xmlns:a16="http://schemas.microsoft.com/office/drawing/2014/main" id="{572B9756-105E-485F-890C-A761A633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036B7E99-3358-48EA-9042-E888C149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B1D1B37D-2C06-4F75-8736-E3F198E4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数据与趋势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55BCFD-77B0-4F32-BF0C-4AA0FAF7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11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8CF3DB9E-2CE0-44BD-9424-5174FC82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5F227DEE-EEE0-453E-873A-04AA3ECC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2C0BCF39-9E2C-43E0-A46C-D79809F7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57D223D-4685-4A7F-B35D-F8D32972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11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E99D1E53-71A8-4D69-8793-F86864E3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类别对比用柱状图，连续时间用折线图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3CFCF8B6-8B83-4BAE-A1AB-0A4DBE5D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图表必须包含真实数值、单位、期间、统计对象和来源。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66750" y="1905000"/>
          <a:ext xmlns:a="http://schemas.openxmlformats.org/drawingml/2006/main" cx="4953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b1dcad5d8c4248"/>
          </a:graphicData>
        </a:graphic>
      </p:graphicFrame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286500" y="1905000"/>
          <a:ext xmlns:a="http://schemas.openxmlformats.org/drawingml/2006/main" cx="4953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c9b4c09fdb4a43"/>
          </a:graphicData>
        </a:graphic>
      </p:graphicFrame>
      <p:sp>
        <p:nvSpPr>
          <p:cNvPr id="13" name="chart-note">
            <a:extLst xmlns:a="http://schemas.openxmlformats.org/drawingml/2006/main">
              <a:ext uri="{FF2B5EF4-FFF2-40B4-BE49-F238E27FC236}">
                <a16:creationId xmlns:a16="http://schemas.microsoft.com/office/drawing/2014/main" id="{29575942-A65E-47EC-97A6-6E046F1A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9766F"/>
                </a:solidFill>
              </a:defRPr>
            </a:pPr>
            <a:r>
              <a:rPr sz="825" b="0">
                <a:solidFill>
                  <a:srgbClr val="69766F"/>
                </a:solidFill>
              </a:rPr>
              <a:t>单位：示例单位   ·   期间：示例期间   ·   统计对象：示例对象   ·   生成时必须替换数据与来源</a:t>
            </a:r>
          </a:p>
        </p:txBody>
      </p:sp>
    </p:spTree>
    <p:extLst>
      <p:ext uri="{BB962C8B-B14F-4D97-AF65-F5344CB8AC3E}">
        <p14:creationId xmlns:p14="http://schemas.microsoft.com/office/powerpoint/2010/main" val="9757469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ule-60-45">
            <a:extLst xmlns:a="http://schemas.openxmlformats.org/drawingml/2006/main">
              <a:ext uri="{FF2B5EF4-FFF2-40B4-BE49-F238E27FC236}">
                <a16:creationId xmlns:a16="http://schemas.microsoft.com/office/drawing/2014/main" id="{5E1700A8-136E-4334-92C6-924A2B25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46B3A1C7-60A5-4391-A963-0942F2EF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11A04329-5E69-42BA-8777-FF246088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风险与行动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F1BCBC-CCAC-46C2-A457-D76E6D05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12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BD2B5153-3DD6-45D2-AD5B-41A05DBB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B19495C0-706C-42D6-A039-8ED7316E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E458BDD0-533D-467A-A787-1E3BFEA0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D4EC7EF-9866-47C7-943F-C294EDB9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12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7C9E106A-16E0-4E37-92AF-4C51D708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风险必须对应行动、Owner 与验证节点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4C88B18E-2D79-407A-9874-C24E34D2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风险不是背景说明，而是需要被管理的事项。</a:t>
            </a:r>
          </a:p>
        </p:txBody>
      </p:sp>
      <p:sp>
        <p:nvSpPr>
          <p:cNvPr id="11" name="risk-head-0">
            <a:extLst xmlns:a="http://schemas.openxmlformats.org/drawingml/2006/main">
              <a:ext uri="{FF2B5EF4-FFF2-40B4-BE49-F238E27FC236}">
                <a16:creationId xmlns:a16="http://schemas.microsoft.com/office/drawing/2014/main" id="{0D2F5F17-98B6-4A0B-A8D1-DE88E10D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isk-head-text-0">
            <a:extLst xmlns:a="http://schemas.openxmlformats.org/drawingml/2006/main">
              <a:ext uri="{FF2B5EF4-FFF2-40B4-BE49-F238E27FC236}">
                <a16:creationId xmlns:a16="http://schemas.microsoft.com/office/drawing/2014/main" id="{7D46462B-03A8-4517-BEA8-6E7988F2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风险</a:t>
            </a:r>
          </a:p>
        </p:txBody>
      </p:sp>
      <p:sp>
        <p:nvSpPr>
          <p:cNvPr id="13" name="risk-head-1">
            <a:extLst xmlns:a="http://schemas.openxmlformats.org/drawingml/2006/main">
              <a:ext uri="{FF2B5EF4-FFF2-40B4-BE49-F238E27FC236}">
                <a16:creationId xmlns:a16="http://schemas.microsoft.com/office/drawing/2014/main" id="{665B1D57-A3E5-49FF-8289-AAE2C5BF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097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isk-head-text-1">
            <a:extLst xmlns:a="http://schemas.openxmlformats.org/drawingml/2006/main">
              <a:ext uri="{FF2B5EF4-FFF2-40B4-BE49-F238E27FC236}">
                <a16:creationId xmlns:a16="http://schemas.microsoft.com/office/drawing/2014/main" id="{33264A00-3726-4CBF-AFCB-3E330CA1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8595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影响</a:t>
            </a:r>
          </a:p>
        </p:txBody>
      </p:sp>
      <p:sp>
        <p:nvSpPr>
          <p:cNvPr id="15" name="risk-head-2">
            <a:extLst xmlns:a="http://schemas.openxmlformats.org/drawingml/2006/main">
              <a:ext uri="{FF2B5EF4-FFF2-40B4-BE49-F238E27FC236}">
                <a16:creationId xmlns:a16="http://schemas.microsoft.com/office/drawing/2014/main" id="{1E245E43-7271-4322-BBD1-09D433D1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isk-head-text-2">
            <a:extLst xmlns:a="http://schemas.openxmlformats.org/drawingml/2006/main">
              <a:ext uri="{FF2B5EF4-FFF2-40B4-BE49-F238E27FC236}">
                <a16:creationId xmlns:a16="http://schemas.microsoft.com/office/drawing/2014/main" id="{9BAD7A54-17A4-44A7-909C-4BF275BD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行动</a:t>
            </a:r>
          </a:p>
        </p:txBody>
      </p:sp>
      <p:sp>
        <p:nvSpPr>
          <p:cNvPr id="17" name="risk-head-3">
            <a:extLst xmlns:a="http://schemas.openxmlformats.org/drawingml/2006/main">
              <a:ext uri="{FF2B5EF4-FFF2-40B4-BE49-F238E27FC236}">
                <a16:creationId xmlns:a16="http://schemas.microsoft.com/office/drawing/2014/main" id="{D1EBF0EB-18B3-44A9-B138-1FE78774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257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isk-head-text-3">
            <a:extLst xmlns:a="http://schemas.openxmlformats.org/drawingml/2006/main">
              <a:ext uri="{FF2B5EF4-FFF2-40B4-BE49-F238E27FC236}">
                <a16:creationId xmlns:a16="http://schemas.microsoft.com/office/drawing/2014/main" id="{324DD1E1-3C4F-41F3-B5B7-1396331E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85950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Owner / 时间</a:t>
            </a:r>
          </a:p>
        </p:txBody>
      </p:sp>
      <p:sp>
        <p:nvSpPr>
          <p:cNvPr id="19" name="risk-0-0">
            <a:extLst xmlns:a="http://schemas.openxmlformats.org/drawingml/2006/main">
              <a:ext uri="{FF2B5EF4-FFF2-40B4-BE49-F238E27FC236}">
                <a16:creationId xmlns:a16="http://schemas.microsoft.com/office/drawing/2014/main" id="{9FB393D4-A230-4DB7-A428-15C9CC3B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0" name="risk-text-0-0">
            <a:extLst xmlns:a="http://schemas.openxmlformats.org/drawingml/2006/main">
              <a:ext uri="{FF2B5EF4-FFF2-40B4-BE49-F238E27FC236}">
                <a16:creationId xmlns:a16="http://schemas.microsoft.com/office/drawing/2014/main" id="{94103186-A0F3-47B5-A12A-5965DDD2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填写已确认风险</a:t>
            </a:r>
          </a:p>
        </p:txBody>
      </p:sp>
      <p:sp>
        <p:nvSpPr>
          <p:cNvPr id="21" name="risk-0-1">
            <a:extLst xmlns:a="http://schemas.openxmlformats.org/drawingml/2006/main">
              <a:ext uri="{FF2B5EF4-FFF2-40B4-BE49-F238E27FC236}">
                <a16:creationId xmlns:a16="http://schemas.microsoft.com/office/drawing/2014/main" id="{B3CBA039-AA19-4032-80BC-8155D1D3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risk-text-0-1">
            <a:extLst xmlns:a="http://schemas.openxmlformats.org/drawingml/2006/main">
              <a:ext uri="{FF2B5EF4-FFF2-40B4-BE49-F238E27FC236}">
                <a16:creationId xmlns:a16="http://schemas.microsoft.com/office/drawing/2014/main" id="{23395F34-77F2-42B2-8038-FC583F91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431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说明可能影响</a:t>
            </a:r>
          </a:p>
        </p:txBody>
      </p:sp>
      <p:sp>
        <p:nvSpPr>
          <p:cNvPr id="23" name="risk-0-2">
            <a:extLst xmlns:a="http://schemas.openxmlformats.org/drawingml/2006/main">
              <a:ext uri="{FF2B5EF4-FFF2-40B4-BE49-F238E27FC236}">
                <a16:creationId xmlns:a16="http://schemas.microsoft.com/office/drawing/2014/main" id="{23A7D56B-6E9B-4EA8-A8D4-7A912FD7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risk-text-0-2">
            <a:extLst xmlns:a="http://schemas.openxmlformats.org/drawingml/2006/main">
              <a:ext uri="{FF2B5EF4-FFF2-40B4-BE49-F238E27FC236}">
                <a16:creationId xmlns:a16="http://schemas.microsoft.com/office/drawing/2014/main" id="{7FC538CC-DC9A-458B-83FF-0ADCDB08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43175"/>
            <a:ext cx="251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填写应对动作</a:t>
            </a:r>
          </a:p>
        </p:txBody>
      </p:sp>
      <p:sp>
        <p:nvSpPr>
          <p:cNvPr id="25" name="risk-0-3">
            <a:extLst xmlns:a="http://schemas.openxmlformats.org/drawingml/2006/main">
              <a:ext uri="{FF2B5EF4-FFF2-40B4-BE49-F238E27FC236}">
                <a16:creationId xmlns:a16="http://schemas.microsoft.com/office/drawing/2014/main" id="{CAAC142F-7A75-46A7-8518-551BA2DA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2571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risk-text-0-3">
            <a:extLst xmlns:a="http://schemas.openxmlformats.org/drawingml/2006/main">
              <a:ext uri="{FF2B5EF4-FFF2-40B4-BE49-F238E27FC236}">
                <a16:creationId xmlns:a16="http://schemas.microsoft.com/office/drawing/2014/main" id="{1514728C-D745-4C50-AA9E-C9AD278C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43175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Owner · 时间</a:t>
            </a:r>
          </a:p>
        </p:txBody>
      </p:sp>
      <p:sp>
        <p:nvSpPr>
          <p:cNvPr id="27" name="risk-1-0">
            <a:extLst xmlns:a="http://schemas.openxmlformats.org/drawingml/2006/main">
              <a:ext uri="{FF2B5EF4-FFF2-40B4-BE49-F238E27FC236}">
                <a16:creationId xmlns:a16="http://schemas.microsoft.com/office/drawing/2014/main" id="{60893EBD-8C18-4F56-8C54-D192484C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8" name="risk-text-1-0">
            <a:extLst xmlns:a="http://schemas.openxmlformats.org/drawingml/2006/main">
              <a:ext uri="{FF2B5EF4-FFF2-40B4-BE49-F238E27FC236}">
                <a16:creationId xmlns:a16="http://schemas.microsoft.com/office/drawing/2014/main" id="{5738B565-A07B-45F1-B9FE-5C005F1C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填写已确认风险</a:t>
            </a:r>
          </a:p>
        </p:txBody>
      </p:sp>
      <p:sp>
        <p:nvSpPr>
          <p:cNvPr id="29" name="risk-1-1">
            <a:extLst xmlns:a="http://schemas.openxmlformats.org/drawingml/2006/main">
              <a:ext uri="{FF2B5EF4-FFF2-40B4-BE49-F238E27FC236}">
                <a16:creationId xmlns:a16="http://schemas.microsoft.com/office/drawing/2014/main" id="{A1C9809A-3166-4EE2-9A0E-EC40D64F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52800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0" name="risk-text-1-1">
            <a:extLst xmlns:a="http://schemas.openxmlformats.org/drawingml/2006/main">
              <a:ext uri="{FF2B5EF4-FFF2-40B4-BE49-F238E27FC236}">
                <a16:creationId xmlns:a16="http://schemas.microsoft.com/office/drawing/2014/main" id="{E7EE14C1-0E5F-46FA-AB9A-9588B7F6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9092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说明可能影响</a:t>
            </a:r>
          </a:p>
        </p:txBody>
      </p:sp>
      <p:sp>
        <p:nvSpPr>
          <p:cNvPr id="31" name="risk-1-2">
            <a:extLst xmlns:a="http://schemas.openxmlformats.org/drawingml/2006/main">
              <a:ext uri="{FF2B5EF4-FFF2-40B4-BE49-F238E27FC236}">
                <a16:creationId xmlns:a16="http://schemas.microsoft.com/office/drawing/2014/main" id="{B1FF46E2-77E9-4FF2-8C54-99F4AD1A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2" name="risk-text-1-2">
            <a:extLst xmlns:a="http://schemas.openxmlformats.org/drawingml/2006/main">
              <a:ext uri="{FF2B5EF4-FFF2-40B4-BE49-F238E27FC236}">
                <a16:creationId xmlns:a16="http://schemas.microsoft.com/office/drawing/2014/main" id="{19DBF97F-BB73-49A5-8A27-7BE3C4E6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90925"/>
            <a:ext cx="251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填写应对动作</a:t>
            </a:r>
          </a:p>
        </p:txBody>
      </p:sp>
      <p:sp>
        <p:nvSpPr>
          <p:cNvPr id="33" name="risk-1-3">
            <a:extLst xmlns:a="http://schemas.openxmlformats.org/drawingml/2006/main">
              <a:ext uri="{FF2B5EF4-FFF2-40B4-BE49-F238E27FC236}">
                <a16:creationId xmlns:a16="http://schemas.microsoft.com/office/drawing/2014/main" id="{98C9852D-8298-40CC-8E4A-CA41EDC1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2571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4" name="risk-text-1-3">
            <a:extLst xmlns:a="http://schemas.openxmlformats.org/drawingml/2006/main">
              <a:ext uri="{FF2B5EF4-FFF2-40B4-BE49-F238E27FC236}">
                <a16:creationId xmlns:a16="http://schemas.microsoft.com/office/drawing/2014/main" id="{F85E162F-EDFF-4CAE-9C83-68E6BCC8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590925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Owner · 时间</a:t>
            </a:r>
          </a:p>
        </p:txBody>
      </p:sp>
      <p:sp>
        <p:nvSpPr>
          <p:cNvPr id="35" name="risk-2-0">
            <a:extLst xmlns:a="http://schemas.openxmlformats.org/drawingml/2006/main">
              <a:ext uri="{FF2B5EF4-FFF2-40B4-BE49-F238E27FC236}">
                <a16:creationId xmlns:a16="http://schemas.microsoft.com/office/drawing/2014/main" id="{3AEFBB52-0E75-4804-B376-4532AD2B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00550"/>
            <a:ext cx="266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6" name="risk-text-2-0">
            <a:extLst xmlns:a="http://schemas.openxmlformats.org/drawingml/2006/main">
              <a:ext uri="{FF2B5EF4-FFF2-40B4-BE49-F238E27FC236}">
                <a16:creationId xmlns:a16="http://schemas.microsoft.com/office/drawing/2014/main" id="{C967B71D-6CF8-48CC-B06D-243AFA87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A24"/>
                </a:solidFill>
              </a:defRPr>
            </a:pPr>
            <a:r>
              <a:rPr sz="1050" b="1">
                <a:solidFill>
                  <a:srgbClr val="162A24"/>
                </a:solidFill>
              </a:rPr>
              <a:t>填写已确认风险</a:t>
            </a:r>
          </a:p>
        </p:txBody>
      </p:sp>
      <p:sp>
        <p:nvSpPr>
          <p:cNvPr id="37" name="risk-2-1">
            <a:extLst xmlns:a="http://schemas.openxmlformats.org/drawingml/2006/main">
              <a:ext uri="{FF2B5EF4-FFF2-40B4-BE49-F238E27FC236}">
                <a16:creationId xmlns:a16="http://schemas.microsoft.com/office/drawing/2014/main" id="{60AE39C6-3626-4CAF-BA67-8DF290DC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00550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8" name="risk-text-2-1">
            <a:extLst xmlns:a="http://schemas.openxmlformats.org/drawingml/2006/main">
              <a:ext uri="{FF2B5EF4-FFF2-40B4-BE49-F238E27FC236}">
                <a16:creationId xmlns:a16="http://schemas.microsoft.com/office/drawing/2014/main" id="{8D470907-68EF-4D18-BF46-61FFA7AD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386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说明可能影响</a:t>
            </a:r>
          </a:p>
        </p:txBody>
      </p:sp>
      <p:sp>
        <p:nvSpPr>
          <p:cNvPr id="39" name="risk-2-2">
            <a:extLst xmlns:a="http://schemas.openxmlformats.org/drawingml/2006/main">
              <a:ext uri="{FF2B5EF4-FFF2-40B4-BE49-F238E27FC236}">
                <a16:creationId xmlns:a16="http://schemas.microsoft.com/office/drawing/2014/main" id="{F9576A0A-4BA2-47C5-906B-CC2B3557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0055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0" name="risk-text-2-2">
            <a:extLst xmlns:a="http://schemas.openxmlformats.org/drawingml/2006/main">
              <a:ext uri="{FF2B5EF4-FFF2-40B4-BE49-F238E27FC236}">
                <a16:creationId xmlns:a16="http://schemas.microsoft.com/office/drawing/2014/main" id="{D61AEAAE-BC56-422E-B029-7DAF05D2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38675"/>
            <a:ext cx="2514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填写应对动作</a:t>
            </a:r>
          </a:p>
        </p:txBody>
      </p:sp>
      <p:sp>
        <p:nvSpPr>
          <p:cNvPr id="41" name="risk-2-3">
            <a:extLst xmlns:a="http://schemas.openxmlformats.org/drawingml/2006/main">
              <a:ext uri="{FF2B5EF4-FFF2-40B4-BE49-F238E27FC236}">
                <a16:creationId xmlns:a16="http://schemas.microsoft.com/office/drawing/2014/main" id="{210D6B92-8A30-4CA9-A2A7-D1991546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00550"/>
            <a:ext cx="2571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42" name="risk-text-2-3">
            <a:extLst xmlns:a="http://schemas.openxmlformats.org/drawingml/2006/main">
              <a:ext uri="{FF2B5EF4-FFF2-40B4-BE49-F238E27FC236}">
                <a16:creationId xmlns:a16="http://schemas.microsoft.com/office/drawing/2014/main" id="{5CEBD775-BE96-4B6A-B69C-AE5CC776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638675"/>
            <a:ext cx="2228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Owner · 时间</a:t>
            </a:r>
          </a:p>
        </p:txBody>
      </p:sp>
    </p:spTree>
    <p:extLst>
      <p:ext uri="{BB962C8B-B14F-4D97-AF65-F5344CB8AC3E}">
        <p14:creationId xmlns:p14="http://schemas.microsoft.com/office/powerpoint/2010/main" val="4094340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ule-60-45">
            <a:extLst xmlns:a="http://schemas.openxmlformats.org/drawingml/2006/main">
              <a:ext uri="{FF2B5EF4-FFF2-40B4-BE49-F238E27FC236}">
                <a16:creationId xmlns:a16="http://schemas.microsoft.com/office/drawing/2014/main" id="{3028D008-F637-4B4B-8FE6-6FAF4E5A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119C4C98-791D-4C14-B117-86F09A5D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E4EF3DBF-4D70-4F75-9266-57C19053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决策与下一步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7914E5-16F6-47CA-88DC-314844CF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13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34B2BAA2-0A42-4923-B318-36247E5D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0A98683A-72FA-4A05-BC1B-0265A7C3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E1F09B21-9621-4470-A7BA-95AB6835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31ABCBF-EE3C-41E9-A929-871BE518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13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2F982319-9B61-4EF3-A80E-3D768B1A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管理层只需回答一个决策问题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EB2FBDCF-7172-4694-9318-32015A54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行动项比背景信息更醒目。</a:t>
            </a:r>
          </a:p>
        </p:txBody>
      </p:sp>
      <p:sp>
        <p:nvSpPr>
          <p:cNvPr id="11" name="decision-main">
            <a:extLst xmlns:a="http://schemas.openxmlformats.org/drawingml/2006/main">
              <a:ext uri="{FF2B5EF4-FFF2-40B4-BE49-F238E27FC236}">
                <a16:creationId xmlns:a16="http://schemas.microsoft.com/office/drawing/2014/main" id="{42124BA8-D66D-4EC6-B9A9-EBEC729F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6191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95-220">
            <a:extLst xmlns:a="http://schemas.openxmlformats.org/drawingml/2006/main">
              <a:ext uri="{FF2B5EF4-FFF2-40B4-BE49-F238E27FC236}">
                <a16:creationId xmlns:a16="http://schemas.microsoft.com/office/drawing/2014/main" id="{7559EE6B-FE51-4515-AC43-368D7E89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CDB2"/>
                </a:solidFill>
              </a:defRPr>
            </a:pPr>
            <a:r>
              <a:rPr sz="750" b="1">
                <a:solidFill>
                  <a:srgbClr val="8CCDB2"/>
                </a:solidFill>
              </a:rPr>
              <a:t>DECISION</a:t>
            </a:r>
          </a:p>
        </p:txBody>
      </p:sp>
      <p:sp>
        <p:nvSpPr>
          <p:cNvPr id="13" name="decision-copy">
            <a:extLst xmlns:a="http://schemas.openxmlformats.org/drawingml/2006/main">
              <a:ext uri="{FF2B5EF4-FFF2-40B4-BE49-F238E27FC236}">
                <a16:creationId xmlns:a16="http://schemas.microsoft.com/office/drawing/2014/main" id="{3374C13B-55EE-4774-BC37-BFF8D6C4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670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DF8"/>
                </a:solidFill>
              </a:defRPr>
            </a:pPr>
            <a:r>
              <a:rPr sz="2175" b="1">
                <a:solidFill>
                  <a:srgbClr val="FFFDF8"/>
                </a:solidFill>
              </a:rPr>
              <a:t>是否批准进入下一阶段，并以明确的事实和结果标准复盘？</a:t>
            </a:r>
          </a:p>
        </p:txBody>
      </p:sp>
      <p:sp>
        <p:nvSpPr>
          <p:cNvPr id="14" name="decision-reason">
            <a:extLst xmlns:a="http://schemas.openxmlformats.org/drawingml/2006/main">
              <a:ext uri="{FF2B5EF4-FFF2-40B4-BE49-F238E27FC236}">
                <a16:creationId xmlns:a16="http://schemas.microsoft.com/office/drawing/2014/main" id="{8E078D09-9A22-49D4-95B7-262A95FB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依据 01｜填写关键证据</a:t>
            </a:r>
          </a:p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依据 02｜填写风险边界</a:t>
            </a:r>
          </a:p>
        </p:txBody>
      </p:sp>
      <p:sp>
        <p:nvSpPr>
          <p:cNvPr id="15" name="decision-action-0-bg">
            <a:extLst xmlns:a="http://schemas.openxmlformats.org/drawingml/2006/main">
              <a:ext uri="{FF2B5EF4-FFF2-40B4-BE49-F238E27FC236}">
                <a16:creationId xmlns:a16="http://schemas.microsoft.com/office/drawing/2014/main" id="{8E232667-1930-405E-A5AE-A751225B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6" name="decision-action-0-accent">
            <a:extLst xmlns:a="http://schemas.openxmlformats.org/drawingml/2006/main">
              <a:ext uri="{FF2B5EF4-FFF2-40B4-BE49-F238E27FC236}">
                <a16:creationId xmlns:a16="http://schemas.microsoft.com/office/drawing/2014/main" id="{D0FA21B1-2F6A-4FC6-AC27-F0FE950D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ecision-action-0-title">
            <a:extLst xmlns:a="http://schemas.openxmlformats.org/drawingml/2006/main">
              <a:ext uri="{FF2B5EF4-FFF2-40B4-BE49-F238E27FC236}">
                <a16:creationId xmlns:a16="http://schemas.microsoft.com/office/drawing/2014/main" id="{47DAEBC9-EDA7-4668-B895-F92B2799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621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确认范围</a:t>
            </a:r>
          </a:p>
        </p:txBody>
      </p:sp>
      <p:sp>
        <p:nvSpPr>
          <p:cNvPr id="18" name="decision-action-0-detail">
            <a:extLst xmlns:a="http://schemas.openxmlformats.org/drawingml/2006/main">
              <a:ext uri="{FF2B5EF4-FFF2-40B4-BE49-F238E27FC236}">
                <a16:creationId xmlns:a16="http://schemas.microsoft.com/office/drawing/2014/main" id="{1A6068BF-B8BE-4118-B858-AA4E5F05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2410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填写动作、责任人和时间</a:t>
            </a:r>
          </a:p>
        </p:txBody>
      </p:sp>
      <p:sp>
        <p:nvSpPr>
          <p:cNvPr id="19" name="decision-action-1-bg">
            <a:extLst xmlns:a="http://schemas.openxmlformats.org/drawingml/2006/main">
              <a:ext uri="{FF2B5EF4-FFF2-40B4-BE49-F238E27FC236}">
                <a16:creationId xmlns:a16="http://schemas.microsoft.com/office/drawing/2014/main" id="{0CA4891D-36F6-4416-8C1B-19F55A93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0" name="decision-action-1-accent">
            <a:extLst xmlns:a="http://schemas.openxmlformats.org/drawingml/2006/main">
              <a:ext uri="{FF2B5EF4-FFF2-40B4-BE49-F238E27FC236}">
                <a16:creationId xmlns:a16="http://schemas.microsoft.com/office/drawing/2014/main" id="{C2553B0F-C50D-402A-8D77-5FB5F858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ecision-action-1-title">
            <a:extLst xmlns:a="http://schemas.openxmlformats.org/drawingml/2006/main">
              <a:ext uri="{FF2B5EF4-FFF2-40B4-BE49-F238E27FC236}">
                <a16:creationId xmlns:a16="http://schemas.microsoft.com/office/drawing/2014/main" id="{BAB7CAB0-02BC-4144-A1EB-0367F246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0040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落实 Owner</a:t>
            </a:r>
          </a:p>
        </p:txBody>
      </p:sp>
      <p:sp>
        <p:nvSpPr>
          <p:cNvPr id="22" name="decision-action-1-detail">
            <a:extLst xmlns:a="http://schemas.openxmlformats.org/drawingml/2006/main">
              <a:ext uri="{FF2B5EF4-FFF2-40B4-BE49-F238E27FC236}">
                <a16:creationId xmlns:a16="http://schemas.microsoft.com/office/drawing/2014/main" id="{5E16A18B-DFFA-450B-AE2C-71F29730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填写动作、责任人和时间</a:t>
            </a:r>
          </a:p>
        </p:txBody>
      </p:sp>
      <p:sp>
        <p:nvSpPr>
          <p:cNvPr id="23" name="decision-action-2-bg">
            <a:extLst xmlns:a="http://schemas.openxmlformats.org/drawingml/2006/main">
              <a:ext uri="{FF2B5EF4-FFF2-40B4-BE49-F238E27FC236}">
                <a16:creationId xmlns:a16="http://schemas.microsoft.com/office/drawing/2014/main" id="{04CA2843-C3E4-4460-B84D-0D6F0087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8625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decision-action-2-accent">
            <a:extLst xmlns:a="http://schemas.openxmlformats.org/drawingml/2006/main">
              <a:ext uri="{FF2B5EF4-FFF2-40B4-BE49-F238E27FC236}">
                <a16:creationId xmlns:a16="http://schemas.microsoft.com/office/drawing/2014/main" id="{CCFE7A28-90B2-410C-AA8D-6E99F28C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862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ecision-action-2-title">
            <a:extLst xmlns:a="http://schemas.openxmlformats.org/drawingml/2006/main">
              <a:ext uri="{FF2B5EF4-FFF2-40B4-BE49-F238E27FC236}">
                <a16:creationId xmlns:a16="http://schemas.microsoft.com/office/drawing/2014/main" id="{0AE293A6-7287-4CCB-8715-47936A95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38650"/>
            <a:ext cx="405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设定验证节点</a:t>
            </a:r>
          </a:p>
        </p:txBody>
      </p:sp>
      <p:sp>
        <p:nvSpPr>
          <p:cNvPr id="26" name="decision-action-2-detail">
            <a:extLst xmlns:a="http://schemas.openxmlformats.org/drawingml/2006/main">
              <a:ext uri="{FF2B5EF4-FFF2-40B4-BE49-F238E27FC236}">
                <a16:creationId xmlns:a16="http://schemas.microsoft.com/office/drawing/2014/main" id="{4A5876E3-D39A-4600-A43E-6426BF45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0060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填写动作、责任人和时间</a:t>
            </a:r>
          </a:p>
        </p:txBody>
      </p:sp>
    </p:spTree>
    <p:extLst>
      <p:ext uri="{BB962C8B-B14F-4D97-AF65-F5344CB8AC3E}">
        <p14:creationId xmlns:p14="http://schemas.microsoft.com/office/powerpoint/2010/main" val="11225514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rule-60-45">
            <a:extLst xmlns:a="http://schemas.openxmlformats.org/drawingml/2006/main">
              <a:ext uri="{FF2B5EF4-FFF2-40B4-BE49-F238E27FC236}">
                <a16:creationId xmlns:a16="http://schemas.microsoft.com/office/drawing/2014/main" id="{E1F1964F-F9FF-43E1-9112-13309699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9D748DE1-7D20-4AA2-9C06-DFA78835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44ABFD04-C506-4B76-86C5-D968C40C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业务能力链路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0B0EB2-4F7B-47C4-A60C-66ABB087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14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61978216-EC15-4ABC-8953-CE425123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AE06FC0F-29A2-4DDF-B155-14BB369C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B18AE33D-42A8-4086-9407-3E357347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5A1F24F-33E2-4F87-A635-55CD17A9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14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F9367E6-CBA4-4A88-AEDB-CB6C1019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入口、能力与服务承接形成一条完整链路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9EA6B00-5910-4C88-970E-9DD14E81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重要主体作为视觉锚点，说明文字保持辅助地位。若有重大决策，可使用右侧强调模块。</a:t>
            </a:r>
          </a:p>
        </p:txBody>
      </p:sp>
      <p:sp>
        <p:nvSpPr>
          <p:cNvPr id="11" name="rule-120-397">
            <a:extLst xmlns:a="http://schemas.openxmlformats.org/drawingml/2006/main">
              <a:ext uri="{FF2B5EF4-FFF2-40B4-BE49-F238E27FC236}">
                <a16:creationId xmlns:a16="http://schemas.microsoft.com/office/drawing/2014/main" id="{FC153526-D34C-4534-811A-93231BF8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81425"/>
            <a:ext cx="7191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D73D511B-F11F-4615-9814-BA7A6E8B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C794D"/>
                </a:solidFill>
              </a:defRPr>
            </a:pPr>
            <a:r>
              <a:rPr sz="1875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13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F27CC83B-274E-4B4F-A5AB-F8285C01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6195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C794D"/>
                </a:solidFill>
              </a:defRPr>
            </a:pPr>
            <a:r>
              <a:rPr sz="1875" b="1">
                <a:solidFill>
                  <a:srgbClr val="BC794D"/>
                </a:solidFill>
              </a:rPr>
              <a:t>→</a:t>
            </a:r>
          </a:p>
        </p:txBody>
      </p:sp>
      <p:sp>
        <p:nvSpPr>
          <p:cNvPr id="14" name="chain-node-0">
            <a:extLst xmlns:a="http://schemas.openxmlformats.org/drawingml/2006/main">
              <a:ext uri="{FF2B5EF4-FFF2-40B4-BE49-F238E27FC236}">
                <a16:creationId xmlns:a16="http://schemas.microsoft.com/office/drawing/2014/main" id="{A5EA3D40-1217-41D1-8E36-31D3F1D3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209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5" name="chain-node-accent-0">
            <a:extLst xmlns:a="http://schemas.openxmlformats.org/drawingml/2006/main">
              <a:ext uri="{FF2B5EF4-FFF2-40B4-BE49-F238E27FC236}">
                <a16:creationId xmlns:a16="http://schemas.microsoft.com/office/drawing/2014/main" id="{3613C8C7-9FFD-4565-A7B2-69AB5BB9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hain-no-0">
            <a:extLst xmlns:a="http://schemas.openxmlformats.org/drawingml/2006/main">
              <a:ext uri="{FF2B5EF4-FFF2-40B4-BE49-F238E27FC236}">
                <a16:creationId xmlns:a16="http://schemas.microsoft.com/office/drawing/2014/main" id="{E0F0F442-1F75-4C64-B5C2-1B36F673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266950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C794D"/>
                </a:solidFill>
              </a:defRPr>
            </a:pPr>
            <a:r>
              <a:rPr sz="900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7" name="chain-role-0">
            <a:extLst xmlns:a="http://schemas.openxmlformats.org/drawingml/2006/main">
              <a:ext uri="{FF2B5EF4-FFF2-40B4-BE49-F238E27FC236}">
                <a16:creationId xmlns:a16="http://schemas.microsoft.com/office/drawing/2014/main" id="{E09397B7-865D-4B65-9C8F-122560F7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47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客户触达</a:t>
            </a:r>
          </a:p>
        </p:txBody>
      </p:sp>
      <p:sp>
        <p:nvSpPr>
          <p:cNvPr id="18" name="chain-name-0">
            <a:extLst xmlns:a="http://schemas.openxmlformats.org/drawingml/2006/main">
              <a:ext uri="{FF2B5EF4-FFF2-40B4-BE49-F238E27FC236}">
                <a16:creationId xmlns:a16="http://schemas.microsoft.com/office/drawing/2014/main" id="{06C3C11A-8D6F-422C-B548-D89E94B4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62275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前台入口</a:t>
            </a:r>
          </a:p>
        </p:txBody>
      </p:sp>
      <p:sp>
        <p:nvSpPr>
          <p:cNvPr id="19" name="chain-entities-0">
            <a:extLst xmlns:a="http://schemas.openxmlformats.org/drawingml/2006/main">
              <a:ext uri="{FF2B5EF4-FFF2-40B4-BE49-F238E27FC236}">
                <a16:creationId xmlns:a16="http://schemas.microsoft.com/office/drawing/2014/main" id="{48886EF8-95EA-44A9-A0F7-B024EA4A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619500"/>
            <a:ext cx="166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M-PESA</a:t>
            </a:r>
          </a:p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Mint APP</a:t>
            </a:r>
          </a:p>
        </p:txBody>
      </p:sp>
      <p:sp>
        <p:nvSpPr>
          <p:cNvPr id="20" name="rule-89-474">
            <a:extLst xmlns:a="http://schemas.openxmlformats.org/drawingml/2006/main">
              <a:ext uri="{FF2B5EF4-FFF2-40B4-BE49-F238E27FC236}">
                <a16:creationId xmlns:a16="http://schemas.microsoft.com/office/drawing/2014/main" id="{C569EE47-FC3F-4EB2-8D85-AAAAD27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514850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hain-capability-0">
            <a:extLst xmlns:a="http://schemas.openxmlformats.org/drawingml/2006/main">
              <a:ext uri="{FF2B5EF4-FFF2-40B4-BE49-F238E27FC236}">
                <a16:creationId xmlns:a16="http://schemas.microsoft.com/office/drawing/2014/main" id="{48614BF6-231B-48E8-A3A3-9C03BCFB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686300"/>
            <a:ext cx="166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形成双入口</a:t>
            </a:r>
          </a:p>
        </p:txBody>
      </p:sp>
      <p:sp>
        <p:nvSpPr>
          <p:cNvPr id="22" name="chain-node-1">
            <a:extLst xmlns:a="http://schemas.openxmlformats.org/drawingml/2006/main">
              <a:ext uri="{FF2B5EF4-FFF2-40B4-BE49-F238E27FC236}">
                <a16:creationId xmlns:a16="http://schemas.microsoft.com/office/drawing/2014/main" id="{45E28BFB-EA4C-4331-96F6-6600548C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00250"/>
            <a:ext cx="209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3" name="chain-node-accent-1">
            <a:extLst xmlns:a="http://schemas.openxmlformats.org/drawingml/2006/main">
              <a:ext uri="{FF2B5EF4-FFF2-40B4-BE49-F238E27FC236}">
                <a16:creationId xmlns:a16="http://schemas.microsoft.com/office/drawing/2014/main" id="{EA553605-9B13-47CB-BC5F-7DE9E706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002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hain-no-1">
            <a:extLst xmlns:a="http://schemas.openxmlformats.org/drawingml/2006/main">
              <a:ext uri="{FF2B5EF4-FFF2-40B4-BE49-F238E27FC236}">
                <a16:creationId xmlns:a16="http://schemas.microsoft.com/office/drawing/2014/main" id="{4897E036-6BC1-494A-A2D7-BA9A3923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266950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02</a:t>
            </a:r>
          </a:p>
        </p:txBody>
      </p:sp>
      <p:sp>
        <p:nvSpPr>
          <p:cNvPr id="25" name="chain-role-1">
            <a:extLst xmlns:a="http://schemas.openxmlformats.org/drawingml/2006/main">
              <a:ext uri="{FF2B5EF4-FFF2-40B4-BE49-F238E27FC236}">
                <a16:creationId xmlns:a16="http://schemas.microsoft.com/office/drawing/2014/main" id="{BD91C176-F1E3-486F-933D-4A77167D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647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流量与风险</a:t>
            </a:r>
          </a:p>
        </p:txBody>
      </p:sp>
      <p:sp>
        <p:nvSpPr>
          <p:cNvPr id="26" name="chain-name-1">
            <a:extLst xmlns:a="http://schemas.openxmlformats.org/drawingml/2006/main">
              <a:ext uri="{FF2B5EF4-FFF2-40B4-BE49-F238E27FC236}">
                <a16:creationId xmlns:a16="http://schemas.microsoft.com/office/drawing/2014/main" id="{1908EA20-982B-4168-A76D-EA784E66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962275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能力协同</a:t>
            </a:r>
          </a:p>
        </p:txBody>
      </p:sp>
      <p:sp>
        <p:nvSpPr>
          <p:cNvPr id="27" name="chain-entities-1">
            <a:extLst xmlns:a="http://schemas.openxmlformats.org/drawingml/2006/main">
              <a:ext uri="{FF2B5EF4-FFF2-40B4-BE49-F238E27FC236}">
                <a16:creationId xmlns:a16="http://schemas.microsoft.com/office/drawing/2014/main" id="{6B8E396F-BB5C-4F6F-B804-3501CA31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619500"/>
            <a:ext cx="166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Transsion</a:t>
            </a:r>
          </a:p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微众</a:t>
            </a:r>
          </a:p>
        </p:txBody>
      </p:sp>
      <p:sp>
        <p:nvSpPr>
          <p:cNvPr id="28" name="rule-349-474">
            <a:extLst xmlns:a="http://schemas.openxmlformats.org/drawingml/2006/main">
              <a:ext uri="{FF2B5EF4-FFF2-40B4-BE49-F238E27FC236}">
                <a16:creationId xmlns:a16="http://schemas.microsoft.com/office/drawing/2014/main" id="{681D5FCC-6503-4002-8061-0F1EDAF0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514850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hain-capability-1">
            <a:extLst xmlns:a="http://schemas.openxmlformats.org/drawingml/2006/main">
              <a:ext uri="{FF2B5EF4-FFF2-40B4-BE49-F238E27FC236}">
                <a16:creationId xmlns:a16="http://schemas.microsoft.com/office/drawing/2014/main" id="{ECFADA66-A66A-4CC5-89DD-12C2A455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686300"/>
            <a:ext cx="166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流量 + 风险能力</a:t>
            </a:r>
          </a:p>
        </p:txBody>
      </p:sp>
      <p:sp>
        <p:nvSpPr>
          <p:cNvPr id="30" name="chain-node-2">
            <a:extLst xmlns:a="http://schemas.openxmlformats.org/drawingml/2006/main">
              <a:ext uri="{FF2B5EF4-FFF2-40B4-BE49-F238E27FC236}">
                <a16:creationId xmlns:a16="http://schemas.microsoft.com/office/drawing/2014/main" id="{D2252C60-F44E-4964-A8A1-F8E1C7A5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00250"/>
            <a:ext cx="209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31" name="chain-node-accent-2">
            <a:extLst xmlns:a="http://schemas.openxmlformats.org/drawingml/2006/main">
              <a:ext uri="{FF2B5EF4-FFF2-40B4-BE49-F238E27FC236}">
                <a16:creationId xmlns:a16="http://schemas.microsoft.com/office/drawing/2014/main" id="{6FDA5FEE-D635-4A90-9381-860E291F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002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chain-no-2">
            <a:extLst xmlns:a="http://schemas.openxmlformats.org/drawingml/2006/main">
              <a:ext uri="{FF2B5EF4-FFF2-40B4-BE49-F238E27FC236}">
                <a16:creationId xmlns:a16="http://schemas.microsoft.com/office/drawing/2014/main" id="{4924DB16-81B3-4D92-962F-D170437D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266950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7E89"/>
                </a:solidFill>
              </a:defRPr>
            </a:pPr>
            <a:r>
              <a:rPr sz="900" b="1">
                <a:solidFill>
                  <a:srgbClr val="547E89"/>
                </a:solidFill>
              </a:rPr>
              <a:t>03</a:t>
            </a:r>
          </a:p>
        </p:txBody>
      </p:sp>
      <p:sp>
        <p:nvSpPr>
          <p:cNvPr id="33" name="chain-role-2">
            <a:extLst xmlns:a="http://schemas.openxmlformats.org/drawingml/2006/main">
              <a:ext uri="{FF2B5EF4-FFF2-40B4-BE49-F238E27FC236}">
                <a16:creationId xmlns:a16="http://schemas.microsoft.com/office/drawing/2014/main" id="{7E0E035D-FE9E-4686-B007-E7C18E0E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6479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金融服务</a:t>
            </a:r>
          </a:p>
        </p:txBody>
      </p:sp>
      <p:sp>
        <p:nvSpPr>
          <p:cNvPr id="34" name="chain-name-2">
            <a:extLst xmlns:a="http://schemas.openxmlformats.org/drawingml/2006/main">
              <a:ext uri="{FF2B5EF4-FFF2-40B4-BE49-F238E27FC236}">
                <a16:creationId xmlns:a16="http://schemas.microsoft.com/office/drawing/2014/main" id="{3BBB6064-A1B7-4272-9796-D1149A82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962275"/>
            <a:ext cx="1666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A24"/>
                </a:solidFill>
              </a:defRPr>
            </a:pPr>
            <a:r>
              <a:rPr sz="1875" b="1">
                <a:solidFill>
                  <a:srgbClr val="162A24"/>
                </a:solidFill>
              </a:rPr>
              <a:t>银行承接</a:t>
            </a:r>
          </a:p>
        </p:txBody>
      </p:sp>
      <p:sp>
        <p:nvSpPr>
          <p:cNvPr id="35" name="chain-entities-2">
            <a:extLst xmlns:a="http://schemas.openxmlformats.org/drawingml/2006/main">
              <a:ext uri="{FF2B5EF4-FFF2-40B4-BE49-F238E27FC236}">
                <a16:creationId xmlns:a16="http://schemas.microsoft.com/office/drawing/2014/main" id="{6BD701A0-BCFA-4565-9293-747EC75C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619500"/>
            <a:ext cx="166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传音银行</a:t>
            </a:r>
          </a:p>
          <a:p xmlns:a="http://schemas.openxmlformats.org/drawingml/2006/main">
            <a:pPr algn="l">
              <a:defRPr sz="1425" b="1">
                <a:solidFill>
                  <a:srgbClr val="0E453A"/>
                </a:solidFill>
              </a:defRPr>
            </a:pPr>
            <a:r>
              <a:rPr sz="1425" b="1">
                <a:solidFill>
                  <a:srgbClr val="0E453A"/>
                </a:solidFill>
              </a:rPr>
              <a:t>接入银行</a:t>
            </a:r>
          </a:p>
        </p:txBody>
      </p:sp>
      <p:sp>
        <p:nvSpPr>
          <p:cNvPr id="36" name="rule-609-474">
            <a:extLst xmlns:a="http://schemas.openxmlformats.org/drawingml/2006/main">
              <a:ext uri="{FF2B5EF4-FFF2-40B4-BE49-F238E27FC236}">
                <a16:creationId xmlns:a16="http://schemas.microsoft.com/office/drawing/2014/main" id="{DF2B178C-ECEA-4DCD-9AFD-149EE529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514850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hain-capability-2">
            <a:extLst xmlns:a="http://schemas.openxmlformats.org/drawingml/2006/main">
              <a:ext uri="{FF2B5EF4-FFF2-40B4-BE49-F238E27FC236}">
                <a16:creationId xmlns:a16="http://schemas.microsoft.com/office/drawing/2014/main" id="{B3839F0B-38AA-43C1-8B48-48C5A486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686300"/>
            <a:ext cx="166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承接银行业务</a:t>
            </a:r>
          </a:p>
        </p:txBody>
      </p:sp>
      <p:sp>
        <p:nvSpPr>
          <p:cNvPr id="38" name="chain-callout">
            <a:extLst xmlns:a="http://schemas.openxmlformats.org/drawingml/2006/main">
              <a:ext uri="{FF2B5EF4-FFF2-40B4-BE49-F238E27FC236}">
                <a16:creationId xmlns:a16="http://schemas.microsoft.com/office/drawing/2014/main" id="{D938F1F6-39CF-4CF7-A800-DC05C52F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3333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label-900-242">
            <a:extLst xmlns:a="http://schemas.openxmlformats.org/drawingml/2006/main">
              <a:ext uri="{FF2B5EF4-FFF2-40B4-BE49-F238E27FC236}">
                <a16:creationId xmlns:a16="http://schemas.microsoft.com/office/drawing/2014/main" id="{631865B5-591C-4BF5-A9CF-3A25F272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050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CDB2"/>
                </a:solidFill>
              </a:defRPr>
            </a:pPr>
            <a:r>
              <a:rPr sz="750" b="1">
                <a:solidFill>
                  <a:srgbClr val="8CCDB2"/>
                </a:solidFill>
              </a:rPr>
              <a:t>讨论重点</a:t>
            </a:r>
          </a:p>
        </p:txBody>
      </p:sp>
      <p:sp>
        <p:nvSpPr>
          <p:cNvPr id="40" name="chain-callout-title">
            <a:extLst xmlns:a="http://schemas.openxmlformats.org/drawingml/2006/main">
              <a:ext uri="{FF2B5EF4-FFF2-40B4-BE49-F238E27FC236}">
                <a16:creationId xmlns:a16="http://schemas.microsoft.com/office/drawing/2014/main" id="{39F6BC4F-683D-4025-8D5B-C8F192B1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DF8"/>
                </a:solidFill>
              </a:defRPr>
            </a:pPr>
            <a:r>
              <a:rPr sz="2325" b="1">
                <a:solidFill>
                  <a:srgbClr val="FFFDF8"/>
                </a:solidFill>
              </a:rPr>
              <a:t>是否继续探索</a:t>
            </a:r>
          </a:p>
          <a:p xmlns:a="http://schemas.openxmlformats.org/drawingml/2006/main">
            <a:pPr algn="l">
              <a:defRPr sz="2325" b="1">
                <a:solidFill>
                  <a:srgbClr val="FFFDF8"/>
                </a:solidFill>
              </a:defRPr>
            </a:pPr>
            <a:r>
              <a:rPr sz="2325" b="1">
                <a:solidFill>
                  <a:srgbClr val="FFFDF8"/>
                </a:solidFill>
              </a:rPr>
              <a:t>三层合作</a:t>
            </a:r>
          </a:p>
        </p:txBody>
      </p:sp>
      <p:sp>
        <p:nvSpPr>
          <p:cNvPr id="41" name="chain-callout-detail">
            <a:extLst xmlns:a="http://schemas.openxmlformats.org/drawingml/2006/main">
              <a:ext uri="{FF2B5EF4-FFF2-40B4-BE49-F238E27FC236}">
                <a16:creationId xmlns:a16="http://schemas.microsoft.com/office/drawing/2014/main" id="{8EB85D4A-7219-432E-B07A-9AEC74C7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910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围绕入口、能力协同与银行承接进一步确认</a:t>
            </a:r>
          </a:p>
        </p:txBody>
      </p:sp>
    </p:spTree>
    <p:extLst>
      <p:ext uri="{BB962C8B-B14F-4D97-AF65-F5344CB8AC3E}">
        <p14:creationId xmlns:p14="http://schemas.microsoft.com/office/powerpoint/2010/main" val="4297616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le-60-45">
            <a:extLst xmlns:a="http://schemas.openxmlformats.org/drawingml/2006/main">
              <a:ext uri="{FF2B5EF4-FFF2-40B4-BE49-F238E27FC236}">
                <a16:creationId xmlns:a16="http://schemas.microsoft.com/office/drawing/2014/main" id="{153ED165-1818-4653-BDC6-4C695D4B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B75BC4BC-82CF-491B-878E-02CAE99E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F6DB6BE8-4E49-4693-9F2D-F7FD2FF0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关键风险判断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0379D8-9753-4ED2-9C7A-9AD086C9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15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7B0A96A2-65AC-41E5-BF0A-CB9F6B4A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CA622D8A-8544-4ED0-BE3A-089BC118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84D7BBAC-5B26-436E-8224-C3FE0D2A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B73E120-41BC-4CC1-A577-0F878014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15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2B4CE396-FCF0-467F-B3F7-66D9C662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正式合作证据不足，可能影响监管真实性审核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16F19EBE-9404-4E60-BD3A-2878F0F0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风险页先给出判断，再说明证据、影响和需要推动的动作。</a:t>
            </a:r>
          </a:p>
        </p:txBody>
      </p:sp>
      <p:sp>
        <p:nvSpPr>
          <p:cNvPr id="11" name="risk-judgment">
            <a:extLst xmlns:a="http://schemas.openxmlformats.org/drawingml/2006/main">
              <a:ext uri="{FF2B5EF4-FFF2-40B4-BE49-F238E27FC236}">
                <a16:creationId xmlns:a16="http://schemas.microsoft.com/office/drawing/2014/main" id="{A3626662-3906-44ED-8E6F-05F44258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63817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4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95-225">
            <a:extLst xmlns:a="http://schemas.openxmlformats.org/drawingml/2006/main">
              <a:ext uri="{FF2B5EF4-FFF2-40B4-BE49-F238E27FC236}">
                <a16:creationId xmlns:a16="http://schemas.microsoft.com/office/drawing/2014/main" id="{25834293-2CB2-4093-9772-01A2E8CF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4312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0B5A1"/>
                </a:solidFill>
              </a:defRPr>
            </a:pPr>
            <a:r>
              <a:rPr sz="750" b="1">
                <a:solidFill>
                  <a:srgbClr val="F0B5A1"/>
                </a:solidFill>
              </a:rPr>
              <a:t>KEY RISK</a:t>
            </a:r>
          </a:p>
        </p:txBody>
      </p:sp>
      <p:sp>
        <p:nvSpPr>
          <p:cNvPr id="13" name="risk-level">
            <a:extLst xmlns:a="http://schemas.openxmlformats.org/drawingml/2006/main">
              <a:ext uri="{FF2B5EF4-FFF2-40B4-BE49-F238E27FC236}">
                <a16:creationId xmlns:a16="http://schemas.microsoft.com/office/drawing/2014/main" id="{02350117-A9BB-41FF-A417-0B53A6B5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高影响</a:t>
            </a:r>
          </a:p>
        </p:txBody>
      </p:sp>
      <p:sp>
        <p:nvSpPr>
          <p:cNvPr id="14" name="risk-title">
            <a:extLst xmlns:a="http://schemas.openxmlformats.org/drawingml/2006/main">
              <a:ext uri="{FF2B5EF4-FFF2-40B4-BE49-F238E27FC236}">
                <a16:creationId xmlns:a16="http://schemas.microsoft.com/office/drawing/2014/main" id="{77EE158E-9B4A-44BE-8B97-E6693F4F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57500"/>
            <a:ext cx="5334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DF8"/>
                </a:solidFill>
              </a:defRPr>
            </a:pPr>
            <a:r>
              <a:rPr sz="2700" b="1">
                <a:solidFill>
                  <a:srgbClr val="FFFDF8"/>
                </a:solidFill>
              </a:rPr>
              <a:t>合作真实性证据</a:t>
            </a:r>
          </a:p>
          <a:p xmlns:a="http://schemas.openxmlformats.org/drawingml/2006/main">
            <a:pPr algn="l">
              <a:defRPr sz="2700" b="1">
                <a:solidFill>
                  <a:srgbClr val="FFFDF8"/>
                </a:solidFill>
              </a:defRPr>
            </a:pPr>
            <a:r>
              <a:rPr sz="2700" b="1">
                <a:solidFill>
                  <a:srgbClr val="FFFDF8"/>
                </a:solidFill>
              </a:rPr>
              <a:t>仍不充分</a:t>
            </a:r>
          </a:p>
        </p:txBody>
      </p:sp>
      <p:sp>
        <p:nvSpPr>
          <p:cNvPr id="15" name="risk-summary">
            <a:extLst xmlns:a="http://schemas.openxmlformats.org/drawingml/2006/main">
              <a:ext uri="{FF2B5EF4-FFF2-40B4-BE49-F238E27FC236}">
                <a16:creationId xmlns:a16="http://schemas.microsoft.com/office/drawing/2014/main" id="{ADAD4C5A-17A5-4003-AF32-7B1CB2E6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7675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D9CF"/>
                </a:solidFill>
              </a:defRPr>
            </a:pPr>
            <a:r>
              <a:rPr sz="1125" b="0">
                <a:solidFill>
                  <a:srgbClr val="F4D9CF"/>
                </a:solidFill>
              </a:rPr>
              <a:t>重要风险判断应独立成页或进入显著风险模块，不能埋在正文说明中。</a:t>
            </a:r>
          </a:p>
        </p:txBody>
      </p:sp>
      <p:sp>
        <p:nvSpPr>
          <p:cNvPr id="16" name="risk-side-0">
            <a:extLst xmlns:a="http://schemas.openxmlformats.org/drawingml/2006/main">
              <a:ext uri="{FF2B5EF4-FFF2-40B4-BE49-F238E27FC236}">
                <a16:creationId xmlns:a16="http://schemas.microsoft.com/office/drawing/2014/main" id="{E0A86331-7706-4DE3-8C2A-F15FB781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09750"/>
            <a:ext cx="4429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risk-side-accent-0">
            <a:extLst xmlns:a="http://schemas.openxmlformats.org/drawingml/2006/main">
              <a:ext uri="{FF2B5EF4-FFF2-40B4-BE49-F238E27FC236}">
                <a16:creationId xmlns:a16="http://schemas.microsoft.com/office/drawing/2014/main" id="{FA8D1BEE-C7E3-4E6D-B115-6AECBCE1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097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isk-side-label-0">
            <a:extLst xmlns:a="http://schemas.openxmlformats.org/drawingml/2006/main">
              <a:ext uri="{FF2B5EF4-FFF2-40B4-BE49-F238E27FC236}">
                <a16:creationId xmlns:a16="http://schemas.microsoft.com/office/drawing/2014/main" id="{E9B08153-E56C-46DF-AE99-C48D7F3E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981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判断依据</a:t>
            </a:r>
          </a:p>
        </p:txBody>
      </p:sp>
      <p:sp>
        <p:nvSpPr>
          <p:cNvPr id="19" name="risk-side-value-0">
            <a:extLst xmlns:a="http://schemas.openxmlformats.org/drawingml/2006/main">
              <a:ext uri="{FF2B5EF4-FFF2-40B4-BE49-F238E27FC236}">
                <a16:creationId xmlns:a16="http://schemas.microsoft.com/office/drawing/2014/main" id="{EF3E490B-3ADF-4A6C-8F93-98D48D08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955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A24"/>
                </a:solidFill>
              </a:defRPr>
            </a:pPr>
            <a:r>
              <a:rPr sz="1425" b="1">
                <a:solidFill>
                  <a:srgbClr val="162A24"/>
                </a:solidFill>
              </a:rPr>
              <a:t>目前仅有意向材料</a:t>
            </a:r>
          </a:p>
        </p:txBody>
      </p:sp>
      <p:sp>
        <p:nvSpPr>
          <p:cNvPr id="20" name="risk-side-1">
            <a:extLst xmlns:a="http://schemas.openxmlformats.org/drawingml/2006/main">
              <a:ext uri="{FF2B5EF4-FFF2-40B4-BE49-F238E27FC236}">
                <a16:creationId xmlns:a16="http://schemas.microsoft.com/office/drawing/2014/main" id="{A3C79302-7846-478E-9E39-1C455EB4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05150"/>
            <a:ext cx="4429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1" name="risk-side-accent-1">
            <a:extLst xmlns:a="http://schemas.openxmlformats.org/drawingml/2006/main">
              <a:ext uri="{FF2B5EF4-FFF2-40B4-BE49-F238E27FC236}">
                <a16:creationId xmlns:a16="http://schemas.microsoft.com/office/drawing/2014/main" id="{E5A045A0-1A6D-4B2A-AF2C-26E2925C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051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isk-side-label-1">
            <a:extLst xmlns:a="http://schemas.openxmlformats.org/drawingml/2006/main">
              <a:ext uri="{FF2B5EF4-FFF2-40B4-BE49-F238E27FC236}">
                <a16:creationId xmlns:a16="http://schemas.microsoft.com/office/drawing/2014/main" id="{4E330FC8-2CA3-440E-B521-08381100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2766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C794D"/>
                </a:solidFill>
              </a:defRPr>
            </a:pPr>
            <a:r>
              <a:rPr sz="900" b="1">
                <a:solidFill>
                  <a:srgbClr val="BC794D"/>
                </a:solidFill>
              </a:rPr>
              <a:t>可能影响</a:t>
            </a:r>
          </a:p>
        </p:txBody>
      </p:sp>
      <p:sp>
        <p:nvSpPr>
          <p:cNvPr id="23" name="risk-side-value-1">
            <a:extLst xmlns:a="http://schemas.openxmlformats.org/drawingml/2006/main">
              <a:ext uri="{FF2B5EF4-FFF2-40B4-BE49-F238E27FC236}">
                <a16:creationId xmlns:a16="http://schemas.microsoft.com/office/drawing/2014/main" id="{4745B762-DDDE-45F7-AADD-CAF159AD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909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A24"/>
                </a:solidFill>
              </a:defRPr>
            </a:pPr>
            <a:r>
              <a:rPr sz="1425" b="1">
                <a:solidFill>
                  <a:srgbClr val="162A24"/>
                </a:solidFill>
              </a:rPr>
              <a:t>影响监管真实性审核</a:t>
            </a:r>
          </a:p>
        </p:txBody>
      </p:sp>
      <p:sp>
        <p:nvSpPr>
          <p:cNvPr id="24" name="risk-side-2">
            <a:extLst xmlns:a="http://schemas.openxmlformats.org/drawingml/2006/main">
              <a:ext uri="{FF2B5EF4-FFF2-40B4-BE49-F238E27FC236}">
                <a16:creationId xmlns:a16="http://schemas.microsoft.com/office/drawing/2014/main" id="{F6B2C2C8-5A96-4CA5-9C8E-C138686D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00550"/>
            <a:ext cx="44291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5" name="risk-side-accent-2">
            <a:extLst xmlns:a="http://schemas.openxmlformats.org/drawingml/2006/main">
              <a:ext uri="{FF2B5EF4-FFF2-40B4-BE49-F238E27FC236}">
                <a16:creationId xmlns:a16="http://schemas.microsoft.com/office/drawing/2014/main" id="{57F22618-7234-4DA8-91B2-BC0CE980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005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isk-side-label-2">
            <a:extLst xmlns:a="http://schemas.openxmlformats.org/drawingml/2006/main">
              <a:ext uri="{FF2B5EF4-FFF2-40B4-BE49-F238E27FC236}">
                <a16:creationId xmlns:a16="http://schemas.microsoft.com/office/drawing/2014/main" id="{26654D57-77B5-4F33-ADE1-4BF01B56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5720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7E89"/>
                </a:solidFill>
              </a:defRPr>
            </a:pPr>
            <a:r>
              <a:rPr sz="900" b="1">
                <a:solidFill>
                  <a:srgbClr val="547E89"/>
                </a:solidFill>
              </a:rPr>
              <a:t>需要推动</a:t>
            </a:r>
          </a:p>
        </p:txBody>
      </p:sp>
      <p:sp>
        <p:nvSpPr>
          <p:cNvPr id="27" name="risk-side-value-2">
            <a:extLst xmlns:a="http://schemas.openxmlformats.org/drawingml/2006/main">
              <a:ext uri="{FF2B5EF4-FFF2-40B4-BE49-F238E27FC236}">
                <a16:creationId xmlns:a16="http://schemas.microsoft.com/office/drawing/2014/main" id="{46C1712B-D68F-4BC3-BFE2-B0F2FD7A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8863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A24"/>
                </a:solidFill>
              </a:defRPr>
            </a:pPr>
            <a:r>
              <a:rPr sz="1425" b="1">
                <a:solidFill>
                  <a:srgbClr val="162A24"/>
                </a:solidFill>
              </a:rPr>
              <a:t>尽快签署正式协议</a:t>
            </a:r>
          </a:p>
        </p:txBody>
      </p:sp>
    </p:spTree>
    <p:extLst>
      <p:ext uri="{BB962C8B-B14F-4D97-AF65-F5344CB8AC3E}">
        <p14:creationId xmlns:p14="http://schemas.microsoft.com/office/powerpoint/2010/main" val="7536176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ule-60-45">
            <a:extLst xmlns:a="http://schemas.openxmlformats.org/drawingml/2006/main">
              <a:ext uri="{FF2B5EF4-FFF2-40B4-BE49-F238E27FC236}">
                <a16:creationId xmlns:a16="http://schemas.microsoft.com/office/drawing/2014/main" id="{3C30771A-D860-4361-BB41-84692078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5FAA4670-1CFD-4DA0-A1EF-1610856D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60FDBC96-7CFB-4CBB-8768-9D248FF8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资本与决策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C645F2-B2EE-4CDF-81FC-DBEB5E22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16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DC06FC54-EA97-445F-AA63-58B282AC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0ADAB1A8-886E-4D63-AD58-212AAAAA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47B23AC6-555D-4BA9-90E5-1ACEFA7E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24C275D-AAF2-432F-9D9E-4B2088A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16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EBC5D33E-C9F1-41DC-9A8B-C52315D0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启动资金约 5,000 万美元，股权及出资安排仍待明确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45C6BF36-8028-4508-B919-911D7304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资金、规模和审批条件必须从普通说明中单独拎出。</a:t>
            </a:r>
          </a:p>
        </p:txBody>
      </p:sp>
      <p:sp>
        <p:nvSpPr>
          <p:cNvPr id="11" name="capital-main">
            <a:extLst xmlns:a="http://schemas.openxmlformats.org/drawingml/2006/main">
              <a:ext uri="{FF2B5EF4-FFF2-40B4-BE49-F238E27FC236}">
                <a16:creationId xmlns:a16="http://schemas.microsoft.com/office/drawing/2014/main" id="{2683182C-6BA9-47FA-A000-99BC66FD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8577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95-225">
            <a:extLst xmlns:a="http://schemas.openxmlformats.org/drawingml/2006/main">
              <a:ext uri="{FF2B5EF4-FFF2-40B4-BE49-F238E27FC236}">
                <a16:creationId xmlns:a16="http://schemas.microsoft.com/office/drawing/2014/main" id="{45666CFF-06D0-4F8C-A752-989A0154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431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E3CF"/>
                </a:solidFill>
              </a:defRPr>
            </a:pPr>
            <a:r>
              <a:rPr sz="750" b="1">
                <a:solidFill>
                  <a:srgbClr val="FFE3CF"/>
                </a:solidFill>
              </a:rPr>
              <a:t>CAPITAL</a:t>
            </a:r>
          </a:p>
        </p:txBody>
      </p:sp>
      <p:sp>
        <p:nvSpPr>
          <p:cNvPr id="13" name="capital-value">
            <a:extLst xmlns:a="http://schemas.openxmlformats.org/drawingml/2006/main">
              <a:ext uri="{FF2B5EF4-FFF2-40B4-BE49-F238E27FC236}">
                <a16:creationId xmlns:a16="http://schemas.microsoft.com/office/drawing/2014/main" id="{E65153D2-6FEA-4017-8D54-548DE25F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342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FFFDF8"/>
                </a:solidFill>
              </a:defRPr>
            </a:pPr>
            <a:r>
              <a:rPr sz="4875" b="1">
                <a:solidFill>
                  <a:srgbClr val="FFFDF8"/>
                </a:solidFill>
              </a:rPr>
              <a:t>5,000</a:t>
            </a:r>
          </a:p>
        </p:txBody>
      </p:sp>
      <p:sp>
        <p:nvSpPr>
          <p:cNvPr id="14" name="capital-unit">
            <a:extLst xmlns:a="http://schemas.openxmlformats.org/drawingml/2006/main">
              <a:ext uri="{FF2B5EF4-FFF2-40B4-BE49-F238E27FC236}">
                <a16:creationId xmlns:a16="http://schemas.microsoft.com/office/drawing/2014/main" id="{C410C389-3A77-4B91-9A11-57186DC2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432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DF8"/>
                </a:solidFill>
              </a:defRPr>
            </a:pPr>
            <a:r>
              <a:rPr sz="1650" b="1">
                <a:solidFill>
                  <a:srgbClr val="FFFDF8"/>
                </a:solidFill>
              </a:rPr>
              <a:t>万美元</a:t>
            </a:r>
          </a:p>
        </p:txBody>
      </p:sp>
      <p:sp>
        <p:nvSpPr>
          <p:cNvPr id="15" name="capital-status">
            <a:extLst xmlns:a="http://schemas.openxmlformats.org/drawingml/2006/main">
              <a:ext uri="{FF2B5EF4-FFF2-40B4-BE49-F238E27FC236}">
                <a16:creationId xmlns:a16="http://schemas.microsoft.com/office/drawing/2014/main" id="{3FE39C82-5B10-4BA5-AFAE-A8F909ED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38625"/>
            <a:ext cx="3857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0E6"/>
                </a:solidFill>
              </a:defRPr>
            </a:pPr>
            <a:r>
              <a:rPr sz="1125" b="0">
                <a:solidFill>
                  <a:srgbClr val="FFF0E6"/>
                </a:solidFill>
              </a:rPr>
              <a:t>当前状态｜启动资金规模已讨论，具体股权比例与出资安排待定</a:t>
            </a:r>
          </a:p>
        </p:txBody>
      </p:sp>
      <p:sp>
        <p:nvSpPr>
          <p:cNvPr id="16" name="capital-decision-label">
            <a:extLst xmlns:a="http://schemas.openxmlformats.org/drawingml/2006/main">
              <a:ext uri="{FF2B5EF4-FFF2-40B4-BE49-F238E27FC236}">
                <a16:creationId xmlns:a16="http://schemas.microsoft.com/office/drawing/2014/main" id="{97CB03AB-E121-439A-93A2-400AE543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52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管理层需要推动</a:t>
            </a:r>
          </a:p>
        </p:txBody>
      </p:sp>
      <p:sp>
        <p:nvSpPr>
          <p:cNvPr id="17" name="capital-action-0">
            <a:extLst xmlns:a="http://schemas.openxmlformats.org/drawingml/2006/main">
              <a:ext uri="{FF2B5EF4-FFF2-40B4-BE49-F238E27FC236}">
                <a16:creationId xmlns:a16="http://schemas.microsoft.com/office/drawing/2014/main" id="{82517B15-5840-42F2-9C48-A4C09D7C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28875"/>
            <a:ext cx="571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8" name="capital-action-no-0">
            <a:extLst xmlns:a="http://schemas.openxmlformats.org/drawingml/2006/main">
              <a:ext uri="{FF2B5EF4-FFF2-40B4-BE49-F238E27FC236}">
                <a16:creationId xmlns:a16="http://schemas.microsoft.com/office/drawing/2014/main" id="{75A24679-C00B-4F06-8D92-8CA8E74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1937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01</a:t>
            </a:r>
          </a:p>
        </p:txBody>
      </p:sp>
      <p:sp>
        <p:nvSpPr>
          <p:cNvPr id="19" name="capital-action-title-0">
            <a:extLst xmlns:a="http://schemas.openxmlformats.org/drawingml/2006/main">
              <a:ext uri="{FF2B5EF4-FFF2-40B4-BE49-F238E27FC236}">
                <a16:creationId xmlns:a16="http://schemas.microsoft.com/office/drawing/2014/main" id="{2BC35C7B-4D78-410D-A792-D0220C8F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812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明确资本方案</a:t>
            </a:r>
          </a:p>
        </p:txBody>
      </p:sp>
      <p:sp>
        <p:nvSpPr>
          <p:cNvPr id="20" name="capital-action-detail-0">
            <a:extLst xmlns:a="http://schemas.openxmlformats.org/drawingml/2006/main">
              <a:ext uri="{FF2B5EF4-FFF2-40B4-BE49-F238E27FC236}">
                <a16:creationId xmlns:a16="http://schemas.microsoft.com/office/drawing/2014/main" id="{B9741565-E132-445A-ADFF-3D662914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0325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 Owner 与确认时间</a:t>
            </a:r>
          </a:p>
        </p:txBody>
      </p:sp>
      <p:sp>
        <p:nvSpPr>
          <p:cNvPr id="21" name="capital-action-1">
            <a:extLst xmlns:a="http://schemas.openxmlformats.org/drawingml/2006/main">
              <a:ext uri="{FF2B5EF4-FFF2-40B4-BE49-F238E27FC236}">
                <a16:creationId xmlns:a16="http://schemas.microsoft.com/office/drawing/2014/main" id="{6EDACA7F-5866-4C0A-ADE7-CEB12EFA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71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capital-action-no-1">
            <a:extLst xmlns:a="http://schemas.openxmlformats.org/drawingml/2006/main">
              <a:ext uri="{FF2B5EF4-FFF2-40B4-BE49-F238E27FC236}">
                <a16:creationId xmlns:a16="http://schemas.microsoft.com/office/drawing/2014/main" id="{B72032F9-33ED-432F-BD2F-58D9C779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619500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02</a:t>
            </a:r>
          </a:p>
        </p:txBody>
      </p:sp>
      <p:sp>
        <p:nvSpPr>
          <p:cNvPr id="23" name="capital-action-title-1">
            <a:extLst xmlns:a="http://schemas.openxmlformats.org/drawingml/2006/main">
              <a:ext uri="{FF2B5EF4-FFF2-40B4-BE49-F238E27FC236}">
                <a16:creationId xmlns:a16="http://schemas.microsoft.com/office/drawing/2014/main" id="{21F5E5DF-96E1-4C0D-9C01-6521CEC8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确认股权结构</a:t>
            </a:r>
          </a:p>
        </p:txBody>
      </p:sp>
      <p:sp>
        <p:nvSpPr>
          <p:cNvPr id="24" name="capital-action-detail-1">
            <a:extLst xmlns:a="http://schemas.openxmlformats.org/drawingml/2006/main">
              <a:ext uri="{FF2B5EF4-FFF2-40B4-BE49-F238E27FC236}">
                <a16:creationId xmlns:a16="http://schemas.microsoft.com/office/drawing/2014/main" id="{24615CE1-FE32-4981-8B4E-1FEEA87D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00450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 Owner 与确认时间</a:t>
            </a:r>
          </a:p>
        </p:txBody>
      </p:sp>
      <p:sp>
        <p:nvSpPr>
          <p:cNvPr id="25" name="capital-action-2">
            <a:extLst xmlns:a="http://schemas.openxmlformats.org/drawingml/2006/main">
              <a:ext uri="{FF2B5EF4-FFF2-40B4-BE49-F238E27FC236}">
                <a16:creationId xmlns:a16="http://schemas.microsoft.com/office/drawing/2014/main" id="{BFF2A6B2-E6FF-4666-948F-33382E99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29125"/>
            <a:ext cx="571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6" name="capital-action-no-2">
            <a:extLst xmlns:a="http://schemas.openxmlformats.org/drawingml/2006/main">
              <a:ext uri="{FF2B5EF4-FFF2-40B4-BE49-F238E27FC236}">
                <a16:creationId xmlns:a16="http://schemas.microsoft.com/office/drawing/2014/main" id="{F0ED45B5-5AAA-42D9-84BC-31216E49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96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03</a:t>
            </a:r>
          </a:p>
        </p:txBody>
      </p:sp>
      <p:sp>
        <p:nvSpPr>
          <p:cNvPr id="27" name="capital-action-title-2">
            <a:extLst xmlns:a="http://schemas.openxmlformats.org/drawingml/2006/main">
              <a:ext uri="{FF2B5EF4-FFF2-40B4-BE49-F238E27FC236}">
                <a16:creationId xmlns:a16="http://schemas.microsoft.com/office/drawing/2014/main" id="{B6C56A44-E33E-46B0-A175-633A364C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81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锁定出资安排</a:t>
            </a:r>
          </a:p>
        </p:txBody>
      </p:sp>
      <p:sp>
        <p:nvSpPr>
          <p:cNvPr id="28" name="capital-action-detail-2">
            <a:extLst xmlns:a="http://schemas.openxmlformats.org/drawingml/2006/main">
              <a:ext uri="{FF2B5EF4-FFF2-40B4-BE49-F238E27FC236}">
                <a16:creationId xmlns:a16="http://schemas.microsoft.com/office/drawing/2014/main" id="{1DF8E735-742A-4727-BA08-23D38519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00575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9766F"/>
                </a:solidFill>
              </a:defRPr>
            </a:pPr>
            <a:r>
              <a:rPr sz="900" b="0">
                <a:solidFill>
                  <a:srgbClr val="69766F"/>
                </a:solidFill>
              </a:rPr>
              <a:t>填写 Owner 与确认时间</a:t>
            </a:r>
          </a:p>
        </p:txBody>
      </p:sp>
      <p:sp>
        <p:nvSpPr>
          <p:cNvPr id="29" name="capital-decision">
            <a:extLst xmlns:a="http://schemas.openxmlformats.org/drawingml/2006/main">
              <a:ext uri="{FF2B5EF4-FFF2-40B4-BE49-F238E27FC236}">
                <a16:creationId xmlns:a16="http://schemas.microsoft.com/office/drawing/2014/main" id="{5C9D1BD8-D38D-4003-B392-021305E4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476875"/>
            <a:ext cx="5715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apital-decision-text">
            <a:extLst xmlns:a="http://schemas.openxmlformats.org/drawingml/2006/main">
              <a:ext uri="{FF2B5EF4-FFF2-40B4-BE49-F238E27FC236}">
                <a16:creationId xmlns:a16="http://schemas.microsoft.com/office/drawing/2014/main" id="{D95A7262-73F4-4699-8467-CD1E5E57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572125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DF8"/>
                </a:solidFill>
              </a:defRPr>
            </a:pPr>
            <a:r>
              <a:rPr sz="1200" b="1">
                <a:solidFill>
                  <a:srgbClr val="FFFDF8"/>
                </a:solidFill>
              </a:rPr>
              <a:t>决策｜是否按该规模继续细化资本与股权方案</a:t>
            </a:r>
          </a:p>
        </p:txBody>
      </p:sp>
    </p:spTree>
    <p:extLst>
      <p:ext uri="{BB962C8B-B14F-4D97-AF65-F5344CB8AC3E}">
        <p14:creationId xmlns:p14="http://schemas.microsoft.com/office/powerpoint/2010/main" val="1934791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ule-60-45">
            <a:extLst xmlns:a="http://schemas.openxmlformats.org/drawingml/2006/main">
              <a:ext uri="{FF2B5EF4-FFF2-40B4-BE49-F238E27FC236}">
                <a16:creationId xmlns:a16="http://schemas.microsoft.com/office/drawing/2014/main" id="{EC0A8214-C247-42DB-93F1-508449B8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C46AA54D-4CEC-4B6D-A1ED-94459025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86C4A869-655D-49D6-820F-CFBD1B2A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关键数字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97BB3A-F710-4375-8D67-F31B2926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17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531691B3-2F81-4D05-AF66-323B4B3C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5FAB3788-2515-4689-8347-10F385DF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9743FEF0-58F6-4E6D-9EB9-C71B953C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99FA920-7BC9-4C39-AF5D-E45A5D40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17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77D182C4-84A3-4219-92A2-43CB81A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关键数字先回答管理问题，再补充口径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AAD9DD0D-298E-4D7A-950A-6423B9DF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只突出真正影响判断的 1–4 个数字；说明文字保持辅助地位。</a:t>
            </a:r>
          </a:p>
        </p:txBody>
      </p:sp>
      <p:sp>
        <p:nvSpPr>
          <p:cNvPr id="11" name="metric-0">
            <a:extLst xmlns:a="http://schemas.openxmlformats.org/drawingml/2006/main">
              <a:ext uri="{FF2B5EF4-FFF2-40B4-BE49-F238E27FC236}">
                <a16:creationId xmlns:a16="http://schemas.microsoft.com/office/drawing/2014/main" id="{EA3D48E7-0F46-4FC1-957C-DBB8C167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571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metric-top-0">
            <a:extLst xmlns:a="http://schemas.openxmlformats.org/drawingml/2006/main">
              <a:ext uri="{FF2B5EF4-FFF2-40B4-BE49-F238E27FC236}">
                <a16:creationId xmlns:a16="http://schemas.microsoft.com/office/drawing/2014/main" id="{0C197DC5-05E2-456A-8810-7D01E9D4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571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alue-0">
            <a:extLst xmlns:a="http://schemas.openxmlformats.org/drawingml/2006/main">
              <a:ext uri="{FF2B5EF4-FFF2-40B4-BE49-F238E27FC236}">
                <a16:creationId xmlns:a16="http://schemas.microsoft.com/office/drawing/2014/main" id="{D4B5DDAC-DEE7-4A1C-BC78-82455930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7650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7866"/>
                </a:solidFill>
              </a:defRPr>
            </a:pPr>
            <a:r>
              <a:rPr sz="3600" b="1">
                <a:solidFill>
                  <a:srgbClr val="1C7866"/>
                </a:solidFill>
              </a:rPr>
              <a:t>21%</a:t>
            </a:r>
          </a:p>
        </p:txBody>
      </p:sp>
      <p:sp>
        <p:nvSpPr>
          <p:cNvPr id="14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6CDE3566-BE85-4094-977E-80FCC8B1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766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直接持股</a:t>
            </a:r>
          </a:p>
        </p:txBody>
      </p:sp>
      <p:sp>
        <p:nvSpPr>
          <p:cNvPr id="15" name="metric-note-0">
            <a:extLst xmlns:a="http://schemas.openxmlformats.org/drawingml/2006/main">
              <a:ext uri="{FF2B5EF4-FFF2-40B4-BE49-F238E27FC236}">
                <a16:creationId xmlns:a16="http://schemas.microsoft.com/office/drawing/2014/main" id="{4EE70489-6550-4618-8DE8-95F4A191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95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肯尼亚结构示例</a:t>
            </a:r>
          </a:p>
        </p:txBody>
      </p:sp>
      <p:sp>
        <p:nvSpPr>
          <p:cNvPr id="16" name="metric-1">
            <a:extLst xmlns:a="http://schemas.openxmlformats.org/drawingml/2006/main">
              <a:ext uri="{FF2B5EF4-FFF2-40B4-BE49-F238E27FC236}">
                <a16:creationId xmlns:a16="http://schemas.microsoft.com/office/drawing/2014/main" id="{B376C2EB-1BB7-40AE-8040-F01374BE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2571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7" name="metric-top-1">
            <a:extLst xmlns:a="http://schemas.openxmlformats.org/drawingml/2006/main">
              <a:ext uri="{FF2B5EF4-FFF2-40B4-BE49-F238E27FC236}">
                <a16:creationId xmlns:a16="http://schemas.microsoft.com/office/drawing/2014/main" id="{E141BCA8-79C0-438F-AF0B-452D43AB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2571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etric-value-1">
            <a:extLst xmlns:a="http://schemas.openxmlformats.org/drawingml/2006/main">
              <a:ext uri="{FF2B5EF4-FFF2-40B4-BE49-F238E27FC236}">
                <a16:creationId xmlns:a16="http://schemas.microsoft.com/office/drawing/2014/main" id="{FD72D43F-CA8D-47C0-B03A-E38D0E83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47650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C794D"/>
                </a:solidFill>
              </a:defRPr>
            </a:pPr>
            <a:r>
              <a:rPr sz="3600" b="1">
                <a:solidFill>
                  <a:srgbClr val="BC794D"/>
                </a:solidFill>
              </a:rPr>
              <a:t>25%</a:t>
            </a:r>
          </a:p>
        </p:txBody>
      </p:sp>
      <p:sp>
        <p:nvSpPr>
          <p:cNvPr id="19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76530BF3-3D4D-4310-9BE5-AC051B38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4766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示例上限</a:t>
            </a:r>
          </a:p>
        </p:txBody>
      </p:sp>
      <p:sp>
        <p:nvSpPr>
          <p:cNvPr id="20" name="metric-note-1">
            <a:extLst xmlns:a="http://schemas.openxmlformats.org/drawingml/2006/main">
              <a:ext uri="{FF2B5EF4-FFF2-40B4-BE49-F238E27FC236}">
                <a16:creationId xmlns:a16="http://schemas.microsoft.com/office/drawing/2014/main" id="{7B9AFF67-F19F-4DDB-A38F-7C5BF5EA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095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边界标记</a:t>
            </a:r>
          </a:p>
        </p:txBody>
      </p:sp>
      <p:sp>
        <p:nvSpPr>
          <p:cNvPr id="21" name="metric-2">
            <a:extLst xmlns:a="http://schemas.openxmlformats.org/drawingml/2006/main">
              <a:ext uri="{FF2B5EF4-FFF2-40B4-BE49-F238E27FC236}">
                <a16:creationId xmlns:a16="http://schemas.microsoft.com/office/drawing/2014/main" id="{B1161353-BA24-4939-B224-4DF4F87D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2571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metric-top-2">
            <a:extLst xmlns:a="http://schemas.openxmlformats.org/drawingml/2006/main">
              <a:ext uri="{FF2B5EF4-FFF2-40B4-BE49-F238E27FC236}">
                <a16:creationId xmlns:a16="http://schemas.microsoft.com/office/drawing/2014/main" id="{56BA2B9F-2440-4F8A-B266-64931F24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2571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E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etric-value-2">
            <a:extLst xmlns:a="http://schemas.openxmlformats.org/drawingml/2006/main">
              <a:ext uri="{FF2B5EF4-FFF2-40B4-BE49-F238E27FC236}">
                <a16:creationId xmlns:a16="http://schemas.microsoft.com/office/drawing/2014/main" id="{F0391B7A-7C68-430B-9992-21FBF6DE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7650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547E89"/>
                </a:solidFill>
              </a:defRPr>
            </a:pPr>
            <a:r>
              <a:rPr sz="3600" b="1">
                <a:solidFill>
                  <a:srgbClr val="547E89"/>
                </a:solidFill>
              </a:rPr>
              <a:t>20%</a:t>
            </a:r>
          </a:p>
        </p:txBody>
      </p:sp>
      <p:sp>
        <p:nvSpPr>
          <p:cNvPr id="24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60A5A52A-08EA-46E6-AC69-0F247CFE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766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2A24"/>
                </a:solidFill>
              </a:defRPr>
            </a:pPr>
            <a:r>
              <a:rPr sz="1575" b="1">
                <a:solidFill>
                  <a:srgbClr val="162A24"/>
                </a:solidFill>
              </a:rPr>
              <a:t>直接持股</a:t>
            </a:r>
          </a:p>
        </p:txBody>
      </p:sp>
      <p:sp>
        <p:nvSpPr>
          <p:cNvPr id="25" name="metric-note-2">
            <a:extLst xmlns:a="http://schemas.openxmlformats.org/drawingml/2006/main">
              <a:ext uri="{FF2B5EF4-FFF2-40B4-BE49-F238E27FC236}">
                <a16:creationId xmlns:a16="http://schemas.microsoft.com/office/drawing/2014/main" id="{53B44F64-9685-45BA-9FC2-5064779E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95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9766F"/>
                </a:solidFill>
              </a:defRPr>
            </a:pPr>
            <a:r>
              <a:rPr sz="975" b="0">
                <a:solidFill>
                  <a:srgbClr val="69766F"/>
                </a:solidFill>
              </a:rPr>
              <a:t>坦桑尼亚结构示例</a:t>
            </a:r>
          </a:p>
        </p:txBody>
      </p:sp>
      <p:sp>
        <p:nvSpPr>
          <p:cNvPr id="26" name="metric-3">
            <a:extLst xmlns:a="http://schemas.openxmlformats.org/drawingml/2006/main">
              <a:ext uri="{FF2B5EF4-FFF2-40B4-BE49-F238E27FC236}">
                <a16:creationId xmlns:a16="http://schemas.microsoft.com/office/drawing/2014/main" id="{8876B6B5-E600-40D9-B97F-1964700E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571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metric-top-3">
            <a:extLst xmlns:a="http://schemas.openxmlformats.org/drawingml/2006/main">
              <a:ext uri="{FF2B5EF4-FFF2-40B4-BE49-F238E27FC236}">
                <a16:creationId xmlns:a16="http://schemas.microsoft.com/office/drawing/2014/main" id="{84190689-4B4C-43DC-AC4F-450DEE18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571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etric-value-3">
            <a:extLst xmlns:a="http://schemas.openxmlformats.org/drawingml/2006/main">
              <a:ext uri="{FF2B5EF4-FFF2-40B4-BE49-F238E27FC236}">
                <a16:creationId xmlns:a16="http://schemas.microsoft.com/office/drawing/2014/main" id="{8FE0035A-865F-4A7D-99B4-A84FB913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7650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DF8"/>
                </a:solidFill>
              </a:defRPr>
            </a:pPr>
            <a:r>
              <a:rPr sz="3600" b="1">
                <a:solidFill>
                  <a:srgbClr val="FFFDF8"/>
                </a:solidFill>
              </a:rPr>
              <a:t>5.5%</a:t>
            </a:r>
          </a:p>
        </p:txBody>
      </p:sp>
      <p:sp>
        <p:nvSpPr>
          <p:cNvPr id="29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A0B72EEF-5E3C-4795-ADAC-2E971B90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4766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权益补足</a:t>
            </a:r>
          </a:p>
        </p:txBody>
      </p:sp>
      <p:sp>
        <p:nvSpPr>
          <p:cNvPr id="30" name="metric-note-3">
            <a:extLst xmlns:a="http://schemas.openxmlformats.org/drawingml/2006/main">
              <a:ext uri="{FF2B5EF4-FFF2-40B4-BE49-F238E27FC236}">
                <a16:creationId xmlns:a16="http://schemas.microsoft.com/office/drawing/2014/main" id="{35D33D00-32C3-44E1-A643-59EF142F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957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CECE5"/>
                </a:solidFill>
              </a:defRPr>
            </a:pPr>
            <a:r>
              <a:rPr sz="975" b="0">
                <a:solidFill>
                  <a:srgbClr val="DCECE5"/>
                </a:solidFill>
              </a:rPr>
              <a:t>理论权益与直接持股差额</a:t>
            </a:r>
          </a:p>
        </p:txBody>
      </p:sp>
    </p:spTree>
    <p:extLst>
      <p:ext uri="{BB962C8B-B14F-4D97-AF65-F5344CB8AC3E}">
        <p14:creationId xmlns:p14="http://schemas.microsoft.com/office/powerpoint/2010/main" val="16040364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rule-60-45">
            <a:extLst xmlns:a="http://schemas.openxmlformats.org/drawingml/2006/main">
              <a:ext uri="{FF2B5EF4-FFF2-40B4-BE49-F238E27FC236}">
                <a16:creationId xmlns:a16="http://schemas.microsoft.com/office/drawing/2014/main" id="{9848BB30-C274-4379-B1CD-887F79B6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76F868E5-76B7-4511-B53C-37E8CA78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59D3A079-38E7-470D-8B0E-CB09CA34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实际—目标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9904DD-A4DE-42E0-A85E-63211DE3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18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0C52E05C-324D-439C-AC35-87B72635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0266873A-48E1-4875-B30C-E5EC5CC8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2BE67538-67A2-4AFC-B73B-38816841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71AB9C3-EEC0-413B-A007-CFAE4AF9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18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7F3EBF23-6BA7-4738-9C8B-81B49954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实际值与目标值的差距需要被直接看见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CC645797-D964-4548-83DB-0EC0FD1D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显示实际、目标、差距和管理含义，不把数字埋进说明文字。</a:t>
            </a:r>
          </a:p>
        </p:txBody>
      </p:sp>
      <p:sp>
        <p:nvSpPr>
          <p:cNvPr id="11" name="at-panel">
            <a:extLst xmlns:a="http://schemas.openxmlformats.org/drawingml/2006/main">
              <a:ext uri="{FF2B5EF4-FFF2-40B4-BE49-F238E27FC236}">
                <a16:creationId xmlns:a16="http://schemas.microsoft.com/office/drawing/2014/main" id="{7646396F-A5CE-4CF8-9511-9F72208F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11049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at-actual-label">
            <a:extLst xmlns:a="http://schemas.openxmlformats.org/drawingml/2006/main">
              <a:ext uri="{FF2B5EF4-FFF2-40B4-BE49-F238E27FC236}">
                <a16:creationId xmlns:a16="http://schemas.microsoft.com/office/drawing/2014/main" id="{F98830BD-9F68-4DD4-91DD-50A1C155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7866"/>
                </a:solidFill>
              </a:defRPr>
            </a:pPr>
            <a:r>
              <a:rPr sz="975" b="1">
                <a:solidFill>
                  <a:srgbClr val="1C7866"/>
                </a:solidFill>
              </a:rPr>
              <a:t>实际</a:t>
            </a:r>
          </a:p>
        </p:txBody>
      </p:sp>
      <p:sp>
        <p:nvSpPr>
          <p:cNvPr id="13" name="at-actual">
            <a:extLst xmlns:a="http://schemas.openxmlformats.org/drawingml/2006/main">
              <a:ext uri="{FF2B5EF4-FFF2-40B4-BE49-F238E27FC236}">
                <a16:creationId xmlns:a16="http://schemas.microsoft.com/office/drawing/2014/main" id="{368E1147-E52D-480F-93CD-03751D92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146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C7866"/>
                </a:solidFill>
              </a:defRPr>
            </a:pPr>
            <a:r>
              <a:rPr sz="4350" b="1">
                <a:solidFill>
                  <a:srgbClr val="1C7866"/>
                </a:solidFill>
              </a:rPr>
              <a:t>72</a:t>
            </a:r>
          </a:p>
        </p:txBody>
      </p:sp>
      <p:sp>
        <p:nvSpPr>
          <p:cNvPr id="14" name="at-target-label">
            <a:extLst xmlns:a="http://schemas.openxmlformats.org/drawingml/2006/main">
              <a:ext uri="{FF2B5EF4-FFF2-40B4-BE49-F238E27FC236}">
                <a16:creationId xmlns:a16="http://schemas.microsoft.com/office/drawing/2014/main" id="{6C146344-E4B7-4B6C-96EF-9A8ABE50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33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47E89"/>
                </a:solidFill>
              </a:defRPr>
            </a:pPr>
            <a:r>
              <a:rPr sz="975" b="1">
                <a:solidFill>
                  <a:srgbClr val="547E89"/>
                </a:solidFill>
              </a:rPr>
              <a:t>目标</a:t>
            </a:r>
          </a:p>
        </p:txBody>
      </p:sp>
      <p:sp>
        <p:nvSpPr>
          <p:cNvPr id="15" name="at-target">
            <a:extLst xmlns:a="http://schemas.openxmlformats.org/drawingml/2006/main">
              <a:ext uri="{FF2B5EF4-FFF2-40B4-BE49-F238E27FC236}">
                <a16:creationId xmlns:a16="http://schemas.microsoft.com/office/drawing/2014/main" id="{3D66B10A-5D4D-4C7D-9CC1-F9F297C1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146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547E89"/>
                </a:solidFill>
              </a:defRPr>
            </a:pPr>
            <a:r>
              <a:rPr sz="4350" b="1">
                <a:solidFill>
                  <a:srgbClr val="547E89"/>
                </a:solidFill>
              </a:rPr>
              <a:t>80</a:t>
            </a:r>
          </a:p>
        </p:txBody>
      </p:sp>
      <p:sp>
        <p:nvSpPr>
          <p:cNvPr id="16" name="at-gap-label">
            <a:extLst xmlns:a="http://schemas.openxmlformats.org/drawingml/2006/main">
              <a:ext uri="{FF2B5EF4-FFF2-40B4-BE49-F238E27FC236}">
                <a16:creationId xmlns:a16="http://schemas.microsoft.com/office/drawing/2014/main" id="{9829007F-A965-4E27-A13C-DAE56852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C794D"/>
                </a:solidFill>
              </a:defRPr>
            </a:pPr>
            <a:r>
              <a:rPr sz="975" b="1">
                <a:solidFill>
                  <a:srgbClr val="BC794D"/>
                </a:solidFill>
              </a:rPr>
              <a:t>差距</a:t>
            </a:r>
          </a:p>
        </p:txBody>
      </p:sp>
      <p:sp>
        <p:nvSpPr>
          <p:cNvPr id="17" name="at-gap">
            <a:extLst xmlns:a="http://schemas.openxmlformats.org/drawingml/2006/main">
              <a:ext uri="{FF2B5EF4-FFF2-40B4-BE49-F238E27FC236}">
                <a16:creationId xmlns:a16="http://schemas.microsoft.com/office/drawing/2014/main" id="{05C8B4D1-761F-4E9C-A381-3736C52B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BC794D"/>
                </a:solidFill>
              </a:defRPr>
            </a:pPr>
            <a:r>
              <a:rPr sz="4350" b="1">
                <a:solidFill>
                  <a:srgbClr val="BC794D"/>
                </a:solidFill>
              </a:rPr>
              <a:t>-8</a:t>
            </a:r>
          </a:p>
        </p:txBody>
      </p:sp>
      <p:sp>
        <p:nvSpPr>
          <p:cNvPr id="18" name="at-callout">
            <a:extLst xmlns:a="http://schemas.openxmlformats.org/drawingml/2006/main">
              <a:ext uri="{FF2B5EF4-FFF2-40B4-BE49-F238E27FC236}">
                <a16:creationId xmlns:a16="http://schemas.microsoft.com/office/drawing/2014/main" id="{25DA199C-4F32-4D4C-AE32-DA694542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38375"/>
            <a:ext cx="20955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t-callout-kicker">
            <a:extLst xmlns:a="http://schemas.openxmlformats.org/drawingml/2006/main">
              <a:ext uri="{FF2B5EF4-FFF2-40B4-BE49-F238E27FC236}">
                <a16:creationId xmlns:a16="http://schemas.microsoft.com/office/drawing/2014/main" id="{4FBADAB8-C4DD-4BDF-ACD8-A74AEE76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2412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CDB2"/>
                </a:solidFill>
              </a:defRPr>
            </a:pPr>
            <a:r>
              <a:rPr sz="825" b="1">
                <a:solidFill>
                  <a:srgbClr val="8CCDB2"/>
                </a:solidFill>
              </a:rPr>
              <a:t>IMPLICATION</a:t>
            </a:r>
          </a:p>
        </p:txBody>
      </p:sp>
      <p:sp>
        <p:nvSpPr>
          <p:cNvPr id="20" name="at-callout-title">
            <a:extLst xmlns:a="http://schemas.openxmlformats.org/drawingml/2006/main">
              <a:ext uri="{FF2B5EF4-FFF2-40B4-BE49-F238E27FC236}">
                <a16:creationId xmlns:a16="http://schemas.microsoft.com/office/drawing/2014/main" id="{F269BF2E-3818-4F2E-B898-357C42F1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0375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DF8"/>
                </a:solidFill>
              </a:defRPr>
            </a:pPr>
            <a:r>
              <a:rPr sz="1800" b="1">
                <a:solidFill>
                  <a:srgbClr val="FFFDF8"/>
                </a:solidFill>
              </a:rPr>
              <a:t>差距尚未收口</a:t>
            </a:r>
          </a:p>
        </p:txBody>
      </p:sp>
      <p:sp>
        <p:nvSpPr>
          <p:cNvPr id="21" name="at-callout-note">
            <a:extLst xmlns:a="http://schemas.openxmlformats.org/drawingml/2006/main">
              <a:ext uri="{FF2B5EF4-FFF2-40B4-BE49-F238E27FC236}">
                <a16:creationId xmlns:a16="http://schemas.microsoft.com/office/drawing/2014/main" id="{79ABE071-D7BA-4BFE-B1A4-DA061F54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62375"/>
            <a:ext cx="157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CECE5"/>
                </a:solidFill>
              </a:defRPr>
            </a:pPr>
            <a:r>
              <a:rPr sz="900" b="0">
                <a:solidFill>
                  <a:srgbClr val="DCECE5"/>
                </a:solidFill>
              </a:rPr>
              <a:t>填写需要推动的动作与 Owner</a:t>
            </a:r>
          </a:p>
        </p:txBody>
      </p:sp>
      <p:sp>
        <p:nvSpPr>
          <p:cNvPr id="22" name="at-progress-segment-0">
            <a:extLst xmlns:a="http://schemas.openxmlformats.org/drawingml/2006/main">
              <a:ext uri="{FF2B5EF4-FFF2-40B4-BE49-F238E27FC236}">
                <a16:creationId xmlns:a16="http://schemas.microsoft.com/office/drawing/2014/main" id="{408A35D3-E3B5-443C-8AC7-13E2CBC9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95750"/>
            <a:ext cx="655796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t-progress-segment-label-0">
            <a:extLst xmlns:a="http://schemas.openxmlformats.org/drawingml/2006/main">
              <a:ext uri="{FF2B5EF4-FFF2-40B4-BE49-F238E27FC236}">
                <a16:creationId xmlns:a16="http://schemas.microsoft.com/office/drawing/2014/main" id="{6BFE5A24-0592-4B02-AFFA-D40C52EE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71950"/>
            <a:ext cx="640556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实际</a:t>
            </a:r>
          </a:p>
        </p:txBody>
      </p:sp>
      <p:sp>
        <p:nvSpPr>
          <p:cNvPr id="24" name="at-progress-segment-value-0">
            <a:extLst xmlns:a="http://schemas.openxmlformats.org/drawingml/2006/main">
              <a:ext uri="{FF2B5EF4-FFF2-40B4-BE49-F238E27FC236}">
                <a16:creationId xmlns:a16="http://schemas.microsoft.com/office/drawing/2014/main" id="{2A8D068D-2226-4BF0-9782-F51B61C1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391025"/>
            <a:ext cx="6405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72</a:t>
            </a:r>
          </a:p>
        </p:txBody>
      </p:sp>
      <p:sp>
        <p:nvSpPr>
          <p:cNvPr id="25" name="at-progress-segment-1">
            <a:extLst xmlns:a="http://schemas.openxmlformats.org/drawingml/2006/main">
              <a:ext uri="{FF2B5EF4-FFF2-40B4-BE49-F238E27FC236}">
                <a16:creationId xmlns:a16="http://schemas.microsoft.com/office/drawing/2014/main" id="{9FD10B78-A1B5-44E9-9483-FFF4CDB3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4095750"/>
            <a:ext cx="72866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t-progress-segment-label-1">
            <a:extLst xmlns:a="http://schemas.openxmlformats.org/drawingml/2006/main">
              <a:ext uri="{FF2B5EF4-FFF2-40B4-BE49-F238E27FC236}">
                <a16:creationId xmlns:a16="http://schemas.microsoft.com/office/drawing/2014/main" id="{CB8CF653-D250-40F2-AA11-C7B314E6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88" y="4171950"/>
            <a:ext cx="57626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差距</a:t>
            </a:r>
          </a:p>
        </p:txBody>
      </p:sp>
      <p:sp>
        <p:nvSpPr>
          <p:cNvPr id="27" name="at-progress-segment-value-1">
            <a:extLst xmlns:a="http://schemas.openxmlformats.org/drawingml/2006/main">
              <a:ext uri="{FF2B5EF4-FFF2-40B4-BE49-F238E27FC236}">
                <a16:creationId xmlns:a16="http://schemas.microsoft.com/office/drawing/2014/main" id="{AD5C01FA-CA8E-48CB-9A87-48C1E982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88" y="4391025"/>
            <a:ext cx="5762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8</a:t>
            </a:r>
          </a:p>
        </p:txBody>
      </p:sp>
      <p:sp>
        <p:nvSpPr>
          <p:cNvPr id="28" name="at-progress-threshold">
            <a:extLst xmlns:a="http://schemas.openxmlformats.org/drawingml/2006/main">
              <a:ext uri="{FF2B5EF4-FFF2-40B4-BE49-F238E27FC236}">
                <a16:creationId xmlns:a16="http://schemas.microsoft.com/office/drawing/2014/main" id="{0A84CB5B-B81B-4364-9153-D72D224D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86200"/>
            <a:ext cx="190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t-progress-threshold-label">
            <a:extLst xmlns:a="http://schemas.openxmlformats.org/drawingml/2006/main">
              <a:ext uri="{FF2B5EF4-FFF2-40B4-BE49-F238E27FC236}">
                <a16:creationId xmlns:a16="http://schemas.microsoft.com/office/drawing/2014/main" id="{95C6B012-82BE-43B3-8590-CA915E5C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67125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C794D"/>
                </a:solidFill>
              </a:defRPr>
            </a:pPr>
            <a:r>
              <a:rPr sz="825" b="1">
                <a:solidFill>
                  <a:srgbClr val="BC794D"/>
                </a:solidFill>
              </a:rPr>
              <a:t>目标 80</a:t>
            </a:r>
          </a:p>
        </p:txBody>
      </p:sp>
    </p:spTree>
    <p:extLst>
      <p:ext uri="{BB962C8B-B14F-4D97-AF65-F5344CB8AC3E}">
        <p14:creationId xmlns:p14="http://schemas.microsoft.com/office/powerpoint/2010/main" val="127216083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ule-60-45">
            <a:extLst xmlns:a="http://schemas.openxmlformats.org/drawingml/2006/main">
              <a:ext uri="{FF2B5EF4-FFF2-40B4-BE49-F238E27FC236}">
                <a16:creationId xmlns:a16="http://schemas.microsoft.com/office/drawing/2014/main" id="{D7906F28-3964-459B-973C-E4209274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05C89DAD-3ABB-4BBE-BCA5-DAC8CCD9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CE7E9A1A-6226-4E34-BF51-B3CAE15F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阈值与边界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567ED5-78B8-404C-9E39-1469F38D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19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1EC8F3D8-45B6-445D-AAF4-1DF71AD4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E38310D0-D471-45C1-9A90-F7B988EE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F32A6007-4E63-4A5D-BBA9-11CBB1F8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EB9ACC0-03CC-4AB6-8066-44DA659F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19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C84EA929-3373-4409-9694-3255DE4E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21% 低于 25% 示例上限，结构在示例边界内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56E461A-5A47-4047-A094-BB186870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实际值、阈值和结论必须在同一视觉中完成核对。</a:t>
            </a:r>
          </a:p>
        </p:txBody>
      </p:sp>
      <p:sp>
        <p:nvSpPr>
          <p:cNvPr id="11" name="threshold-main">
            <a:extLst xmlns:a="http://schemas.openxmlformats.org/drawingml/2006/main">
              <a:ext uri="{FF2B5EF4-FFF2-40B4-BE49-F238E27FC236}">
                <a16:creationId xmlns:a16="http://schemas.microsoft.com/office/drawing/2014/main" id="{6178CA98-2502-46FB-B687-2C606E4D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11049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threshold-formula">
            <a:extLst xmlns:a="http://schemas.openxmlformats.org/drawingml/2006/main">
              <a:ext uri="{FF2B5EF4-FFF2-40B4-BE49-F238E27FC236}">
                <a16:creationId xmlns:a16="http://schemas.microsoft.com/office/drawing/2014/main" id="{923DB3E5-2F72-4559-A754-9D2C0A89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33625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2A24"/>
                </a:solidFill>
              </a:defRPr>
            </a:pPr>
            <a:r>
              <a:rPr sz="2925" b="1">
                <a:solidFill>
                  <a:srgbClr val="162A24"/>
                </a:solidFill>
              </a:rPr>
              <a:t>70%  ×  30%  =  21%</a:t>
            </a:r>
          </a:p>
        </p:txBody>
      </p:sp>
      <p:sp>
        <p:nvSpPr>
          <p:cNvPr id="13" name="threshold-result">
            <a:extLst xmlns:a="http://schemas.openxmlformats.org/drawingml/2006/main">
              <a:ext uri="{FF2B5EF4-FFF2-40B4-BE49-F238E27FC236}">
                <a16:creationId xmlns:a16="http://schemas.microsoft.com/office/drawing/2014/main" id="{372763D3-CC74-4823-9316-5F55CF5F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38375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3900" b="1">
                <a:solidFill>
                  <a:srgbClr val="1C7866"/>
                </a:solidFill>
              </a:defRPr>
            </a:pPr>
            <a:r>
              <a:rPr sz="3900" b="1">
                <a:solidFill>
                  <a:srgbClr val="1C7866"/>
                </a:solidFill>
              </a:rPr>
              <a:t>21%</a:t>
            </a:r>
          </a:p>
        </p:txBody>
      </p:sp>
      <p:sp>
        <p:nvSpPr>
          <p:cNvPr id="14" name="threshold-bar-segment-0">
            <a:extLst xmlns:a="http://schemas.openxmlformats.org/drawingml/2006/main">
              <a:ext uri="{FF2B5EF4-FFF2-40B4-BE49-F238E27FC236}">
                <a16:creationId xmlns:a16="http://schemas.microsoft.com/office/drawing/2014/main" id="{02BB1780-D01A-4385-AF16-5633C301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76625"/>
            <a:ext cx="8401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hreshold-bar-segment-label-0">
            <a:extLst xmlns:a="http://schemas.openxmlformats.org/drawingml/2006/main">
              <a:ext uri="{FF2B5EF4-FFF2-40B4-BE49-F238E27FC236}">
                <a16:creationId xmlns:a16="http://schemas.microsoft.com/office/drawing/2014/main" id="{23E917DD-CF97-43EF-A290-1AED5BC2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552825"/>
            <a:ext cx="824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直接持股</a:t>
            </a:r>
          </a:p>
        </p:txBody>
      </p:sp>
      <p:sp>
        <p:nvSpPr>
          <p:cNvPr id="16" name="threshold-bar-segment-value-0">
            <a:extLst xmlns:a="http://schemas.openxmlformats.org/drawingml/2006/main">
              <a:ext uri="{FF2B5EF4-FFF2-40B4-BE49-F238E27FC236}">
                <a16:creationId xmlns:a16="http://schemas.microsoft.com/office/drawing/2014/main" id="{FF4CFF01-143B-4B77-AB3D-65C6FF48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71900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21</a:t>
            </a:r>
          </a:p>
        </p:txBody>
      </p:sp>
      <p:sp>
        <p:nvSpPr>
          <p:cNvPr id="17" name="threshold-bar-segment-1">
            <a:extLst xmlns:a="http://schemas.openxmlformats.org/drawingml/2006/main">
              <a:ext uri="{FF2B5EF4-FFF2-40B4-BE49-F238E27FC236}">
                <a16:creationId xmlns:a16="http://schemas.microsoft.com/office/drawing/2014/main" id="{A94F35E9-E41D-4A90-A41D-5E07C29E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476625"/>
            <a:ext cx="1600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reshold-bar-segment-label-1">
            <a:extLst xmlns:a="http://schemas.openxmlformats.org/drawingml/2006/main">
              <a:ext uri="{FF2B5EF4-FFF2-40B4-BE49-F238E27FC236}">
                <a16:creationId xmlns:a16="http://schemas.microsoft.com/office/drawing/2014/main" id="{62041900-1D12-4679-B57B-2A1B4199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528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距上限</a:t>
            </a:r>
          </a:p>
        </p:txBody>
      </p:sp>
      <p:sp>
        <p:nvSpPr>
          <p:cNvPr id="19" name="threshold-bar-segment-value-1">
            <a:extLst xmlns:a="http://schemas.openxmlformats.org/drawingml/2006/main">
              <a:ext uri="{FF2B5EF4-FFF2-40B4-BE49-F238E27FC236}">
                <a16:creationId xmlns:a16="http://schemas.microsoft.com/office/drawing/2014/main" id="{BA7B9CAA-55F7-4F4C-9DD8-F5E92CEC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77190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4</a:t>
            </a:r>
          </a:p>
        </p:txBody>
      </p:sp>
      <p:sp>
        <p:nvSpPr>
          <p:cNvPr id="20" name="threshold-bar-threshold">
            <a:extLst xmlns:a="http://schemas.openxmlformats.org/drawingml/2006/main">
              <a:ext uri="{FF2B5EF4-FFF2-40B4-BE49-F238E27FC236}">
                <a16:creationId xmlns:a16="http://schemas.microsoft.com/office/drawing/2014/main" id="{C1DA8CAB-15EB-4DAD-8A9E-0BC737BF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326707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hreshold-bar-threshold-label">
            <a:extLst xmlns:a="http://schemas.openxmlformats.org/drawingml/2006/main">
              <a:ext uri="{FF2B5EF4-FFF2-40B4-BE49-F238E27FC236}">
                <a16:creationId xmlns:a16="http://schemas.microsoft.com/office/drawing/2014/main" id="{FA7F835C-688A-4DD0-984A-9905C086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800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C794D"/>
                </a:solidFill>
              </a:defRPr>
            </a:pPr>
            <a:r>
              <a:rPr sz="825" b="1">
                <a:solidFill>
                  <a:srgbClr val="BC794D"/>
                </a:solidFill>
              </a:rPr>
              <a:t>示例上限 25%</a:t>
            </a:r>
          </a:p>
        </p:txBody>
      </p:sp>
      <p:sp>
        <p:nvSpPr>
          <p:cNvPr id="22" name="threshold-boundary">
            <a:extLst xmlns:a="http://schemas.openxmlformats.org/drawingml/2006/main">
              <a:ext uri="{FF2B5EF4-FFF2-40B4-BE49-F238E27FC236}">
                <a16:creationId xmlns:a16="http://schemas.microsoft.com/office/drawing/2014/main" id="{7BA0B290-761E-463B-A6E8-DEE90552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433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C794D"/>
                </a:solidFill>
              </a:defRPr>
            </a:pPr>
            <a:r>
              <a:rPr sz="1125" b="1">
                <a:solidFill>
                  <a:srgbClr val="BC794D"/>
                </a:solidFill>
              </a:rPr>
              <a:t>示例上限 25%</a:t>
            </a:r>
          </a:p>
        </p:txBody>
      </p:sp>
      <p:sp>
        <p:nvSpPr>
          <p:cNvPr id="23" name="threshold-implication">
            <a:extLst xmlns:a="http://schemas.openxmlformats.org/drawingml/2006/main">
              <a:ext uri="{FF2B5EF4-FFF2-40B4-BE49-F238E27FC236}">
                <a16:creationId xmlns:a16="http://schemas.microsoft.com/office/drawing/2014/main" id="{90D5D2A5-0F17-4B7F-BC80-4C6A6C05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19625"/>
            <a:ext cx="1000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hreshold-implication-text">
            <a:extLst xmlns:a="http://schemas.openxmlformats.org/drawingml/2006/main">
              <a:ext uri="{FF2B5EF4-FFF2-40B4-BE49-F238E27FC236}">
                <a16:creationId xmlns:a16="http://schemas.microsoft.com/office/drawing/2014/main" id="{CF68180F-2E3F-42E0-9FAF-EEF48683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3392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结论｜21% 低于示例上限，可按方案直接承接</a:t>
            </a:r>
          </a:p>
        </p:txBody>
      </p:sp>
    </p:spTree>
    <p:extLst>
      <p:ext uri="{BB962C8B-B14F-4D97-AF65-F5344CB8AC3E}">
        <p14:creationId xmlns:p14="http://schemas.microsoft.com/office/powerpoint/2010/main" val="112292983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ule-60-45">
            <a:extLst xmlns:a="http://schemas.openxmlformats.org/drawingml/2006/main">
              <a:ext uri="{FF2B5EF4-FFF2-40B4-BE49-F238E27FC236}">
                <a16:creationId xmlns:a16="http://schemas.microsoft.com/office/drawing/2014/main" id="{B1BB6BD2-C073-4B05-921F-89DB1DE8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0AC39A17-2513-4971-AB74-ED894C41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7131FD01-B205-4002-98EA-CCE8D63E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权益构成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6CE9F41-58C0-47E8-8EED-5312B1D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20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00DA4C2D-08CD-4CE0-A8E1-D3C933B2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FE2E0AC0-7E0B-4D7A-ACFE-3AC9D958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2AA73CBC-63C6-42D8-9A33-296E1C73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7A8ECF09-78DB-4C15-874E-A331D24E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20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FBCF6DA3-CB3C-4EF7-816C-3CA958A3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直接持股 20%，另以 5.5% 经济权益补足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20A028AD-DE42-4AB8-BAB4-34B99AB9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构成条保持总量一致，重点展示直接承接、差额与剩余权益。</a:t>
            </a:r>
          </a:p>
        </p:txBody>
      </p:sp>
      <p:sp>
        <p:nvSpPr>
          <p:cNvPr id="11" name="allocation-country">
            <a:extLst xmlns:a="http://schemas.openxmlformats.org/drawingml/2006/main">
              <a:ext uri="{FF2B5EF4-FFF2-40B4-BE49-F238E27FC236}">
                <a16:creationId xmlns:a16="http://schemas.microsoft.com/office/drawing/2014/main" id="{B62EC3FE-0963-4009-B4CF-F343A806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2A24"/>
                </a:solidFill>
              </a:defRPr>
            </a:pPr>
            <a:r>
              <a:rPr sz="1800" b="1">
                <a:solidFill>
                  <a:srgbClr val="162A24"/>
                </a:solidFill>
              </a:rPr>
              <a:t>坦桑尼亚</a:t>
            </a:r>
          </a:p>
        </p:txBody>
      </p:sp>
      <p:sp>
        <p:nvSpPr>
          <p:cNvPr id="12" name="allocation-headline">
            <a:extLst xmlns:a="http://schemas.openxmlformats.org/drawingml/2006/main">
              <a:ext uri="{FF2B5EF4-FFF2-40B4-BE49-F238E27FC236}">
                <a16:creationId xmlns:a16="http://schemas.microsoft.com/office/drawing/2014/main" id="{C2368CAF-2346-48B7-97FF-59369029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C7866"/>
                </a:solidFill>
              </a:defRPr>
            </a:pPr>
            <a:r>
              <a:rPr sz="1500" b="1">
                <a:solidFill>
                  <a:srgbClr val="1C7866"/>
                </a:solidFill>
              </a:rPr>
              <a:t>理论权益 25.5%</a:t>
            </a:r>
          </a:p>
        </p:txBody>
      </p:sp>
      <p:sp>
        <p:nvSpPr>
          <p:cNvPr id="13" name="allocation-bar-segment-0">
            <a:extLst xmlns:a="http://schemas.openxmlformats.org/drawingml/2006/main">
              <a:ext uri="{FF2B5EF4-FFF2-40B4-BE49-F238E27FC236}">
                <a16:creationId xmlns:a16="http://schemas.microsoft.com/office/drawing/2014/main" id="{76EFA849-1E5C-40B2-B76B-0EC0296E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2152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llocation-bar-segment-label-0">
            <a:extLst xmlns:a="http://schemas.openxmlformats.org/drawingml/2006/main">
              <a:ext uri="{FF2B5EF4-FFF2-40B4-BE49-F238E27FC236}">
                <a16:creationId xmlns:a16="http://schemas.microsoft.com/office/drawing/2014/main" id="{D8F416BB-777E-40F2-9CDC-A0286C24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9082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直接持股 20%</a:t>
            </a:r>
          </a:p>
        </p:txBody>
      </p:sp>
      <p:sp>
        <p:nvSpPr>
          <p:cNvPr id="15" name="allocation-bar-segment-value-0">
            <a:extLst xmlns:a="http://schemas.openxmlformats.org/drawingml/2006/main">
              <a:ext uri="{FF2B5EF4-FFF2-40B4-BE49-F238E27FC236}">
                <a16:creationId xmlns:a16="http://schemas.microsoft.com/office/drawing/2014/main" id="{2D56F1E2-D19C-42BA-8986-ECC7218B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99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20</a:t>
            </a:r>
          </a:p>
        </p:txBody>
      </p:sp>
      <p:sp>
        <p:nvSpPr>
          <p:cNvPr id="16" name="allocation-bar-segment-1">
            <a:extLst xmlns:a="http://schemas.openxmlformats.org/drawingml/2006/main">
              <a:ext uri="{FF2B5EF4-FFF2-40B4-BE49-F238E27FC236}">
                <a16:creationId xmlns:a16="http://schemas.microsoft.com/office/drawing/2014/main" id="{4B9F7D21-ECFE-4C01-9A87-DE569A1E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14625"/>
            <a:ext cx="591979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llocation-bar-segment-value-1">
            <a:extLst xmlns:a="http://schemas.openxmlformats.org/drawingml/2006/main">
              <a:ext uri="{FF2B5EF4-FFF2-40B4-BE49-F238E27FC236}">
                <a16:creationId xmlns:a16="http://schemas.microsoft.com/office/drawing/2014/main" id="{8ADD2532-FAB7-4AFC-850A-98B36A52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57500"/>
            <a:ext cx="57292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5.5</a:t>
            </a:r>
          </a:p>
        </p:txBody>
      </p:sp>
      <p:sp>
        <p:nvSpPr>
          <p:cNvPr id="18" name="allocation-bar-segment-2">
            <a:extLst xmlns:a="http://schemas.openxmlformats.org/drawingml/2006/main">
              <a:ext uri="{FF2B5EF4-FFF2-40B4-BE49-F238E27FC236}">
                <a16:creationId xmlns:a16="http://schemas.microsoft.com/office/drawing/2014/main" id="{EA0E9408-D6AD-4167-81BF-6EF0D4AF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754" y="2714625"/>
            <a:ext cx="8018621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llocation-bar-segment-label-2">
            <a:extLst xmlns:a="http://schemas.openxmlformats.org/drawingml/2006/main">
              <a:ext uri="{FF2B5EF4-FFF2-40B4-BE49-F238E27FC236}">
                <a16:creationId xmlns:a16="http://schemas.microsoft.com/office/drawing/2014/main" id="{3321BCF1-EA19-438C-819B-0DF50881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954" y="2790825"/>
            <a:ext cx="7866221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其余股权</a:t>
            </a:r>
          </a:p>
        </p:txBody>
      </p:sp>
      <p:sp>
        <p:nvSpPr>
          <p:cNvPr id="20" name="allocation-bar-segment-value-2">
            <a:extLst xmlns:a="http://schemas.openxmlformats.org/drawingml/2006/main">
              <a:ext uri="{FF2B5EF4-FFF2-40B4-BE49-F238E27FC236}">
                <a16:creationId xmlns:a16="http://schemas.microsoft.com/office/drawing/2014/main" id="{ACC0A826-D038-4A50-89C7-7340E906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954" y="3009900"/>
            <a:ext cx="786622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74.5</a:t>
            </a:r>
          </a:p>
        </p:txBody>
      </p:sp>
      <p:sp>
        <p:nvSpPr>
          <p:cNvPr id="21" name="allocation-formula">
            <a:extLst xmlns:a="http://schemas.openxmlformats.org/drawingml/2006/main">
              <a:ext uri="{FF2B5EF4-FFF2-40B4-BE49-F238E27FC236}">
                <a16:creationId xmlns:a16="http://schemas.microsoft.com/office/drawing/2014/main" id="{AC4223E2-221C-410B-B081-DB7F8EB9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2A24"/>
                </a:solidFill>
              </a:defRPr>
            </a:pPr>
            <a:r>
              <a:rPr sz="2100" b="1">
                <a:solidFill>
                  <a:srgbClr val="162A24"/>
                </a:solidFill>
              </a:rPr>
              <a:t>85%  ×  30%  =  25.5%</a:t>
            </a:r>
          </a:p>
        </p:txBody>
      </p:sp>
      <p:sp>
        <p:nvSpPr>
          <p:cNvPr id="22" name="allocation-gap">
            <a:extLst xmlns:a="http://schemas.openxmlformats.org/drawingml/2006/main">
              <a:ext uri="{FF2B5EF4-FFF2-40B4-BE49-F238E27FC236}">
                <a16:creationId xmlns:a16="http://schemas.microsoft.com/office/drawing/2014/main" id="{A27D24B8-3E43-47AC-9744-6C67B804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4714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llocation-gap-value">
            <a:extLst xmlns:a="http://schemas.openxmlformats.org/drawingml/2006/main">
              <a:ext uri="{FF2B5EF4-FFF2-40B4-BE49-F238E27FC236}">
                <a16:creationId xmlns:a16="http://schemas.microsoft.com/office/drawing/2014/main" id="{2E096D95-42B8-41B2-8C0C-BD677365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9575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DF8"/>
                </a:solidFill>
              </a:defRPr>
            </a:pPr>
            <a:r>
              <a:rPr sz="2100" b="1">
                <a:solidFill>
                  <a:srgbClr val="FFFDF8"/>
                </a:solidFill>
              </a:rPr>
              <a:t>5.5%</a:t>
            </a:r>
          </a:p>
        </p:txBody>
      </p:sp>
      <p:sp>
        <p:nvSpPr>
          <p:cNvPr id="24" name="allocation-gap-note">
            <a:extLst xmlns:a="http://schemas.openxmlformats.org/drawingml/2006/main">
              <a:ext uri="{FF2B5EF4-FFF2-40B4-BE49-F238E27FC236}">
                <a16:creationId xmlns:a16="http://schemas.microsoft.com/office/drawing/2014/main" id="{FF134F2A-7CB0-4EFA-934D-0EB546EF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48125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ECE5"/>
                </a:solidFill>
              </a:defRPr>
            </a:pPr>
            <a:r>
              <a:rPr sz="1050" b="1">
                <a:solidFill>
                  <a:srgbClr val="DCECE5"/>
                </a:solidFill>
              </a:rPr>
              <a:t>超出直接持股方案的部分，以等额经济权益补足</a:t>
            </a:r>
          </a:p>
        </p:txBody>
      </p:sp>
    </p:spTree>
    <p:extLst>
      <p:ext uri="{BB962C8B-B14F-4D97-AF65-F5344CB8AC3E}">
        <p14:creationId xmlns:p14="http://schemas.microsoft.com/office/powerpoint/2010/main" val="193920664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ule-60-45">
            <a:extLst xmlns:a="http://schemas.openxmlformats.org/drawingml/2006/main">
              <a:ext uri="{FF2B5EF4-FFF2-40B4-BE49-F238E27FC236}">
                <a16:creationId xmlns:a16="http://schemas.microsoft.com/office/drawing/2014/main" id="{6CA6D18E-431E-46DC-86C3-9D15A88C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B44A9791-A6A4-4E54-918B-E32A9860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A7F1618B-EED6-47B9-ADFF-B124C600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公式与差额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0F9BF8-D26E-46E8-A82B-7536BED9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21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0DE39E45-E1F8-4C90-A5A6-2E255C47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3FCB2A88-27CA-432F-A1FF-FD132733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5F4D8162-5494-4191-A5CF-BBC5641C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643D7E7-0CE8-413B-B367-605F5508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21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F4FC2567-F025-4872-96FE-DC95831C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从理论权益到直接持股，5.5% 差额需要被单独解释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53EAC5C8-22A4-4805-88E4-FD1F5E46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公式、结构安排和业务含义沿单一阅读路径展开。</a:t>
            </a:r>
          </a:p>
        </p:txBody>
      </p:sp>
      <p:sp>
        <p:nvSpPr>
          <p:cNvPr id="11" name="bridge-0">
            <a:extLst xmlns:a="http://schemas.openxmlformats.org/drawingml/2006/main">
              <a:ext uri="{FF2B5EF4-FFF2-40B4-BE49-F238E27FC236}">
                <a16:creationId xmlns:a16="http://schemas.microsoft.com/office/drawing/2014/main" id="{4CA4285F-2AAD-48A1-8461-38D00E11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1952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bridge-value-0">
            <a:extLst xmlns:a="http://schemas.openxmlformats.org/drawingml/2006/main">
              <a:ext uri="{FF2B5EF4-FFF2-40B4-BE49-F238E27FC236}">
                <a16:creationId xmlns:a16="http://schemas.microsoft.com/office/drawing/2014/main" id="{25964227-2599-47B8-849A-56E5051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57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C7866"/>
                </a:solidFill>
              </a:defRPr>
            </a:pPr>
            <a:r>
              <a:rPr sz="2700" b="1">
                <a:solidFill>
                  <a:srgbClr val="1C7866"/>
                </a:solidFill>
              </a:rPr>
              <a:t>85%</a:t>
            </a:r>
          </a:p>
        </p:txBody>
      </p:sp>
      <p:sp>
        <p:nvSpPr>
          <p:cNvPr id="13" name="bridge-label-0">
            <a:extLst xmlns:a="http://schemas.openxmlformats.org/drawingml/2006/main">
              <a:ext uri="{FF2B5EF4-FFF2-40B4-BE49-F238E27FC236}">
                <a16:creationId xmlns:a16="http://schemas.microsoft.com/office/drawing/2014/main" id="{AECF11F3-B746-45A8-917C-887F97E7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57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9766F"/>
                </a:solidFill>
              </a:defRPr>
            </a:pPr>
            <a:r>
              <a:rPr sz="1050" b="1">
                <a:solidFill>
                  <a:srgbClr val="69766F"/>
                </a:solidFill>
              </a:rPr>
              <a:t>可控股份</a:t>
            </a:r>
          </a:p>
        </p:txBody>
      </p:sp>
      <p:sp>
        <p:nvSpPr>
          <p:cNvPr id="14" name="bridge-op-0">
            <a:extLst xmlns:a="http://schemas.openxmlformats.org/drawingml/2006/main">
              <a:ext uri="{FF2B5EF4-FFF2-40B4-BE49-F238E27FC236}">
                <a16:creationId xmlns:a16="http://schemas.microsoft.com/office/drawing/2014/main" id="{9123B614-04E3-4390-80AF-B7AEE480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0003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C794D"/>
                </a:solidFill>
              </a:defRPr>
            </a:pPr>
            <a:r>
              <a:rPr sz="1575" b="1">
                <a:solidFill>
                  <a:srgbClr val="BC794D"/>
                </a:solidFill>
              </a:rPr>
              <a:t>×</a:t>
            </a:r>
          </a:p>
        </p:txBody>
      </p:sp>
      <p:sp>
        <p:nvSpPr>
          <p:cNvPr id="15" name="bridge-1">
            <a:extLst xmlns:a="http://schemas.openxmlformats.org/drawingml/2006/main">
              <a:ext uri="{FF2B5EF4-FFF2-40B4-BE49-F238E27FC236}">
                <a16:creationId xmlns:a16="http://schemas.microsoft.com/office/drawing/2014/main" id="{1879FD82-A6DF-4960-BB48-9BD8F428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33625"/>
            <a:ext cx="1952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6" name="bridge-value-1">
            <a:extLst xmlns:a="http://schemas.openxmlformats.org/drawingml/2006/main">
              <a:ext uri="{FF2B5EF4-FFF2-40B4-BE49-F238E27FC236}">
                <a16:creationId xmlns:a16="http://schemas.microsoft.com/office/drawing/2014/main" id="{262A4B84-D93D-4325-B361-BFB3A3B6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67000"/>
            <a:ext cx="157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47E89"/>
                </a:solidFill>
              </a:defRPr>
            </a:pPr>
            <a:r>
              <a:rPr sz="2700" b="1">
                <a:solidFill>
                  <a:srgbClr val="547E89"/>
                </a:solidFill>
              </a:rPr>
              <a:t>30%</a:t>
            </a:r>
          </a:p>
        </p:txBody>
      </p:sp>
      <p:sp>
        <p:nvSpPr>
          <p:cNvPr id="17" name="bridge-label-1">
            <a:extLst xmlns:a="http://schemas.openxmlformats.org/drawingml/2006/main">
              <a:ext uri="{FF2B5EF4-FFF2-40B4-BE49-F238E27FC236}">
                <a16:creationId xmlns:a16="http://schemas.microsoft.com/office/drawing/2014/main" id="{F8015078-E854-4230-8E19-BDFE7565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29000"/>
            <a:ext cx="157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9766F"/>
                </a:solidFill>
              </a:defRPr>
            </a:pPr>
            <a:r>
              <a:rPr sz="1050" b="1">
                <a:solidFill>
                  <a:srgbClr val="69766F"/>
                </a:solidFill>
              </a:rPr>
              <a:t>合作权益系数</a:t>
            </a:r>
          </a:p>
        </p:txBody>
      </p:sp>
      <p:sp>
        <p:nvSpPr>
          <p:cNvPr id="18" name="bridge-op-1">
            <a:extLst xmlns:a="http://schemas.openxmlformats.org/drawingml/2006/main">
              <a:ext uri="{FF2B5EF4-FFF2-40B4-BE49-F238E27FC236}">
                <a16:creationId xmlns:a16="http://schemas.microsoft.com/office/drawing/2014/main" id="{147C2E73-32D1-4DC3-A736-F2A14B65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003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C794D"/>
                </a:solidFill>
              </a:defRPr>
            </a:pPr>
            <a:r>
              <a:rPr sz="1575" b="1">
                <a:solidFill>
                  <a:srgbClr val="BC794D"/>
                </a:solidFill>
              </a:rPr>
              <a:t>=</a:t>
            </a:r>
          </a:p>
        </p:txBody>
      </p:sp>
      <p:sp>
        <p:nvSpPr>
          <p:cNvPr id="19" name="bridge-2">
            <a:extLst xmlns:a="http://schemas.openxmlformats.org/drawingml/2006/main">
              <a:ext uri="{FF2B5EF4-FFF2-40B4-BE49-F238E27FC236}">
                <a16:creationId xmlns:a16="http://schemas.microsoft.com/office/drawing/2014/main" id="{F5EAA15B-E557-430A-ABBE-7FB533EB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33625"/>
            <a:ext cx="1952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bridge-value-2">
            <a:extLst xmlns:a="http://schemas.openxmlformats.org/drawingml/2006/main">
              <a:ext uri="{FF2B5EF4-FFF2-40B4-BE49-F238E27FC236}">
                <a16:creationId xmlns:a16="http://schemas.microsoft.com/office/drawing/2014/main" id="{10199A31-1BA5-41D2-AB5C-42E107C6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67000"/>
            <a:ext cx="157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DF8"/>
                </a:solidFill>
              </a:defRPr>
            </a:pPr>
            <a:r>
              <a:rPr sz="2700" b="1">
                <a:solidFill>
                  <a:srgbClr val="FFFDF8"/>
                </a:solidFill>
              </a:rPr>
              <a:t>25.5%</a:t>
            </a:r>
          </a:p>
        </p:txBody>
      </p:sp>
      <p:sp>
        <p:nvSpPr>
          <p:cNvPr id="21" name="bridge-label-2">
            <a:extLst xmlns:a="http://schemas.openxmlformats.org/drawingml/2006/main">
              <a:ext uri="{FF2B5EF4-FFF2-40B4-BE49-F238E27FC236}">
                <a16:creationId xmlns:a16="http://schemas.microsoft.com/office/drawing/2014/main" id="{400A7238-1FF0-4DD7-97A6-290D2EA6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29000"/>
            <a:ext cx="157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ECE5"/>
                </a:solidFill>
              </a:defRPr>
            </a:pPr>
            <a:r>
              <a:rPr sz="1050" b="1">
                <a:solidFill>
                  <a:srgbClr val="DCECE5"/>
                </a:solidFill>
              </a:rPr>
              <a:t>理论权益</a:t>
            </a:r>
          </a:p>
        </p:txBody>
      </p:sp>
      <p:sp>
        <p:nvSpPr>
          <p:cNvPr id="22" name="bridge-op-2">
            <a:extLst xmlns:a="http://schemas.openxmlformats.org/drawingml/2006/main">
              <a:ext uri="{FF2B5EF4-FFF2-40B4-BE49-F238E27FC236}">
                <a16:creationId xmlns:a16="http://schemas.microsoft.com/office/drawing/2014/main" id="{B360D4F5-8446-42C4-BED0-D994C95C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003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C794D"/>
                </a:solidFill>
              </a:defRPr>
            </a:pPr>
            <a:r>
              <a:rPr sz="1575" b="1">
                <a:solidFill>
                  <a:srgbClr val="BC794D"/>
                </a:solidFill>
              </a:rPr>
              <a:t>−</a:t>
            </a:r>
          </a:p>
        </p:txBody>
      </p:sp>
      <p:sp>
        <p:nvSpPr>
          <p:cNvPr id="23" name="bridge-3">
            <a:extLst xmlns:a="http://schemas.openxmlformats.org/drawingml/2006/main">
              <a:ext uri="{FF2B5EF4-FFF2-40B4-BE49-F238E27FC236}">
                <a16:creationId xmlns:a16="http://schemas.microsoft.com/office/drawing/2014/main" id="{59C84365-78CD-42C9-9D03-D32EE395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33625"/>
            <a:ext cx="1952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bridge-value-3">
            <a:extLst xmlns:a="http://schemas.openxmlformats.org/drawingml/2006/main">
              <a:ext uri="{FF2B5EF4-FFF2-40B4-BE49-F238E27FC236}">
                <a16:creationId xmlns:a16="http://schemas.microsoft.com/office/drawing/2014/main" id="{7F25433C-0D37-4128-9009-ED9FC6B1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67000"/>
            <a:ext cx="157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C7866"/>
                </a:solidFill>
              </a:defRPr>
            </a:pPr>
            <a:r>
              <a:rPr sz="2700" b="1">
                <a:solidFill>
                  <a:srgbClr val="1C7866"/>
                </a:solidFill>
              </a:rPr>
              <a:t>20%</a:t>
            </a:r>
          </a:p>
        </p:txBody>
      </p:sp>
      <p:sp>
        <p:nvSpPr>
          <p:cNvPr id="25" name="bridge-label-3">
            <a:extLst xmlns:a="http://schemas.openxmlformats.org/drawingml/2006/main">
              <a:ext uri="{FF2B5EF4-FFF2-40B4-BE49-F238E27FC236}">
                <a16:creationId xmlns:a16="http://schemas.microsoft.com/office/drawing/2014/main" id="{A4D79D52-6DF8-49AA-921E-182ED606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29000"/>
            <a:ext cx="157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9766F"/>
                </a:solidFill>
              </a:defRPr>
            </a:pPr>
            <a:r>
              <a:rPr sz="1050" b="1">
                <a:solidFill>
                  <a:srgbClr val="69766F"/>
                </a:solidFill>
              </a:rPr>
              <a:t>直接持股</a:t>
            </a:r>
          </a:p>
        </p:txBody>
      </p:sp>
      <p:sp>
        <p:nvSpPr>
          <p:cNvPr id="26" name="bridge-op-3">
            <a:extLst xmlns:a="http://schemas.openxmlformats.org/drawingml/2006/main">
              <a:ext uri="{FF2B5EF4-FFF2-40B4-BE49-F238E27FC236}">
                <a16:creationId xmlns:a16="http://schemas.microsoft.com/office/drawing/2014/main" id="{0BA96B18-2C4D-4657-8C27-6F4678C0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003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C794D"/>
                </a:solidFill>
              </a:defRPr>
            </a:pPr>
            <a:r>
              <a:rPr sz="1575" b="1">
                <a:solidFill>
                  <a:srgbClr val="BC794D"/>
                </a:solidFill>
              </a:rPr>
              <a:t>=</a:t>
            </a:r>
          </a:p>
        </p:txBody>
      </p:sp>
      <p:sp>
        <p:nvSpPr>
          <p:cNvPr id="27" name="bridge-4">
            <a:extLst xmlns:a="http://schemas.openxmlformats.org/drawingml/2006/main">
              <a:ext uri="{FF2B5EF4-FFF2-40B4-BE49-F238E27FC236}">
                <a16:creationId xmlns:a16="http://schemas.microsoft.com/office/drawing/2014/main" id="{B1CF1A7C-8CAA-4330-A89F-658EE380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333625"/>
            <a:ext cx="1952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bridge-value-4">
            <a:extLst xmlns:a="http://schemas.openxmlformats.org/drawingml/2006/main">
              <a:ext uri="{FF2B5EF4-FFF2-40B4-BE49-F238E27FC236}">
                <a16:creationId xmlns:a16="http://schemas.microsoft.com/office/drawing/2014/main" id="{E0DD0FDB-1873-4C7B-B30B-10B3C8F1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67000"/>
            <a:ext cx="157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DF8"/>
                </a:solidFill>
              </a:defRPr>
            </a:pPr>
            <a:r>
              <a:rPr sz="2700" b="1">
                <a:solidFill>
                  <a:srgbClr val="FFFDF8"/>
                </a:solidFill>
              </a:rPr>
              <a:t>5.5%</a:t>
            </a:r>
          </a:p>
        </p:txBody>
      </p:sp>
      <p:sp>
        <p:nvSpPr>
          <p:cNvPr id="29" name="bridge-label-4">
            <a:extLst xmlns:a="http://schemas.openxmlformats.org/drawingml/2006/main">
              <a:ext uri="{FF2B5EF4-FFF2-40B4-BE49-F238E27FC236}">
                <a16:creationId xmlns:a16="http://schemas.microsoft.com/office/drawing/2014/main" id="{FB1C76C4-33CE-4F12-B9D0-2B63B61D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29000"/>
            <a:ext cx="157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ECE5"/>
                </a:solidFill>
              </a:defRPr>
            </a:pPr>
            <a:r>
              <a:rPr sz="1050" b="1">
                <a:solidFill>
                  <a:srgbClr val="DCECE5"/>
                </a:solidFill>
              </a:rPr>
              <a:t>权益补足</a:t>
            </a:r>
          </a:p>
        </p:txBody>
      </p:sp>
      <p:sp>
        <p:nvSpPr>
          <p:cNvPr id="30" name="bridge-note">
            <a:extLst xmlns:a="http://schemas.openxmlformats.org/drawingml/2006/main">
              <a:ext uri="{FF2B5EF4-FFF2-40B4-BE49-F238E27FC236}">
                <a16:creationId xmlns:a16="http://schemas.microsoft.com/office/drawing/2014/main" id="{20B2998E-7FE2-45DA-A2D7-07351748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10763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bridge-note-text">
            <a:extLst xmlns:a="http://schemas.openxmlformats.org/drawingml/2006/main">
              <a:ext uri="{FF2B5EF4-FFF2-40B4-BE49-F238E27FC236}">
                <a16:creationId xmlns:a16="http://schemas.microsoft.com/office/drawing/2014/main" id="{635DBBDC-DDF4-47FF-B97F-5AC99CAC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863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A24"/>
                </a:solidFill>
              </a:defRPr>
            </a:pPr>
            <a:r>
              <a:rPr sz="1200" b="1">
                <a:solidFill>
                  <a:srgbClr val="162A24"/>
                </a:solidFill>
              </a:rPr>
              <a:t>解释｜理论权益由公式计算；直接持股之外的差额，以用户确认的经济权益安排补足。</a:t>
            </a:r>
          </a:p>
        </p:txBody>
      </p:sp>
    </p:spTree>
    <p:extLst>
      <p:ext uri="{BB962C8B-B14F-4D97-AF65-F5344CB8AC3E}">
        <p14:creationId xmlns:p14="http://schemas.microsoft.com/office/powerpoint/2010/main" val="11840957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ule-60-45">
            <a:extLst xmlns:a="http://schemas.openxmlformats.org/drawingml/2006/main">
              <a:ext uri="{FF2B5EF4-FFF2-40B4-BE49-F238E27FC236}">
                <a16:creationId xmlns:a16="http://schemas.microsoft.com/office/drawing/2014/main" id="{FC171804-9882-478B-B5FB-5AFA7785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8C3DF218-A137-42AB-837A-C0F5C5AD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1F76E544-260C-4191-A7A5-2FF72991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双对象定量比较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C8BE0D-0038-421A-88C8-27A68391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22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6E781B46-7B04-4882-9266-C313B7EA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64CFB541-10CC-4C17-8E15-4B5BC140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C7749CC1-221C-41B4-87FC-689C396B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467B25D-45DE-4705-AFD9-22E41CCA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22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53FE2661-5D6F-4CFB-A002-96636129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两国权益结构差异集中在阈值与差额处理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885E6E6B-5A4F-407D-A3E0-F56DD1DA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国家只是组织方式；主逻辑是公式、构成、边界和结论。</a:t>
            </a:r>
          </a:p>
        </p:txBody>
      </p:sp>
      <p:sp>
        <p:nvSpPr>
          <p:cNvPr id="11" name="qcmp-0">
            <a:extLst xmlns:a="http://schemas.openxmlformats.org/drawingml/2006/main">
              <a:ext uri="{FF2B5EF4-FFF2-40B4-BE49-F238E27FC236}">
                <a16:creationId xmlns:a16="http://schemas.microsoft.com/office/drawing/2014/main" id="{48109179-7ADA-43A3-BE9C-BD9620B1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1104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qcmp-country-0">
            <a:extLst xmlns:a="http://schemas.openxmlformats.org/drawingml/2006/main">
              <a:ext uri="{FF2B5EF4-FFF2-40B4-BE49-F238E27FC236}">
                <a16:creationId xmlns:a16="http://schemas.microsoft.com/office/drawing/2014/main" id="{163E3642-37F0-42DB-9F0C-2C2B4FC2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A24"/>
                </a:solidFill>
              </a:defRPr>
            </a:pPr>
            <a:r>
              <a:rPr sz="1725" b="1">
                <a:solidFill>
                  <a:srgbClr val="162A24"/>
                </a:solidFill>
              </a:rPr>
              <a:t>肯尼亚</a:t>
            </a:r>
          </a:p>
        </p:txBody>
      </p:sp>
      <p:sp>
        <p:nvSpPr>
          <p:cNvPr id="13" name="qcmp-formula-0">
            <a:extLst xmlns:a="http://schemas.openxmlformats.org/drawingml/2006/main">
              <a:ext uri="{FF2B5EF4-FFF2-40B4-BE49-F238E27FC236}">
                <a16:creationId xmlns:a16="http://schemas.microsoft.com/office/drawing/2014/main" id="{19D3E0E1-2DC8-47E0-8696-B4E370D8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143125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C7866"/>
                </a:solidFill>
              </a:defRPr>
            </a:pPr>
            <a:r>
              <a:rPr sz="1875" b="1">
                <a:solidFill>
                  <a:srgbClr val="1C7866"/>
                </a:solidFill>
              </a:rPr>
              <a:t>70% × 30% = 21%</a:t>
            </a:r>
          </a:p>
        </p:txBody>
      </p:sp>
      <p:sp>
        <p:nvSpPr>
          <p:cNvPr id="14" name="qcmp-conclusion-0">
            <a:extLst xmlns:a="http://schemas.openxmlformats.org/drawingml/2006/main">
              <a:ext uri="{FF2B5EF4-FFF2-40B4-BE49-F238E27FC236}">
                <a16:creationId xmlns:a16="http://schemas.microsoft.com/office/drawing/2014/main" id="{C3F1B2F6-05C9-4301-B5B2-1968095A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E453A"/>
                </a:solidFill>
              </a:defRPr>
            </a:pPr>
            <a:r>
              <a:rPr sz="1275" b="1">
                <a:solidFill>
                  <a:srgbClr val="0E453A"/>
                </a:solidFill>
              </a:rPr>
              <a:t>21% 低于 25% 示例上限</a:t>
            </a:r>
          </a:p>
        </p:txBody>
      </p:sp>
      <p:sp>
        <p:nvSpPr>
          <p:cNvPr id="15" name="qcmp-bar-0-segment-0">
            <a:extLst xmlns:a="http://schemas.openxmlformats.org/drawingml/2006/main">
              <a:ext uri="{FF2B5EF4-FFF2-40B4-BE49-F238E27FC236}">
                <a16:creationId xmlns:a16="http://schemas.microsoft.com/office/drawing/2014/main" id="{C6894B02-EB59-48FD-AD59-436D72A0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90825"/>
            <a:ext cx="1790224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qcmp-bar-0-segment-label-0">
            <a:extLst xmlns:a="http://schemas.openxmlformats.org/drawingml/2006/main">
              <a:ext uri="{FF2B5EF4-FFF2-40B4-BE49-F238E27FC236}">
                <a16:creationId xmlns:a16="http://schemas.microsoft.com/office/drawing/2014/main" id="{A96A3CD3-A997-4AC3-92DB-353586F9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67025"/>
            <a:ext cx="163782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直接持股 21%</a:t>
            </a:r>
          </a:p>
        </p:txBody>
      </p:sp>
      <p:sp>
        <p:nvSpPr>
          <p:cNvPr id="17" name="qcmp-bar-0-segment-value-0">
            <a:extLst xmlns:a="http://schemas.openxmlformats.org/drawingml/2006/main">
              <a:ext uri="{FF2B5EF4-FFF2-40B4-BE49-F238E27FC236}">
                <a16:creationId xmlns:a16="http://schemas.microsoft.com/office/drawing/2014/main" id="{40A96621-A412-478B-8E1F-1037BEB7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086100"/>
            <a:ext cx="1637824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21</a:t>
            </a:r>
          </a:p>
        </p:txBody>
      </p:sp>
      <p:sp>
        <p:nvSpPr>
          <p:cNvPr id="18" name="qcmp-bar-0-segment-1">
            <a:extLst xmlns:a="http://schemas.openxmlformats.org/drawingml/2006/main">
              <a:ext uri="{FF2B5EF4-FFF2-40B4-BE49-F238E27FC236}">
                <a16:creationId xmlns:a16="http://schemas.microsoft.com/office/drawing/2014/main" id="{2E0CEB61-C829-4ECD-AAF6-F6DD4E08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849" y="2790825"/>
            <a:ext cx="6734651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qcmp-bar-0-segment-label-1">
            <a:extLst xmlns:a="http://schemas.openxmlformats.org/drawingml/2006/main">
              <a:ext uri="{FF2B5EF4-FFF2-40B4-BE49-F238E27FC236}">
                <a16:creationId xmlns:a16="http://schemas.microsoft.com/office/drawing/2014/main" id="{C4909502-59CA-4E62-BB9F-5A69069A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049" y="2867025"/>
            <a:ext cx="6582251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其余股权</a:t>
            </a:r>
          </a:p>
        </p:txBody>
      </p:sp>
      <p:sp>
        <p:nvSpPr>
          <p:cNvPr id="20" name="qcmp-bar-0-segment-value-1">
            <a:extLst xmlns:a="http://schemas.openxmlformats.org/drawingml/2006/main">
              <a:ext uri="{FF2B5EF4-FFF2-40B4-BE49-F238E27FC236}">
                <a16:creationId xmlns:a16="http://schemas.microsoft.com/office/drawing/2014/main" id="{06C65BC1-B24D-42EE-9E76-676BF351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049" y="3086100"/>
            <a:ext cx="658225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79</a:t>
            </a:r>
          </a:p>
        </p:txBody>
      </p:sp>
      <p:sp>
        <p:nvSpPr>
          <p:cNvPr id="21" name="qcmp-1">
            <a:extLst xmlns:a="http://schemas.openxmlformats.org/drawingml/2006/main">
              <a:ext uri="{FF2B5EF4-FFF2-40B4-BE49-F238E27FC236}">
                <a16:creationId xmlns:a16="http://schemas.microsoft.com/office/drawing/2014/main" id="{A4E8EDEE-1914-4876-BFD0-8E498EF0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11049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2" name="qcmp-country-1">
            <a:extLst xmlns:a="http://schemas.openxmlformats.org/drawingml/2006/main">
              <a:ext uri="{FF2B5EF4-FFF2-40B4-BE49-F238E27FC236}">
                <a16:creationId xmlns:a16="http://schemas.microsoft.com/office/drawing/2014/main" id="{4B3E3CB1-22BE-4087-A554-E8A3FD6B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A24"/>
                </a:solidFill>
              </a:defRPr>
            </a:pPr>
            <a:r>
              <a:rPr sz="1725" b="1">
                <a:solidFill>
                  <a:srgbClr val="162A24"/>
                </a:solidFill>
              </a:rPr>
              <a:t>坦桑尼亚</a:t>
            </a:r>
          </a:p>
        </p:txBody>
      </p:sp>
      <p:sp>
        <p:nvSpPr>
          <p:cNvPr id="23" name="qcmp-formula-1">
            <a:extLst xmlns:a="http://schemas.openxmlformats.org/drawingml/2006/main">
              <a:ext uri="{FF2B5EF4-FFF2-40B4-BE49-F238E27FC236}">
                <a16:creationId xmlns:a16="http://schemas.microsoft.com/office/drawing/2014/main" id="{EACC0D1D-740C-4FF7-912B-B8EC9539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57625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C7866"/>
                </a:solidFill>
              </a:defRPr>
            </a:pPr>
            <a:r>
              <a:rPr sz="1875" b="1">
                <a:solidFill>
                  <a:srgbClr val="1C7866"/>
                </a:solidFill>
              </a:rPr>
              <a:t>85% × 30% = 25.5%</a:t>
            </a:r>
          </a:p>
        </p:txBody>
      </p:sp>
      <p:sp>
        <p:nvSpPr>
          <p:cNvPr id="24" name="qcmp-conclusion-1">
            <a:extLst xmlns:a="http://schemas.openxmlformats.org/drawingml/2006/main">
              <a:ext uri="{FF2B5EF4-FFF2-40B4-BE49-F238E27FC236}">
                <a16:creationId xmlns:a16="http://schemas.microsoft.com/office/drawing/2014/main" id="{4DE98E28-EB29-46B4-A5E6-555491F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BC794D"/>
                </a:solidFill>
              </a:defRPr>
            </a:pPr>
            <a:r>
              <a:rPr sz="1275" b="1">
                <a:solidFill>
                  <a:srgbClr val="BC794D"/>
                </a:solidFill>
              </a:rPr>
              <a:t>20% 直接持股 + 5.5% 权益补足</a:t>
            </a:r>
          </a:p>
        </p:txBody>
      </p:sp>
      <p:sp>
        <p:nvSpPr>
          <p:cNvPr id="25" name="qcmp-bar-1-segment-0">
            <a:extLst xmlns:a="http://schemas.openxmlformats.org/drawingml/2006/main">
              <a:ext uri="{FF2B5EF4-FFF2-40B4-BE49-F238E27FC236}">
                <a16:creationId xmlns:a16="http://schemas.microsoft.com/office/drawing/2014/main" id="{B0D25FD6-9063-484F-B8DA-ED15C95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505325"/>
            <a:ext cx="17049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qcmp-bar-1-segment-label-0">
            <a:extLst xmlns:a="http://schemas.openxmlformats.org/drawingml/2006/main">
              <a:ext uri="{FF2B5EF4-FFF2-40B4-BE49-F238E27FC236}">
                <a16:creationId xmlns:a16="http://schemas.microsoft.com/office/drawing/2014/main" id="{CF747D91-D072-4A83-99BC-09240C91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581525"/>
            <a:ext cx="1552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直接持股 20%</a:t>
            </a:r>
          </a:p>
        </p:txBody>
      </p:sp>
      <p:sp>
        <p:nvSpPr>
          <p:cNvPr id="27" name="qcmp-bar-1-segment-value-0">
            <a:extLst xmlns:a="http://schemas.openxmlformats.org/drawingml/2006/main">
              <a:ext uri="{FF2B5EF4-FFF2-40B4-BE49-F238E27FC236}">
                <a16:creationId xmlns:a16="http://schemas.microsoft.com/office/drawing/2014/main" id="{0ED514C0-0C2F-41AC-BF5C-EA3A079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800600"/>
            <a:ext cx="1552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20</a:t>
            </a:r>
          </a:p>
        </p:txBody>
      </p:sp>
      <p:sp>
        <p:nvSpPr>
          <p:cNvPr id="28" name="qcmp-bar-1-segment-1">
            <a:extLst xmlns:a="http://schemas.openxmlformats.org/drawingml/2006/main">
              <a:ext uri="{FF2B5EF4-FFF2-40B4-BE49-F238E27FC236}">
                <a16:creationId xmlns:a16="http://schemas.microsoft.com/office/drawing/2014/main" id="{18EC70FB-F6B2-401F-97EE-1D432A46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05325"/>
            <a:ext cx="468868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qcmp-bar-1-segment-value-1">
            <a:extLst xmlns:a="http://schemas.openxmlformats.org/drawingml/2006/main">
              <a:ext uri="{FF2B5EF4-FFF2-40B4-BE49-F238E27FC236}">
                <a16:creationId xmlns:a16="http://schemas.microsoft.com/office/drawing/2014/main" id="{A7B0E733-8BDC-44E7-955B-FFE1DCCC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48200"/>
            <a:ext cx="449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5.5</a:t>
            </a:r>
          </a:p>
        </p:txBody>
      </p:sp>
      <p:sp>
        <p:nvSpPr>
          <p:cNvPr id="30" name="qcmp-bar-1-segment-2">
            <a:extLst xmlns:a="http://schemas.openxmlformats.org/drawingml/2006/main">
              <a:ext uri="{FF2B5EF4-FFF2-40B4-BE49-F238E27FC236}">
                <a16:creationId xmlns:a16="http://schemas.microsoft.com/office/drawing/2014/main" id="{9B7C0082-6AB3-4A78-B13B-1538AF26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8468" y="4505325"/>
            <a:ext cx="6351032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qcmp-bar-1-segment-label-2">
            <a:extLst xmlns:a="http://schemas.openxmlformats.org/drawingml/2006/main">
              <a:ext uri="{FF2B5EF4-FFF2-40B4-BE49-F238E27FC236}">
                <a16:creationId xmlns:a16="http://schemas.microsoft.com/office/drawing/2014/main" id="{F4169B52-9DBA-4961-9CBB-75117A62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668" y="4581525"/>
            <a:ext cx="619863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DF8"/>
                </a:solidFill>
              </a:defRPr>
            </a:pPr>
            <a:r>
              <a:rPr sz="825" b="1">
                <a:solidFill>
                  <a:srgbClr val="FFFDF8"/>
                </a:solidFill>
              </a:rPr>
              <a:t>其余股权</a:t>
            </a:r>
          </a:p>
        </p:txBody>
      </p:sp>
      <p:sp>
        <p:nvSpPr>
          <p:cNvPr id="32" name="qcmp-bar-1-segment-value-2">
            <a:extLst xmlns:a="http://schemas.openxmlformats.org/drawingml/2006/main">
              <a:ext uri="{FF2B5EF4-FFF2-40B4-BE49-F238E27FC236}">
                <a16:creationId xmlns:a16="http://schemas.microsoft.com/office/drawing/2014/main" id="{1A85015D-406F-47F8-A457-C58ACCA5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668" y="4800600"/>
            <a:ext cx="6198632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74.5</a:t>
            </a:r>
          </a:p>
        </p:txBody>
      </p:sp>
    </p:spTree>
    <p:extLst>
      <p:ext uri="{BB962C8B-B14F-4D97-AF65-F5344CB8AC3E}">
        <p14:creationId xmlns:p14="http://schemas.microsoft.com/office/powerpoint/2010/main" val="146999213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ule-60-45">
            <a:extLst xmlns:a="http://schemas.openxmlformats.org/drawingml/2006/main">
              <a:ext uri="{FF2B5EF4-FFF2-40B4-BE49-F238E27FC236}">
                <a16:creationId xmlns:a16="http://schemas.microsoft.com/office/drawing/2014/main" id="{471EB3B5-7C30-45E5-9780-89AB84BA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apter-accent">
            <a:extLst xmlns:a="http://schemas.openxmlformats.org/drawingml/2006/main">
              <a:ext uri="{FF2B5EF4-FFF2-40B4-BE49-F238E27FC236}">
                <a16:creationId xmlns:a16="http://schemas.microsoft.com/office/drawing/2014/main" id="{0B08DF98-8036-4221-A269-0C7E0D94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7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9E7D3C3F-67D4-417C-A242-08DCD145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C7866"/>
                </a:solidFill>
              </a:defRPr>
            </a:pPr>
            <a:r>
              <a:rPr sz="900" b="1">
                <a:solidFill>
                  <a:srgbClr val="1C7866"/>
                </a:solidFill>
              </a:rPr>
              <a:t>情景与预测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B21E0A-4A36-40BC-A658-20E2FA8B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714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66F"/>
                </a:solidFill>
              </a:defRPr>
            </a:pPr>
            <a:r>
              <a:rPr sz="825" b="1">
                <a:solidFill>
                  <a:srgbClr val="69766F"/>
                </a:solidFill>
              </a:rPr>
              <a:t>23</a:t>
            </a:r>
          </a:p>
        </p:txBody>
      </p:sp>
      <p:sp>
        <p:nvSpPr>
          <p:cNvPr id="5" name="rule-60-674">
            <a:extLst xmlns:a="http://schemas.openxmlformats.org/drawingml/2006/main">
              <a:ext uri="{FF2B5EF4-FFF2-40B4-BE49-F238E27FC236}">
                <a16:creationId xmlns:a16="http://schemas.microsoft.com/office/drawing/2014/main" id="{C734988A-53FB-48FC-967E-2257A66C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B00068B8-1574-420F-A708-39F9B6C9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B879"/>
                </a:solidFill>
              </a:defRPr>
            </a:pPr>
            <a:r>
              <a:rPr sz="12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89038B6C-18FA-490F-88E0-4CA887B9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77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来源：组件母版示例，生成材料时替换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61B6A6B-C9BC-48DB-B6AC-A843BBEC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69766F"/>
                </a:solidFill>
              </a:defRPr>
            </a:pPr>
            <a:r>
              <a:rPr sz="675" b="0">
                <a:solidFill>
                  <a:srgbClr val="69766F"/>
                </a:solidFill>
              </a:rPr>
              <a:t>23 / 25</a:t>
            </a:r>
          </a:p>
        </p:txBody>
      </p:sp>
      <p:sp>
        <p:nvSpPr>
          <p:cNvPr id="9" name="page-title">
            <a:extLst xmlns:a="http://schemas.openxmlformats.org/drawingml/2006/main">
              <a:ext uri="{FF2B5EF4-FFF2-40B4-BE49-F238E27FC236}">
                <a16:creationId xmlns:a16="http://schemas.microsoft.com/office/drawing/2014/main" id="{AA6DB9E7-4E0C-4254-8DA4-F5D1B13C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A24"/>
                </a:solidFill>
              </a:defRPr>
            </a:pPr>
            <a:r>
              <a:rPr sz="2250" b="1">
                <a:solidFill>
                  <a:srgbClr val="162A24"/>
                </a:solidFill>
              </a:rPr>
              <a:t>预测用区间和情景表达，不把不确定值包装成承诺</a:t>
            </a:r>
          </a:p>
        </p:txBody>
      </p:sp>
      <p:sp>
        <p:nvSpPr>
          <p:cNvPr id="10" name="page-lead">
            <a:extLst xmlns:a="http://schemas.openxmlformats.org/drawingml/2006/main">
              <a:ext uri="{FF2B5EF4-FFF2-40B4-BE49-F238E27FC236}">
                <a16:creationId xmlns:a16="http://schemas.microsoft.com/office/drawing/2014/main" id="{FE30C2C2-2984-48B1-90A5-3C872F5B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基准、保守、乐观情景必须共享同一口径与期间。</a:t>
            </a:r>
          </a:p>
        </p:txBody>
      </p:sp>
      <p:sp>
        <p:nvSpPr>
          <p:cNvPr id="11" name="scenario-0">
            <a:extLst xmlns:a="http://schemas.openxmlformats.org/drawingml/2006/main">
              <a:ext uri="{FF2B5EF4-FFF2-40B4-BE49-F238E27FC236}">
                <a16:creationId xmlns:a16="http://schemas.microsoft.com/office/drawing/2014/main" id="{C450C700-A668-44F9-A657-45644057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2861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12" name="scenario-label-0">
            <a:extLst xmlns:a="http://schemas.openxmlformats.org/drawingml/2006/main">
              <a:ext uri="{FF2B5EF4-FFF2-40B4-BE49-F238E27FC236}">
                <a16:creationId xmlns:a16="http://schemas.microsoft.com/office/drawing/2014/main" id="{BA2C7005-C91A-4CED-AAF5-8D5B7D87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336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47E89"/>
                </a:solidFill>
              </a:defRPr>
            </a:pPr>
            <a:r>
              <a:rPr sz="1350" b="1">
                <a:solidFill>
                  <a:srgbClr val="547E89"/>
                </a:solidFill>
              </a:rPr>
              <a:t>保守情景</a:t>
            </a:r>
          </a:p>
        </p:txBody>
      </p:sp>
      <p:sp>
        <p:nvSpPr>
          <p:cNvPr id="13" name="scenario-value-0">
            <a:extLst xmlns:a="http://schemas.openxmlformats.org/drawingml/2006/main">
              <a:ext uri="{FF2B5EF4-FFF2-40B4-BE49-F238E27FC236}">
                <a16:creationId xmlns:a16="http://schemas.microsoft.com/office/drawing/2014/main" id="{981A7F23-2192-4D8D-81A3-88CB6923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05125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547E89"/>
                </a:solidFill>
              </a:defRPr>
            </a:pPr>
            <a:r>
              <a:rPr sz="4350" b="1">
                <a:solidFill>
                  <a:srgbClr val="547E89"/>
                </a:solidFill>
              </a:rPr>
              <a:t>18</a:t>
            </a:r>
          </a:p>
        </p:txBody>
      </p:sp>
      <p:sp>
        <p:nvSpPr>
          <p:cNvPr id="14" name="scenario-unit-0">
            <a:extLst xmlns:a="http://schemas.openxmlformats.org/drawingml/2006/main">
              <a:ext uri="{FF2B5EF4-FFF2-40B4-BE49-F238E27FC236}">
                <a16:creationId xmlns:a16="http://schemas.microsoft.com/office/drawing/2014/main" id="{BDD927B6-4ECC-41A8-844F-A27DB1FA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3337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万户</a:t>
            </a:r>
          </a:p>
        </p:txBody>
      </p:sp>
      <p:sp>
        <p:nvSpPr>
          <p:cNvPr id="15" name="rule-108-420">
            <a:extLst xmlns:a="http://schemas.openxmlformats.org/drawingml/2006/main">
              <a:ext uri="{FF2B5EF4-FFF2-40B4-BE49-F238E27FC236}">
                <a16:creationId xmlns:a16="http://schemas.microsoft.com/office/drawing/2014/main" id="{74B9B172-CEA7-415E-B112-B247F314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271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cenario-note-0">
            <a:extLst xmlns:a="http://schemas.openxmlformats.org/drawingml/2006/main">
              <a:ext uri="{FF2B5EF4-FFF2-40B4-BE49-F238E27FC236}">
                <a16:creationId xmlns:a16="http://schemas.microsoft.com/office/drawing/2014/main" id="{D198530D-C966-4504-AEDE-80F250E7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38625"/>
            <a:ext cx="2714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下行假设</a:t>
            </a:r>
          </a:p>
        </p:txBody>
      </p:sp>
      <p:sp>
        <p:nvSpPr>
          <p:cNvPr id="17" name="scenario-1">
            <a:extLst xmlns:a="http://schemas.openxmlformats.org/drawingml/2006/main">
              <a:ext uri="{FF2B5EF4-FFF2-40B4-BE49-F238E27FC236}">
                <a16:creationId xmlns:a16="http://schemas.microsoft.com/office/drawing/2014/main" id="{1FA1F3A9-12D6-4BFF-B7C0-090D3003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00250"/>
            <a:ext cx="32861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cenario-label-1">
            <a:extLst xmlns:a="http://schemas.openxmlformats.org/drawingml/2006/main">
              <a:ext uri="{FF2B5EF4-FFF2-40B4-BE49-F238E27FC236}">
                <a16:creationId xmlns:a16="http://schemas.microsoft.com/office/drawing/2014/main" id="{B6414F65-BC6C-4372-9097-5E57D26D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336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CCDB2"/>
                </a:solidFill>
              </a:defRPr>
            </a:pPr>
            <a:r>
              <a:rPr sz="1350" b="1">
                <a:solidFill>
                  <a:srgbClr val="8CCDB2"/>
                </a:solidFill>
              </a:rPr>
              <a:t>基准情景</a:t>
            </a:r>
          </a:p>
        </p:txBody>
      </p:sp>
      <p:sp>
        <p:nvSpPr>
          <p:cNvPr id="19" name="scenario-value-1">
            <a:extLst xmlns:a="http://schemas.openxmlformats.org/drawingml/2006/main">
              <a:ext uri="{FF2B5EF4-FFF2-40B4-BE49-F238E27FC236}">
                <a16:creationId xmlns:a16="http://schemas.microsoft.com/office/drawing/2014/main" id="{31968B30-80CC-4675-9771-7A688425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905125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DF8"/>
                </a:solidFill>
              </a:defRPr>
            </a:pPr>
            <a:r>
              <a:rPr sz="4350" b="1">
                <a:solidFill>
                  <a:srgbClr val="FFFDF8"/>
                </a:solidFill>
              </a:rPr>
              <a:t>21</a:t>
            </a:r>
          </a:p>
        </p:txBody>
      </p:sp>
      <p:sp>
        <p:nvSpPr>
          <p:cNvPr id="20" name="scenario-unit-1">
            <a:extLst xmlns:a="http://schemas.openxmlformats.org/drawingml/2006/main">
              <a:ext uri="{FF2B5EF4-FFF2-40B4-BE49-F238E27FC236}">
                <a16:creationId xmlns:a16="http://schemas.microsoft.com/office/drawing/2014/main" id="{0C50356E-955F-4899-9074-B29EF7A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万户</a:t>
            </a:r>
          </a:p>
        </p:txBody>
      </p:sp>
      <p:sp>
        <p:nvSpPr>
          <p:cNvPr id="21" name="rule-493-420">
            <a:extLst xmlns:a="http://schemas.openxmlformats.org/drawingml/2006/main">
              <a:ext uri="{FF2B5EF4-FFF2-40B4-BE49-F238E27FC236}">
                <a16:creationId xmlns:a16="http://schemas.microsoft.com/office/drawing/2014/main" id="{A88B5602-CB65-4F08-86E9-F13AFAA0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00500"/>
            <a:ext cx="271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4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cenario-note-1">
            <a:extLst xmlns:a="http://schemas.openxmlformats.org/drawingml/2006/main">
              <a:ext uri="{FF2B5EF4-FFF2-40B4-BE49-F238E27FC236}">
                <a16:creationId xmlns:a16="http://schemas.microsoft.com/office/drawing/2014/main" id="{DABE0F30-DEC8-4887-A30D-87F1B5C8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238625"/>
            <a:ext cx="2714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CE5"/>
                </a:solidFill>
              </a:defRPr>
            </a:pPr>
            <a:r>
              <a:rPr sz="1050" b="0">
                <a:solidFill>
                  <a:srgbClr val="DCECE5"/>
                </a:solidFill>
              </a:rPr>
              <a:t>当前主要判断</a:t>
            </a:r>
          </a:p>
        </p:txBody>
      </p:sp>
      <p:sp>
        <p:nvSpPr>
          <p:cNvPr id="23" name="scenario-2">
            <a:extLst xmlns:a="http://schemas.openxmlformats.org/drawingml/2006/main">
              <a:ext uri="{FF2B5EF4-FFF2-40B4-BE49-F238E27FC236}">
                <a16:creationId xmlns:a16="http://schemas.microsoft.com/office/drawing/2014/main" id="{F338840A-0EEA-4C10-AC8A-82E4552C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32861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BD3CE"/>
            </a:solidFill>
            <a:prstDash val="solid"/>
          </a:ln>
        </p:spPr>
      </p:sp>
      <p:sp>
        <p:nvSpPr>
          <p:cNvPr id="24" name="scenario-label-2">
            <a:extLst xmlns:a="http://schemas.openxmlformats.org/drawingml/2006/main">
              <a:ext uri="{FF2B5EF4-FFF2-40B4-BE49-F238E27FC236}">
                <a16:creationId xmlns:a16="http://schemas.microsoft.com/office/drawing/2014/main" id="{28B6F70C-B25E-4C1A-A31F-50777C48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336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C794D"/>
                </a:solidFill>
              </a:defRPr>
            </a:pPr>
            <a:r>
              <a:rPr sz="1350" b="1">
                <a:solidFill>
                  <a:srgbClr val="BC794D"/>
                </a:solidFill>
              </a:rPr>
              <a:t>乐观情景</a:t>
            </a:r>
          </a:p>
        </p:txBody>
      </p:sp>
      <p:sp>
        <p:nvSpPr>
          <p:cNvPr id="25" name="scenario-value-2">
            <a:extLst xmlns:a="http://schemas.openxmlformats.org/drawingml/2006/main">
              <a:ext uri="{FF2B5EF4-FFF2-40B4-BE49-F238E27FC236}">
                <a16:creationId xmlns:a16="http://schemas.microsoft.com/office/drawing/2014/main" id="{1BEF2527-E004-41C9-AD27-9C69F4CC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05125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BC794D"/>
                </a:solidFill>
              </a:defRPr>
            </a:pPr>
            <a:r>
              <a:rPr sz="4350" b="1">
                <a:solidFill>
                  <a:srgbClr val="BC794D"/>
                </a:solidFill>
              </a:rPr>
              <a:t>24</a:t>
            </a:r>
          </a:p>
        </p:txBody>
      </p:sp>
      <p:sp>
        <p:nvSpPr>
          <p:cNvPr id="26" name="scenario-unit-2">
            <a:extLst xmlns:a="http://schemas.openxmlformats.org/drawingml/2006/main">
              <a:ext uri="{FF2B5EF4-FFF2-40B4-BE49-F238E27FC236}">
                <a16:creationId xmlns:a16="http://schemas.microsoft.com/office/drawing/2014/main" id="{228C3482-1558-45E4-B231-F729012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33337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62A24"/>
                </a:solidFill>
              </a:defRPr>
            </a:pPr>
            <a:r>
              <a:rPr sz="1350" b="1">
                <a:solidFill>
                  <a:srgbClr val="162A24"/>
                </a:solidFill>
              </a:rPr>
              <a:t>万户</a:t>
            </a:r>
          </a:p>
        </p:txBody>
      </p:sp>
      <p:sp>
        <p:nvSpPr>
          <p:cNvPr id="27" name="rule-878-420">
            <a:extLst xmlns:a="http://schemas.openxmlformats.org/drawingml/2006/main">
              <a:ext uri="{FF2B5EF4-FFF2-40B4-BE49-F238E27FC236}">
                <a16:creationId xmlns:a16="http://schemas.microsoft.com/office/drawing/2014/main" id="{6D8EC99A-54A8-4033-9B95-9691BAD7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00500"/>
            <a:ext cx="271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cenario-note-2">
            <a:extLst xmlns:a="http://schemas.openxmlformats.org/drawingml/2006/main">
              <a:ext uri="{FF2B5EF4-FFF2-40B4-BE49-F238E27FC236}">
                <a16:creationId xmlns:a16="http://schemas.microsoft.com/office/drawing/2014/main" id="{747A3249-F503-4DA0-82E4-09BE1AAE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38625"/>
            <a:ext cx="2714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766F"/>
                </a:solidFill>
              </a:defRPr>
            </a:pPr>
            <a:r>
              <a:rPr sz="1050" b="0">
                <a:solidFill>
                  <a:srgbClr val="69766F"/>
                </a:solidFill>
              </a:rPr>
              <a:t>上行假设</a:t>
            </a:r>
          </a:p>
        </p:txBody>
      </p:sp>
    </p:spTree>
    <p:extLst>
      <p:ext uri="{BB962C8B-B14F-4D97-AF65-F5344CB8AC3E}">
        <p14:creationId xmlns:p14="http://schemas.microsoft.com/office/powerpoint/2010/main" val="3549747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C786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4124077-F69F-4EB7-A475-58DF4539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2286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250" b="0">
                <a:solidFill>
                  <a:srgbClr val="FFFDF8"/>
                </a:solidFill>
              </a:defRPr>
            </a:pPr>
            <a:r>
              <a:rPr sz="5250" b="0">
                <a:solidFill>
                  <a:srgbClr val="FFFDF8"/>
                </a:solidFill>
              </a:rPr>
              <a:t>01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A26F130C-D238-4769-BCAA-7F5AE336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战略与目标</a:t>
            </a:r>
          </a:p>
        </p:txBody>
      </p:sp>
      <p:sp>
        <p:nvSpPr>
          <p:cNvPr id="3" name="section-claim">
            <a:extLst xmlns:a="http://schemas.openxmlformats.org/drawingml/2006/main">
              <a:ext uri="{FF2B5EF4-FFF2-40B4-BE49-F238E27FC236}">
                <a16:creationId xmlns:a16="http://schemas.microsoft.com/office/drawing/2014/main" id="{CE005E13-A3E8-4B62-AFAF-19E0611B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ECE5"/>
                </a:solidFill>
              </a:defRPr>
            </a:pPr>
            <a:r>
              <a:rPr sz="1500" b="0">
                <a:solidFill>
                  <a:srgbClr val="DCECE5"/>
                </a:solidFill>
              </a:rPr>
              <a:t>先明确本章节需要回答的问题，再进入证据与行动</a:t>
            </a:r>
          </a:p>
        </p:txBody>
      </p:sp>
      <p:sp>
        <p:nvSpPr>
          <p:cNvPr id="4" name="section-en">
            <a:extLst xmlns:a="http://schemas.openxmlformats.org/drawingml/2006/main">
              <a:ext uri="{FF2B5EF4-FFF2-40B4-BE49-F238E27FC236}">
                <a16:creationId xmlns:a16="http://schemas.microsoft.com/office/drawing/2014/main" id="{26701A5F-1EB3-473B-A4EC-F8628117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CCDB2"/>
                </a:solidFill>
              </a:defRPr>
            </a:pPr>
            <a:r>
              <a:rPr sz="1125" b="1">
                <a:solidFill>
                  <a:srgbClr val="8CCDB2"/>
                </a:solidFill>
              </a:rPr>
              <a:t>STRATEGY &amp; DIRECTION</a:t>
            </a:r>
          </a:p>
        </p:txBody>
      </p:sp>
      <p:sp>
        <p:nvSpPr>
          <p:cNvPr id="5" name="rule-70-630">
            <a:extLst xmlns:a="http://schemas.openxmlformats.org/drawingml/2006/main">
              <a:ext uri="{FF2B5EF4-FFF2-40B4-BE49-F238E27FC236}">
                <a16:creationId xmlns:a16="http://schemas.microsoft.com/office/drawing/2014/main" id="{0A818024-F3D2-4F44-8673-071EB57F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2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brand">
            <a:extLst xmlns:a="http://schemas.openxmlformats.org/drawingml/2006/main">
              <a:ext uri="{FF2B5EF4-FFF2-40B4-BE49-F238E27FC236}">
                <a16:creationId xmlns:a16="http://schemas.microsoft.com/office/drawing/2014/main" id="{8656853A-7218-4636-A3F3-B5C93EE7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DF8"/>
                </a:solidFill>
              </a:defRPr>
            </a:pPr>
            <a:r>
              <a:rPr sz="1200" b="1">
                <a:solidFill>
                  <a:srgbClr val="FFFDF8"/>
                </a:solidFill>
              </a:rPr>
              <a:t>mint</a:t>
            </a:r>
          </a:p>
        </p:txBody>
      </p:sp>
    </p:spTree>
    <p:extLst>
      <p:ext uri="{BB962C8B-B14F-4D97-AF65-F5344CB8AC3E}">
        <p14:creationId xmlns:p14="http://schemas.microsoft.com/office/powerpoint/2010/main" val="138963484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ing-brand">
            <a:extLst xmlns:a="http://schemas.openxmlformats.org/drawingml/2006/main">
              <a:ext uri="{FF2B5EF4-FFF2-40B4-BE49-F238E27FC236}">
                <a16:creationId xmlns:a16="http://schemas.microsoft.com/office/drawing/2014/main" id="{2265C3AD-8FFC-4134-9324-F400104A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"/>
            <a:ext cx="152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2B879"/>
                </a:solidFill>
              </a:defRPr>
            </a:pPr>
            <a:r>
              <a:rPr sz="1800" b="1">
                <a:solidFill>
                  <a:srgbClr val="42B879"/>
                </a:solidFill>
              </a:rPr>
              <a:t>Mint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6DA13CA3-0A28-4BED-8750-A89D44F6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C7866"/>
                </a:solidFill>
              </a:defRPr>
            </a:pPr>
            <a:r>
              <a:rPr sz="3450" b="1">
                <a:solidFill>
                  <a:srgbClr val="1C7866"/>
                </a:solidFill>
              </a:rPr>
              <a:t>谢谢</a:t>
            </a:r>
          </a:p>
        </p:txBody>
      </p:sp>
      <p:sp>
        <p:nvSpPr>
          <p:cNvPr id="3" name="closing-en">
            <a:extLst xmlns:a="http://schemas.openxmlformats.org/drawingml/2006/main">
              <a:ext uri="{FF2B5EF4-FFF2-40B4-BE49-F238E27FC236}">
                <a16:creationId xmlns:a16="http://schemas.microsoft.com/office/drawing/2014/main" id="{7454940A-75D9-4F1A-8868-56EDAD39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C794D"/>
                </a:solidFill>
              </a:defRPr>
            </a:pPr>
            <a:r>
              <a:rPr sz="1200" b="1">
                <a:solidFill>
                  <a:srgbClr val="BC794D"/>
                </a:solidFill>
              </a:rPr>
              <a:t>THANK YOU</a:t>
            </a:r>
          </a:p>
        </p:txBody>
      </p:sp>
      <p:sp>
        <p:nvSpPr>
          <p:cNvPr id="4" name="closing-wave-0">
            <a:extLst xmlns:a="http://schemas.openxmlformats.org/drawingml/2006/main">
              <a:ext uri="{FF2B5EF4-FFF2-40B4-BE49-F238E27FC236}">
                <a16:creationId xmlns:a16="http://schemas.microsoft.com/office/drawing/2014/main" id="{CDC7F74F-40E2-4E3E-BC37-D3189655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4095750" cy="4095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CCDB2"/>
            </a:solidFill>
            <a:prstDash val="solid"/>
          </a:ln>
        </p:spPr>
      </p:sp>
      <p:sp>
        <p:nvSpPr>
          <p:cNvPr id="5" name="closing-wave-1">
            <a:extLst xmlns:a="http://schemas.openxmlformats.org/drawingml/2006/main">
              <a:ext uri="{FF2B5EF4-FFF2-40B4-BE49-F238E27FC236}">
                <a16:creationId xmlns:a16="http://schemas.microsoft.com/office/drawing/2014/main" id="{C96F864B-A70A-43DE-ADC7-D4238ADA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619250"/>
            <a:ext cx="3762375" cy="37623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794D"/>
            </a:solidFill>
            <a:prstDash val="solid"/>
          </a:ln>
        </p:spPr>
      </p:sp>
      <p:sp>
        <p:nvSpPr>
          <p:cNvPr id="6" name="closing-wave-2">
            <a:extLst xmlns:a="http://schemas.openxmlformats.org/drawingml/2006/main">
              <a:ext uri="{FF2B5EF4-FFF2-40B4-BE49-F238E27FC236}">
                <a16:creationId xmlns:a16="http://schemas.microsoft.com/office/drawing/2014/main" id="{38A320A5-5171-4C2E-AE47-8C5DFF95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34290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47E89"/>
            </a:solidFill>
            <a:prstDash val="solid"/>
          </a:ln>
        </p:spPr>
      </p:sp>
      <p:sp>
        <p:nvSpPr>
          <p:cNvPr id="7" name="closing-wave-3">
            <a:extLst xmlns:a="http://schemas.openxmlformats.org/drawingml/2006/main">
              <a:ext uri="{FF2B5EF4-FFF2-40B4-BE49-F238E27FC236}">
                <a16:creationId xmlns:a16="http://schemas.microsoft.com/office/drawing/2014/main" id="{DC825FFD-3C0E-44B3-9F9B-F3B98F28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3095625" cy="3095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453A"/>
          </a:solidFill>
          <a:ln xmlns:a="http://schemas.openxmlformats.org/drawingml/2006/main" w="9525">
            <a:solidFill>
              <a:srgbClr val="0E453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92657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2026-08-13T10:20:51.7390000Z</dcterms:created>
  <dcterms:modified xsi:type="dcterms:W3CDTF">2026-08-13T10:20:51.7390000Z</dcterms:modified>
</coreProperties>
</file>