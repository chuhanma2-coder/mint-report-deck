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fe7796fdfa493c" /><Relationship Type="http://schemas.openxmlformats.org/officeDocument/2006/relationships/extended-properties" Target="/docProps/app.xml" Id="R973c70831b13478d" /><Relationship Type="http://schemas.openxmlformats.org/officeDocument/2006/relationships/officeDocument" Target="/ppt/presentation.xml" Id="R5089aa134b6446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aaa4753c8c4800"/>
    <p:sldMasterId xmlns:r="http://schemas.openxmlformats.org/officeDocument/2006/relationships" id="2147483650" r:id="Reece1cad7bd24454"/>
  </p:sldMasterIdLst>
  <p:notesMasterIdLst>
    <p:notesMasterId xmlns:r="http://schemas.openxmlformats.org/officeDocument/2006/relationships" r:id="R0625747eebaa408f"/>
  </p:notesMasterIdLst>
  <p:sldIdLst>
    <p:sldId xmlns:r="http://schemas.openxmlformats.org/officeDocument/2006/relationships" id="256" r:id="Rfcd9c4d3f7a74528"/>
    <p:sldId xmlns:r="http://schemas.openxmlformats.org/officeDocument/2006/relationships" id="257" r:id="R30b3b23eb1514f24"/>
    <p:sldId xmlns:r="http://schemas.openxmlformats.org/officeDocument/2006/relationships" id="258" r:id="Rc54965a250ec4e1c"/>
    <p:sldId xmlns:r="http://schemas.openxmlformats.org/officeDocument/2006/relationships" id="259" r:id="Rbb57990c06594634"/>
    <p:sldId xmlns:r="http://schemas.openxmlformats.org/officeDocument/2006/relationships" id="260" r:id="Rb53d1386ddd04e3a"/>
    <p:sldId xmlns:r="http://schemas.openxmlformats.org/officeDocument/2006/relationships" id="261" r:id="R4ec16cb97e1640f8"/>
    <p:sldId xmlns:r="http://schemas.openxmlformats.org/officeDocument/2006/relationships" id="262" r:id="R7446a956ffba43f4"/>
    <p:sldId xmlns:r="http://schemas.openxmlformats.org/officeDocument/2006/relationships" id="263" r:id="R2babb10bf3624e49"/>
    <p:sldId xmlns:r="http://schemas.openxmlformats.org/officeDocument/2006/relationships" id="264" r:id="Ra52d8d7d147740e2"/>
    <p:sldId xmlns:r="http://schemas.openxmlformats.org/officeDocument/2006/relationships" id="265" r:id="Rc39d1e2fe25d42a3"/>
    <p:sldId xmlns:r="http://schemas.openxmlformats.org/officeDocument/2006/relationships" id="266" r:id="R57b0212d6da240dc"/>
    <p:sldId xmlns:r="http://schemas.openxmlformats.org/officeDocument/2006/relationships" id="267" r:id="R7d7fa834b32f4d9c"/>
    <p:sldId xmlns:r="http://schemas.openxmlformats.org/officeDocument/2006/relationships" id="268" r:id="R06c2cebef98d428f"/>
    <p:sldId xmlns:r="http://schemas.openxmlformats.org/officeDocument/2006/relationships" id="269" r:id="R522099dc50b24ee5"/>
    <p:sldId xmlns:r="http://schemas.openxmlformats.org/officeDocument/2006/relationships" id="270" r:id="R23eb8dbdf30f44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d4ac4a5e564724" /><Relationship Type="http://schemas.openxmlformats.org/officeDocument/2006/relationships/slideMaster" Target="/ppt/slideMasters/slideMaster1.xml" Id="Re4aaa4753c8c4800" /><Relationship Type="http://schemas.openxmlformats.org/officeDocument/2006/relationships/slideMaster" Target="/ppt/slideMasters/slideMaster2.xml" Id="Reece1cad7bd24454" /><Relationship Type="http://schemas.openxmlformats.org/officeDocument/2006/relationships/notesMaster" Target="/ppt/notesMasters/notesMaster1.xml" Id="R0625747eebaa408f" /><Relationship Type="http://schemas.openxmlformats.org/officeDocument/2006/relationships/presProps" Target="/ppt/presProps.xml" Id="R448f8c0d53a049af" /><Relationship Type="http://schemas.openxmlformats.org/officeDocument/2006/relationships/tableStyles" Target="/ppt/tableStyles.xml" Id="R93b4a046e0f4421b" /><Relationship Type="http://schemas.openxmlformats.org/officeDocument/2006/relationships/slide" Target="/ppt/slides/slide1.xml" Id="Rfcd9c4d3f7a74528" /><Relationship Type="http://schemas.openxmlformats.org/officeDocument/2006/relationships/slide" Target="/ppt/slides/slide2.xml" Id="R30b3b23eb1514f24" /><Relationship Type="http://schemas.openxmlformats.org/officeDocument/2006/relationships/slide" Target="/ppt/slides/slide3.xml" Id="Rc54965a250ec4e1c" /><Relationship Type="http://schemas.openxmlformats.org/officeDocument/2006/relationships/slide" Target="/ppt/slides/slide4.xml" Id="Rbb57990c06594634" /><Relationship Type="http://schemas.openxmlformats.org/officeDocument/2006/relationships/slide" Target="/ppt/slides/slide5.xml" Id="Rb53d1386ddd04e3a" /><Relationship Type="http://schemas.openxmlformats.org/officeDocument/2006/relationships/slide" Target="/ppt/slides/slide6.xml" Id="R4ec16cb97e1640f8" /><Relationship Type="http://schemas.openxmlformats.org/officeDocument/2006/relationships/slide" Target="/ppt/slides/slide7.xml" Id="R7446a956ffba43f4" /><Relationship Type="http://schemas.openxmlformats.org/officeDocument/2006/relationships/slide" Target="/ppt/slides/slide8.xml" Id="R2babb10bf3624e49" /><Relationship Type="http://schemas.openxmlformats.org/officeDocument/2006/relationships/slide" Target="/ppt/slides/slide9.xml" Id="Ra52d8d7d147740e2" /><Relationship Type="http://schemas.openxmlformats.org/officeDocument/2006/relationships/slide" Target="/ppt/slides/slide10.xml" Id="Rc39d1e2fe25d42a3" /><Relationship Type="http://schemas.openxmlformats.org/officeDocument/2006/relationships/slide" Target="/ppt/slides/slide11.xml" Id="R57b0212d6da240dc" /><Relationship Type="http://schemas.openxmlformats.org/officeDocument/2006/relationships/slide" Target="/ppt/slides/slide12.xml" Id="R7d7fa834b32f4d9c" /><Relationship Type="http://schemas.openxmlformats.org/officeDocument/2006/relationships/slide" Target="/ppt/slides/slide13.xml" Id="R06c2cebef98d428f" /><Relationship Type="http://schemas.openxmlformats.org/officeDocument/2006/relationships/slide" Target="/ppt/slides/slide14.xml" Id="R522099dc50b24ee5" /><Relationship Type="http://schemas.openxmlformats.org/officeDocument/2006/relationships/slide" Target="/ppt/slides/slide15.xml" Id="R23eb8dbdf30f44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a8da32527ba48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582bd8d4994b84" /><Relationship Type="http://schemas.openxmlformats.org/officeDocument/2006/relationships/notesMaster" Target="/ppt/notesMasters/notesMaster1.xml" Id="R10b43ac67f724b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890031ad324ec1" /><Relationship Type="http://schemas.openxmlformats.org/officeDocument/2006/relationships/notesMaster" Target="/ppt/notesMasters/notesMaster1.xml" Id="R70a14b64872342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75bcd8998c4331" /><Relationship Type="http://schemas.openxmlformats.org/officeDocument/2006/relationships/notesMaster" Target="/ppt/notesMasters/notesMaster1.xml" Id="R3f0fc56323a947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e3bc803bd64dbd" /><Relationship Type="http://schemas.openxmlformats.org/officeDocument/2006/relationships/notesMaster" Target="/ppt/notesMasters/notesMaster1.xml" Id="R507b57b56e3f4a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0d55d6a25249f3" /><Relationship Type="http://schemas.openxmlformats.org/officeDocument/2006/relationships/notesMaster" Target="/ppt/notesMasters/notesMaster1.xml" Id="Re1259b12008b48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b4f96250f84a6e" /><Relationship Type="http://schemas.openxmlformats.org/officeDocument/2006/relationships/notesMaster" Target="/ppt/notesMasters/notesMaster1.xml" Id="R1b97f59d0dd54e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f5ff351de24a8f" /><Relationship Type="http://schemas.openxmlformats.org/officeDocument/2006/relationships/notesMaster" Target="/ppt/notesMasters/notesMaster1.xml" Id="R99189fb2b9ae42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ee3f897ad74595" /><Relationship Type="http://schemas.openxmlformats.org/officeDocument/2006/relationships/notesMaster" Target="/ppt/notesMasters/notesMaster1.xml" Id="Rcc1e5e81d1e64a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2d7722e36046a6" /><Relationship Type="http://schemas.openxmlformats.org/officeDocument/2006/relationships/notesMaster" Target="/ppt/notesMasters/notesMaster1.xml" Id="R8526d410f0c64e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c1f5cc7e9a4aa5" /><Relationship Type="http://schemas.openxmlformats.org/officeDocument/2006/relationships/notesMaster" Target="/ppt/notesMasters/notesMaster1.xml" Id="R0f053f985ff149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6eee74ed314184" /><Relationship Type="http://schemas.openxmlformats.org/officeDocument/2006/relationships/notesMaster" Target="/ppt/notesMasters/notesMaster1.xml" Id="Rdffcc830eebd40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22fba61e31495c" /><Relationship Type="http://schemas.openxmlformats.org/officeDocument/2006/relationships/notesMaster" Target="/ppt/notesMasters/notesMaster1.xml" Id="R54c09d85f64c45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d2048d868640fd" /><Relationship Type="http://schemas.openxmlformats.org/officeDocument/2006/relationships/notesMaster" Target="/ppt/notesMasters/notesMaster1.xml" Id="R847348f5b46d44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9e451f70524667" /><Relationship Type="http://schemas.openxmlformats.org/officeDocument/2006/relationships/notesMaster" Target="/ppt/notesMasters/notesMaster1.xml" Id="Rc7afffecf21c4f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2a9c05355849f3" /><Relationship Type="http://schemas.openxmlformats.org/officeDocument/2006/relationships/notesMaster" Target="/ppt/notesMasters/notesMaster1.xml" Id="Ra00025cb164149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a4f3a80c44f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389e2fcfa3d4b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8efac25e4e944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5dfd49a678e40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6d5a1278204f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6400d1a05ce4de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932193b615345f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2b4e2763a334ec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cc02476e911421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0eedcec10944c8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e81ba7165a40f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18b59acd8ce445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b0c487912d44f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4353ac0b96b4d5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8065919b46a4bc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20b29bc907f4e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Mint · 封面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75BF00A-180B-4955-A182-873E87E7EB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封面标题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Mint · 管理层总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591DA47C-839D-4739-934A-5400D7B1B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管理层总览标题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Mint · 三层合作架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F60E65B0-1709-44B8-BA11-E17CF046E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三层合作架构标题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Mint · 双轨路线图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16792A8-79B5-4E5E-8BF4-A4E40A89BF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双轨路线图标题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Mint · 横向流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8F5571FD-2011-44EA-B65B-78AEB04C05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横向流程标题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Mint · 时间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9516655-216D-4DB2-B9C0-70F61DFFF7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时间轴标题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Mint · 角色泳道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7AE035AA-3ABE-4531-A953-CAC0E0F1B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角色泳道标题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Mint · 方案对比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9932D0D-950B-4B13-93FC-273D06433E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方案对比标题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Mint · 二维矩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5C6E85D-B6E1-4EEE-B983-7C39EC044C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二维矩阵标题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Mint · KPI 与精确表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2CA111DA-9CCE-4839-A0F2-8895B39E7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KPI 与精确表格标题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Mint · 数据图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EDF7D27-3688-449A-84F6-2E5D654263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数据图表标题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Mint · 风险行动 Own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FF967C95-4F5F-4D23-97EF-A03938F193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风险行动 Owner标题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Mint · 管理层决策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B5531C31-9FB9-47CC-A2B7-85CDD816C8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管理层决策标题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Mint · 章节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AC6F422-573A-4638-9835-4F544211E9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章节页标题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Mint · 结尾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86A5FDB6-B8CC-412F-BFFB-EC86870703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结尾页标题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37c2bda7ca4f5a" /><Relationship Type="http://schemas.openxmlformats.org/officeDocument/2006/relationships/slideLayout" Target="/ppt/slideLayouts/slideLayout1.xml" Id="R1da75cc76d65433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e90febfc9d3466b" /><Relationship Type="http://schemas.openxmlformats.org/officeDocument/2006/relationships/slideLayout" Target="/ppt/slideLayouts/slideLayout2.xml" Id="Rc38a91c464664ab1" /><Relationship Type="http://schemas.openxmlformats.org/officeDocument/2006/relationships/slideLayout" Target="/ppt/slideLayouts/slideLayout3.xml" Id="R1e9e14b3d5ef4421" /><Relationship Type="http://schemas.openxmlformats.org/officeDocument/2006/relationships/slideLayout" Target="/ppt/slideLayouts/slideLayout4.xml" Id="Refcc08a90ef84a28" /><Relationship Type="http://schemas.openxmlformats.org/officeDocument/2006/relationships/slideLayout" Target="/ppt/slideLayouts/slideLayout5.xml" Id="Re282a36e178d4f63" /><Relationship Type="http://schemas.openxmlformats.org/officeDocument/2006/relationships/slideLayout" Target="/ppt/slideLayouts/slideLayout6.xml" Id="R6ed1e5e6d9874d64" /><Relationship Type="http://schemas.openxmlformats.org/officeDocument/2006/relationships/slideLayout" Target="/ppt/slideLayouts/slideLayout7.xml" Id="R02eb4694df794ee9" /><Relationship Type="http://schemas.openxmlformats.org/officeDocument/2006/relationships/slideLayout" Target="/ppt/slideLayouts/slideLayout8.xml" Id="R87168ae1d6eb4dac" /><Relationship Type="http://schemas.openxmlformats.org/officeDocument/2006/relationships/slideLayout" Target="/ppt/slideLayouts/slideLayout9.xml" Id="R9852907604a9427a" /><Relationship Type="http://schemas.openxmlformats.org/officeDocument/2006/relationships/slideLayout" Target="/ppt/slideLayouts/slideLayout10.xml" Id="R45acdd57e6be4421" /><Relationship Type="http://schemas.openxmlformats.org/officeDocument/2006/relationships/slideLayout" Target="/ppt/slideLayouts/slideLayout11.xml" Id="Rd35cb4ba649c413d" /><Relationship Type="http://schemas.openxmlformats.org/officeDocument/2006/relationships/slideLayout" Target="/ppt/slideLayouts/slideLayout12.xml" Id="Ra3e8b5c7b4124afc" /><Relationship Type="http://schemas.openxmlformats.org/officeDocument/2006/relationships/slideLayout" Target="/ppt/slideLayouts/slideLayout13.xml" Id="R29f417dc040440de" /><Relationship Type="http://schemas.openxmlformats.org/officeDocument/2006/relationships/slideLayout" Target="/ppt/slideLayouts/slideLayout14.xml" Id="R1109e172b97d4600" /><Relationship Type="http://schemas.openxmlformats.org/officeDocument/2006/relationships/slideLayout" Target="/ppt/slideLayouts/slideLayout15.xml" Id="Ra26a6e06820442c6" /><Relationship Type="http://schemas.openxmlformats.org/officeDocument/2006/relationships/slideLayout" Target="/ppt/slideLayouts/slideLayout16.xml" Id="Rc3725bc226ad43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a75cc76d6543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int Formal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c38a91c464664ab1"/>
    <p:sldLayoutId xmlns:r="http://schemas.openxmlformats.org/officeDocument/2006/relationships" id="2147483652" r:id="R1e9e14b3d5ef4421"/>
    <p:sldLayoutId xmlns:r="http://schemas.openxmlformats.org/officeDocument/2006/relationships" id="2147483653" r:id="Refcc08a90ef84a28"/>
    <p:sldLayoutId xmlns:r="http://schemas.openxmlformats.org/officeDocument/2006/relationships" id="2147483654" r:id="Re282a36e178d4f63"/>
    <p:sldLayoutId xmlns:r="http://schemas.openxmlformats.org/officeDocument/2006/relationships" id="2147483655" r:id="R6ed1e5e6d9874d64"/>
    <p:sldLayoutId xmlns:r="http://schemas.openxmlformats.org/officeDocument/2006/relationships" id="2147483656" r:id="R02eb4694df794ee9"/>
    <p:sldLayoutId xmlns:r="http://schemas.openxmlformats.org/officeDocument/2006/relationships" id="2147483657" r:id="R87168ae1d6eb4dac"/>
    <p:sldLayoutId xmlns:r="http://schemas.openxmlformats.org/officeDocument/2006/relationships" id="2147483658" r:id="R9852907604a9427a"/>
    <p:sldLayoutId xmlns:r="http://schemas.openxmlformats.org/officeDocument/2006/relationships" id="2147483659" r:id="R45acdd57e6be4421"/>
    <p:sldLayoutId xmlns:r="http://schemas.openxmlformats.org/officeDocument/2006/relationships" id="2147483660" r:id="Rd35cb4ba649c413d"/>
    <p:sldLayoutId xmlns:r="http://schemas.openxmlformats.org/officeDocument/2006/relationships" id="2147483661" r:id="Ra3e8b5c7b4124afc"/>
    <p:sldLayoutId xmlns:r="http://schemas.openxmlformats.org/officeDocument/2006/relationships" id="2147483662" r:id="R29f417dc040440de"/>
    <p:sldLayoutId xmlns:r="http://schemas.openxmlformats.org/officeDocument/2006/relationships" id="2147483663" r:id="R1109e172b97d4600"/>
    <p:sldLayoutId xmlns:r="http://schemas.openxmlformats.org/officeDocument/2006/relationships" id="2147483664" r:id="Ra26a6e06820442c6"/>
    <p:sldLayoutId xmlns:r="http://schemas.openxmlformats.org/officeDocument/2006/relationships" id="2147483665" r:id="Rc3725bc226ad43d4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41eb542ef44c47" /><Relationship Type="http://schemas.openxmlformats.org/officeDocument/2006/relationships/notesSlide" Target="/ppt/notesSlides/notesSlide1.xml" Id="R39803961c74a4c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cb4fcffc10d44bd" /><Relationship Type="http://schemas.openxmlformats.org/officeDocument/2006/relationships/notesSlide" Target="/ppt/notesSlides/notesSlide2.xml" Id="Re62ee7ac3bf143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101f983e00b483f" /><Relationship Type="http://schemas.openxmlformats.org/officeDocument/2006/relationships/notesSlide" Target="/ppt/notesSlides/notesSlide3.xml" Id="R88800159ee1740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9150fe298d34644" /><Relationship Type="http://schemas.openxmlformats.org/officeDocument/2006/relationships/notesSlide" Target="/ppt/notesSlides/notesSlide4.xml" Id="R2185953c960644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f6eac04cc54a1e" /><Relationship Type="http://schemas.openxmlformats.org/officeDocument/2006/relationships/notesSlide" Target="/ppt/notesSlides/notesSlide5.xml" Id="R095349230c424f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95029ed2db456e" /><Relationship Type="http://schemas.openxmlformats.org/officeDocument/2006/relationships/notesSlide" Target="/ppt/notesSlides/notesSlide6.xml" Id="Rb14eaa22a88944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be2aa90c31f4500" /><Relationship Type="http://schemas.openxmlformats.org/officeDocument/2006/relationships/notesSlide" Target="/ppt/notesSlides/notesSlide7.xml" Id="R57029ce370c341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7f82272a7c524af4" /><Relationship Type="http://schemas.openxmlformats.org/officeDocument/2006/relationships/notesSlide" Target="/ppt/notesSlides/notesSlide8.xml" Id="R786f33cefa1448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8224c670f1646e8" /><Relationship Type="http://schemas.openxmlformats.org/officeDocument/2006/relationships/notesSlide" Target="/ppt/notesSlides/notesSlide9.xml" Id="R790762f847df4f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0388e7f21cb469b" /><Relationship Type="http://schemas.openxmlformats.org/officeDocument/2006/relationships/notesSlide" Target="/ppt/notesSlides/notesSlide10.xml" Id="Re8ea81d0232e43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43fc566873b4690" /><Relationship Type="http://schemas.openxmlformats.org/officeDocument/2006/relationships/chart" Target="/ppt/slides/charts/chart1.xml" Id="R9430e67c5127473d" /><Relationship Type="http://schemas.openxmlformats.org/officeDocument/2006/relationships/chart" Target="/ppt/slides/charts/chart2.xml" Id="R38697a646c8648b0" /><Relationship Type="http://schemas.openxmlformats.org/officeDocument/2006/relationships/notesSlide" Target="/ppt/notesSlides/notesSlide11.xml" Id="Rd2ac71c4cbcf47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7e260a1804a4cb0" /><Relationship Type="http://schemas.openxmlformats.org/officeDocument/2006/relationships/notesSlide" Target="/ppt/notesSlides/notesSlide12.xml" Id="Rb53335d7dfec48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a588f2a6d1548a2" /><Relationship Type="http://schemas.openxmlformats.org/officeDocument/2006/relationships/notesSlide" Target="/ppt/notesSlides/notesSlide13.xml" Id="R96ee5877e20748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b34412343925416b" /><Relationship Type="http://schemas.openxmlformats.org/officeDocument/2006/relationships/notesSlide" Target="/ppt/notesSlides/notesSlide14.xml" Id="Rd8aadd92149f4f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232c6d4523b42d8" /><Relationship Type="http://schemas.openxmlformats.org/officeDocument/2006/relationships/notesSlide" Target="/ppt/notesSlides/notesSlide15.xml" Id="R029912bb4d8f493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本期</c:v>
          </c:tx>
          <c:spPr>
            <a:solidFill xmlns:a="http://schemas.openxmlformats.org/drawingml/2006/main">
              <a:srgbClr val="1C7866"/>
            </a:solidFill>
          </c:spPr>
          <c:cat>
            <c:strLit>
              <c:ptCount val="4"/>
              <c:pt idx="0">
                <c:v>类别 A</c:v>
              </c:pt>
              <c:pt idx="1">
                <c:v>类别 B</c:v>
              </c:pt>
              <c:pt idx="2">
                <c:v>类别 C</c:v>
              </c:pt>
              <c:pt idx="3">
                <c:v>类别 D</c:v>
              </c:pt>
            </c:strLit>
          </c:cat>
          <c:val>
            <c:numLit>
              <c:formatCode>General</c:formatCode>
              <c:ptCount val="4"/>
              <c:pt idx="0">
                <c:v>42</c:v>
              </c:pt>
              <c:pt idx="1">
                <c:v>58</c:v>
              </c:pt>
              <c:pt idx="2">
                <c:v>73</c:v>
              </c:pt>
              <c:pt idx="3">
                <c:v>65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3C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实际</c:v>
          </c:tx>
          <c:spPr>
            <a:ln xmlns:a="http://schemas.openxmlformats.org/drawingml/2006/main" w="28575">
              <a:solidFill>
                <a:srgbClr val="547E89"/>
              </a:solidFill>
            </a:ln>
          </c:spPr>
          <c:marker>
            <c:symbol val="none"/>
          </c:marker>
          <c:cat>
            <c:strLit>
              <c:ptCount val="5"/>
              <c:pt idx="0">
                <c:v>1月</c:v>
              </c:pt>
              <c:pt idx="1">
                <c:v>2月</c:v>
              </c:pt>
              <c:pt idx="2">
                <c:v>3月</c:v>
              </c:pt>
              <c:pt idx="3">
                <c:v>4月</c:v>
              </c:pt>
              <c:pt idx="4">
                <c:v>5月</c:v>
              </c:pt>
            </c:strLit>
          </c:cat>
          <c:val>
            <c:numLit>
              <c:formatCode>General</c:formatCode>
              <c:ptCount val="5"/>
              <c:pt idx="0">
                <c:v>35</c:v>
              </c:pt>
              <c:pt idx="1">
                <c:v>42</c:v>
              </c:pt>
              <c:pt idx="2">
                <c:v>48</c:v>
              </c:pt>
              <c:pt idx="3">
                <c:v>57</c:v>
              </c:pt>
              <c:pt idx="4">
                <c:v>63</c:v>
              </c:pt>
            </c:numLit>
          </c:val>
        </c:ser>
        <c:ser>
          <c:idx val="1"/>
          <c:order val="1"/>
          <c:tx>
            <c:v>目标</c:v>
          </c:tx>
          <c:spPr>
            <a:ln xmlns:a="http://schemas.openxmlformats.org/drawingml/2006/main" w="19050">
              <a:solidFill>
                <a:srgbClr val="BC794D"/>
              </a:solidFill>
            </a:ln>
          </c:spPr>
          <c:marker>
            <c:symbol val="none"/>
          </c:marker>
          <c:cat>
            <c:strLit>
              <c:ptCount val="5"/>
              <c:pt idx="0">
                <c:v>1月</c:v>
              </c:pt>
              <c:pt idx="1">
                <c:v>2月</c:v>
              </c:pt>
              <c:pt idx="2">
                <c:v>3月</c:v>
              </c:pt>
              <c:pt idx="3">
                <c:v>4月</c:v>
              </c:pt>
              <c:pt idx="4">
                <c:v>5月</c:v>
              </c:pt>
            </c:strLit>
          </c:cat>
          <c:val>
            <c:numLit>
              <c:formatCode>General</c:formatCode>
              <c:ptCount val="5"/>
              <c:pt idx="0">
                <c:v>38</c:v>
              </c:pt>
              <c:pt idx="1">
                <c:v>44</c:v>
              </c:pt>
              <c:pt idx="2">
                <c:v>50</c:v>
              </c:pt>
              <c:pt idx="3">
                <c:v>56</c:v>
              </c:pt>
              <c:pt idx="4">
                <c:v>62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3CE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45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light-panel">
            <a:extLst xmlns:a="http://schemas.openxmlformats.org/drawingml/2006/main">
              <a:ext uri="{FF2B5EF4-FFF2-40B4-BE49-F238E27FC236}">
                <a16:creationId xmlns:a16="http://schemas.microsoft.com/office/drawing/2014/main" id="{4D177AE3-AB31-4DBA-B82D-AE98149B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A522438-21A3-44F1-9E26-A144EFDC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CDB2"/>
                </a:solidFill>
              </a:defRPr>
            </a:pPr>
            <a:r>
              <a:rPr sz="975" b="1">
                <a:solidFill>
                  <a:srgbClr val="8CCDB2"/>
                </a:solidFill>
              </a:rPr>
              <a:t>MINT · REPORT SYSTEM V0.2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9D9B770-D127-47EA-9EF6-801F8AC3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19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DF8"/>
                </a:solidFill>
              </a:defRPr>
            </a:pPr>
            <a:r>
              <a:rPr sz="3150" b="1">
                <a:solidFill>
                  <a:srgbClr val="FFFDF8"/>
                </a:solidFill>
              </a:rPr>
              <a:t>Mint 汇报组件母版库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E4A96F9-1CE2-445A-A57B-1931ADA5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CE5"/>
                </a:solidFill>
              </a:defRPr>
            </a:pPr>
            <a:r>
              <a:rPr sz="1500" b="0">
                <a:solidFill>
                  <a:srgbClr val="DCECE5"/>
                </a:solidFill>
              </a:rPr>
              <a:t>从事实和逻辑出发，生成可编辑 PPTX 与互动 HTML</a:t>
            </a:r>
          </a:p>
        </p:txBody>
      </p:sp>
      <p:sp>
        <p:nvSpPr>
          <p:cNvPr id="5" name="rule-70-585">
            <a:extLst xmlns:a="http://schemas.openxmlformats.org/drawingml/2006/main">
              <a:ext uri="{FF2B5EF4-FFF2-40B4-BE49-F238E27FC236}">
                <a16:creationId xmlns:a16="http://schemas.microsoft.com/office/drawing/2014/main" id="{94CC6CD0-E737-42E5-9E4E-D9D39A47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86A9DF0F-70A3-4041-B7F8-7AC1F1EB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CCDB2"/>
                </a:solidFill>
              </a:defRPr>
            </a:pPr>
            <a:r>
              <a:rPr sz="900" b="1">
                <a:solidFill>
                  <a:srgbClr val="8CCDB2"/>
                </a:solidFill>
              </a:rPr>
              <a:t>16:9  ·  中文管理层材料  ·  2026.08</a:t>
            </a:r>
          </a:p>
        </p:txBody>
      </p:sp>
      <p:sp>
        <p:nvSpPr>
          <p:cNvPr id="7" name="arc-0">
            <a:extLst xmlns:a="http://schemas.openxmlformats.org/drawingml/2006/main">
              <a:ext uri="{FF2B5EF4-FFF2-40B4-BE49-F238E27FC236}">
                <a16:creationId xmlns:a16="http://schemas.microsoft.com/office/drawing/2014/main" id="{79DC80AC-F925-4571-AC40-3E52ADE4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CDB2"/>
            </a:solidFill>
            <a:prstDash val="solid"/>
          </a:ln>
        </p:spPr>
      </p:sp>
      <p:sp>
        <p:nvSpPr>
          <p:cNvPr id="8" name="arc-1">
            <a:extLst xmlns:a="http://schemas.openxmlformats.org/drawingml/2006/main">
              <a:ext uri="{FF2B5EF4-FFF2-40B4-BE49-F238E27FC236}">
                <a16:creationId xmlns:a16="http://schemas.microsoft.com/office/drawing/2014/main" id="{EBBBA300-8069-4727-8B62-20EB66F8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85950"/>
            <a:ext cx="2686050" cy="2686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794D"/>
            </a:solidFill>
            <a:prstDash val="solid"/>
          </a:ln>
        </p:spPr>
      </p:sp>
      <p:sp>
        <p:nvSpPr>
          <p:cNvPr id="9" name="arc-2">
            <a:extLst xmlns:a="http://schemas.openxmlformats.org/drawingml/2006/main">
              <a:ext uri="{FF2B5EF4-FFF2-40B4-BE49-F238E27FC236}">
                <a16:creationId xmlns:a16="http://schemas.microsoft.com/office/drawing/2014/main" id="{7948B4D5-7F53-4EB1-905F-F1732FB0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43150"/>
            <a:ext cx="2514600" cy="2514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47E89"/>
            </a:solidFill>
            <a:prstDash val="solid"/>
          </a:ln>
        </p:spPr>
      </p:sp>
      <p:sp>
        <p:nvSpPr>
          <p:cNvPr id="10" name="arc-3">
            <a:extLst xmlns:a="http://schemas.openxmlformats.org/drawingml/2006/main">
              <a:ext uri="{FF2B5EF4-FFF2-40B4-BE49-F238E27FC236}">
                <a16:creationId xmlns:a16="http://schemas.microsoft.com/office/drawing/2014/main" id="{B8AC17BD-8356-4502-BABE-9AE09F64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00350"/>
            <a:ext cx="2343150" cy="234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-mark">
            <a:extLst xmlns:a="http://schemas.openxmlformats.org/drawingml/2006/main">
              <a:ext uri="{FF2B5EF4-FFF2-40B4-BE49-F238E27FC236}">
                <a16:creationId xmlns:a16="http://schemas.microsoft.com/office/drawing/2014/main" id="{CB1177D9-48E4-436C-BD8F-35C3C74C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FFFDF8"/>
                </a:solidFill>
              </a:defRPr>
            </a:pPr>
            <a:r>
              <a:rPr sz="4500" b="1">
                <a:solidFill>
                  <a:srgbClr val="FFFDF8"/>
                </a:solidFill>
              </a:rPr>
              <a:t>M</a:t>
            </a:r>
          </a:p>
        </p:txBody>
      </p:sp>
      <p:sp>
        <p:nvSpPr>
          <p:cNvPr id="12" name="cover-brand">
            <a:extLst xmlns:a="http://schemas.openxmlformats.org/drawingml/2006/main">
              <a:ext uri="{FF2B5EF4-FFF2-40B4-BE49-F238E27FC236}">
                <a16:creationId xmlns:a16="http://schemas.microsoft.com/office/drawing/2014/main" id="{B6E62735-2727-4361-BDA6-970D0D5E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2388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2B879"/>
                </a:solidFill>
              </a:defRPr>
            </a:pPr>
            <a:r>
              <a:rPr sz="1350" b="1">
                <a:solidFill>
                  <a:srgbClr val="42B879"/>
                </a:solidFill>
              </a:rPr>
              <a:t>mint</a:t>
            </a:r>
          </a:p>
        </p:txBody>
      </p:sp>
    </p:spTree>
    <p:extLst>
      <p:ext uri="{BB962C8B-B14F-4D97-AF65-F5344CB8AC3E}">
        <p14:creationId xmlns:p14="http://schemas.microsoft.com/office/powerpoint/2010/main" val="1947416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ule-60-45">
            <a:extLst xmlns:a="http://schemas.openxmlformats.org/drawingml/2006/main">
              <a:ext uri="{FF2B5EF4-FFF2-40B4-BE49-F238E27FC236}">
                <a16:creationId xmlns:a16="http://schemas.microsoft.com/office/drawing/2014/main" id="{41BA48DA-D648-48A1-AFDF-8466CBFE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accent">
            <a:extLst xmlns:a="http://schemas.openxmlformats.org/drawingml/2006/main">
              <a:ext uri="{FF2B5EF4-FFF2-40B4-BE49-F238E27FC236}">
                <a16:creationId xmlns:a16="http://schemas.microsoft.com/office/drawing/2014/main" id="{7057432D-D34D-4B09-9A8C-C4064535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7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hapter">
            <a:extLst xmlns:a="http://schemas.openxmlformats.org/drawingml/2006/main">
              <a:ext uri="{FF2B5EF4-FFF2-40B4-BE49-F238E27FC236}">
                <a16:creationId xmlns:a16="http://schemas.microsoft.com/office/drawing/2014/main" id="{2D9ABA10-31CF-47EA-BF44-AB0F8850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C7866"/>
                </a:solidFill>
              </a:defRPr>
            </a:pPr>
            <a:r>
              <a:rPr sz="900" b="1">
                <a:solidFill>
                  <a:srgbClr val="1C7866"/>
                </a:solidFill>
              </a:rPr>
              <a:t>管理层总览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DDF1F4-A206-466A-A41C-4CF2F56A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71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66F"/>
                </a:solidFill>
              </a:defRPr>
            </a:pPr>
            <a:r>
              <a:rPr sz="825" b="1">
                <a:solidFill>
                  <a:srgbClr val="69766F"/>
                </a:solidFill>
              </a:rPr>
              <a:t>02</a:t>
            </a:r>
          </a:p>
        </p:txBody>
      </p:sp>
      <p:sp>
        <p:nvSpPr>
          <p:cNvPr id="5" name="rule-60-674">
            <a:extLst xmlns:a="http://schemas.openxmlformats.org/drawingml/2006/main">
              <a:ext uri="{FF2B5EF4-FFF2-40B4-BE49-F238E27FC236}">
                <a16:creationId xmlns:a16="http://schemas.microsoft.com/office/drawing/2014/main" id="{15B0F70F-B888-4EFB-9716-37B854F5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9FD30889-D2CD-4A92-9D04-6B02554B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B879"/>
                </a:solidFill>
              </a:defRPr>
            </a:pPr>
            <a:r>
              <a:rPr sz="1200" b="1">
                <a:solidFill>
                  <a:srgbClr val="42B879"/>
                </a:solidFill>
              </a:rPr>
              <a:t>mint</a:t>
            </a:r>
          </a:p>
        </p:txBody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323C3EE6-6AD5-410F-9E0C-6C515701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77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来源：组件母版示例，生成材料时替换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2D28C11-9075-45BE-A112-42EE68EB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02 / 15</a:t>
            </a:r>
          </a:p>
        </p:txBody>
      </p:sp>
      <p:sp>
        <p:nvSpPr>
          <p:cNvPr id="9" name="page-title">
            <a:extLst xmlns:a="http://schemas.openxmlformats.org/drawingml/2006/main">
              <a:ext uri="{FF2B5EF4-FFF2-40B4-BE49-F238E27FC236}">
                <a16:creationId xmlns:a16="http://schemas.microsoft.com/office/drawing/2014/main" id="{2304AB21-28AA-4CAC-9DFE-2D4A6C89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A24"/>
                </a:solidFill>
              </a:defRPr>
            </a:pPr>
            <a:r>
              <a:rPr sz="2250" b="1">
                <a:solidFill>
                  <a:srgbClr val="162A24"/>
                </a:solidFill>
              </a:rPr>
              <a:t>一个页面回答：判断、证据、风险与行动</a:t>
            </a:r>
          </a:p>
        </p:txBody>
      </p:sp>
      <p:sp>
        <p:nvSpPr>
          <p:cNvPr id="10" name="page-lead">
            <a:extLst xmlns:a="http://schemas.openxmlformats.org/drawingml/2006/main">
              <a:ext uri="{FF2B5EF4-FFF2-40B4-BE49-F238E27FC236}">
                <a16:creationId xmlns:a16="http://schemas.microsoft.com/office/drawing/2014/main" id="{061DE304-B577-4002-B98F-CBE892F9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用于复杂材料的管理层首屏，不把内容拆成低密度卡片。</a:t>
            </a:r>
          </a:p>
        </p:txBody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A8AEE87A-ECFC-452F-9A55-30875E7D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762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bel-88-210">
            <a:extLst xmlns:a="http://schemas.openxmlformats.org/drawingml/2006/main">
              <a:ext uri="{FF2B5EF4-FFF2-40B4-BE49-F238E27FC236}">
                <a16:creationId xmlns:a16="http://schemas.microsoft.com/office/drawing/2014/main" id="{6FF32435-62FE-4913-B6AA-6ABB6CC8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CCDB2"/>
                </a:solidFill>
              </a:defRPr>
            </a:pPr>
            <a:r>
              <a:rPr sz="750" b="1">
                <a:solidFill>
                  <a:srgbClr val="8CCDB2"/>
                </a:solidFill>
              </a:rPr>
              <a:t>核心判断</a:t>
            </a:r>
          </a:p>
        </p:txBody>
      </p:sp>
      <p:sp>
        <p:nvSpPr>
          <p:cNvPr id="13" name="takeaway-copy">
            <a:extLst xmlns:a="http://schemas.openxmlformats.org/drawingml/2006/main">
              <a:ext uri="{FF2B5EF4-FFF2-40B4-BE49-F238E27FC236}">
                <a16:creationId xmlns:a16="http://schemas.microsoft.com/office/drawing/2014/main" id="{EA60CF12-64E6-4C27-9932-B47C99B8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DF8"/>
                </a:solidFill>
              </a:defRPr>
            </a:pPr>
            <a:r>
              <a:rPr sz="2025" b="1">
                <a:solidFill>
                  <a:srgbClr val="FFFDF8"/>
                </a:solidFill>
              </a:rPr>
              <a:t>在事实边界内形成一条可推动决策的管理层判断</a:t>
            </a:r>
          </a:p>
        </p:txBody>
      </p:sp>
      <p:sp>
        <p:nvSpPr>
          <p:cNvPr id="14" name="evidence-bg">
            <a:extLst xmlns:a="http://schemas.openxmlformats.org/drawingml/2006/main">
              <a:ext uri="{FF2B5EF4-FFF2-40B4-BE49-F238E27FC236}">
                <a16:creationId xmlns:a16="http://schemas.microsoft.com/office/drawing/2014/main" id="{98FFFE16-E67D-41C4-B0C2-E414C2C8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2857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15" name="evidence-accent">
            <a:extLst xmlns:a="http://schemas.openxmlformats.org/drawingml/2006/main">
              <a:ext uri="{FF2B5EF4-FFF2-40B4-BE49-F238E27FC236}">
                <a16:creationId xmlns:a16="http://schemas.microsoft.com/office/drawing/2014/main" id="{31B5FF1E-C65D-4EFF-A076-7B103DA5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D9DCB01B-FA98-4CEE-89C1-8BED7938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621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A24"/>
                </a:solidFill>
              </a:defRPr>
            </a:pPr>
            <a:r>
              <a:rPr sz="1350" b="1">
                <a:solidFill>
                  <a:srgbClr val="162A24"/>
                </a:solidFill>
              </a:rPr>
              <a:t>证据</a:t>
            </a:r>
          </a:p>
        </p:txBody>
      </p:sp>
      <p:sp>
        <p:nvSpPr>
          <p:cNvPr id="17" name="evidence-detail">
            <a:extLst xmlns:a="http://schemas.openxmlformats.org/drawingml/2006/main">
              <a:ext uri="{FF2B5EF4-FFF2-40B4-BE49-F238E27FC236}">
                <a16:creationId xmlns:a16="http://schemas.microsoft.com/office/drawing/2014/main" id="{0940D02D-38E0-4A35-8B85-509D8FC8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24100"/>
            <a:ext cx="24384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列出支撑判断的事实、数字与来源，不混入假设。</a:t>
            </a:r>
          </a:p>
        </p:txBody>
      </p:sp>
      <p:sp>
        <p:nvSpPr>
          <p:cNvPr id="18" name="risk-bg">
            <a:extLst xmlns:a="http://schemas.openxmlformats.org/drawingml/2006/main">
              <a:ext uri="{FF2B5EF4-FFF2-40B4-BE49-F238E27FC236}">
                <a16:creationId xmlns:a16="http://schemas.microsoft.com/office/drawing/2014/main" id="{A90CDDEA-BFEF-4674-8EF2-4F8F1A48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857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19" name="risk-accent">
            <a:extLst xmlns:a="http://schemas.openxmlformats.org/drawingml/2006/main">
              <a:ext uri="{FF2B5EF4-FFF2-40B4-BE49-F238E27FC236}">
                <a16:creationId xmlns:a16="http://schemas.microsoft.com/office/drawing/2014/main" id="{5E2DF90C-A92A-4EC2-9562-19E6610A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7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isk-title">
            <a:extLst xmlns:a="http://schemas.openxmlformats.org/drawingml/2006/main">
              <a:ext uri="{FF2B5EF4-FFF2-40B4-BE49-F238E27FC236}">
                <a16:creationId xmlns:a16="http://schemas.microsoft.com/office/drawing/2014/main" id="{569A3EAE-AC99-49D8-96FA-9938D360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621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A24"/>
                </a:solidFill>
              </a:defRPr>
            </a:pPr>
            <a:r>
              <a:rPr sz="1350" b="1">
                <a:solidFill>
                  <a:srgbClr val="162A24"/>
                </a:solidFill>
              </a:rPr>
              <a:t>风险</a:t>
            </a:r>
          </a:p>
        </p:txBody>
      </p:sp>
      <p:sp>
        <p:nvSpPr>
          <p:cNvPr id="21" name="risk-detail">
            <a:extLst xmlns:a="http://schemas.openxmlformats.org/drawingml/2006/main">
              <a:ext uri="{FF2B5EF4-FFF2-40B4-BE49-F238E27FC236}">
                <a16:creationId xmlns:a16="http://schemas.microsoft.com/office/drawing/2014/main" id="{F2F06D77-3AEB-47C9-A936-0B3CA632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24100"/>
            <a:ext cx="24384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只显示需要管理层看见的限制和影响。</a:t>
            </a:r>
          </a:p>
        </p:txBody>
      </p:sp>
      <p:sp>
        <p:nvSpPr>
          <p:cNvPr id="22" name="action-bg">
            <a:extLst xmlns:a="http://schemas.openxmlformats.org/drawingml/2006/main">
              <a:ext uri="{FF2B5EF4-FFF2-40B4-BE49-F238E27FC236}">
                <a16:creationId xmlns:a16="http://schemas.microsoft.com/office/drawing/2014/main" id="{D9CE3BFD-44AA-4EAC-8240-B50318F4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3" name="action-accent">
            <a:extLst xmlns:a="http://schemas.openxmlformats.org/drawingml/2006/main">
              <a:ext uri="{FF2B5EF4-FFF2-40B4-BE49-F238E27FC236}">
                <a16:creationId xmlns:a16="http://schemas.microsoft.com/office/drawing/2014/main" id="{E44CA12B-5BC7-438D-9D8B-1057DB7E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E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A5DEBA82-A095-4598-BFED-83D19882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A24"/>
                </a:solidFill>
              </a:defRPr>
            </a:pPr>
            <a:r>
              <a:rPr sz="1350" b="1">
                <a:solidFill>
                  <a:srgbClr val="162A24"/>
                </a:solidFill>
              </a:rPr>
              <a:t>下一步行动</a:t>
            </a:r>
          </a:p>
        </p:txBody>
      </p:sp>
      <p:sp>
        <p:nvSpPr>
          <p:cNvPr id="25" name="action-detail">
            <a:extLst xmlns:a="http://schemas.openxmlformats.org/drawingml/2006/main">
              <a:ext uri="{FF2B5EF4-FFF2-40B4-BE49-F238E27FC236}">
                <a16:creationId xmlns:a16="http://schemas.microsoft.com/office/drawing/2014/main" id="{D65C3A02-CEFE-4641-B596-17791548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106299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动作一：明确 Owner 与时间    ·    动作二：补齐关键证据    ·    动作三：形成可验证交付</a:t>
            </a:r>
          </a:p>
        </p:txBody>
      </p:sp>
    </p:spTree>
    <p:extLst>
      <p:ext uri="{BB962C8B-B14F-4D97-AF65-F5344CB8AC3E}">
        <p14:creationId xmlns:p14="http://schemas.microsoft.com/office/powerpoint/2010/main" val="1218452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rule-60-45">
            <a:extLst xmlns:a="http://schemas.openxmlformats.org/drawingml/2006/main">
              <a:ext uri="{FF2B5EF4-FFF2-40B4-BE49-F238E27FC236}">
                <a16:creationId xmlns:a16="http://schemas.microsoft.com/office/drawing/2014/main" id="{DA1DA7E8-3D27-48DF-82D0-DA643562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accent">
            <a:extLst xmlns:a="http://schemas.openxmlformats.org/drawingml/2006/main">
              <a:ext uri="{FF2B5EF4-FFF2-40B4-BE49-F238E27FC236}">
                <a16:creationId xmlns:a16="http://schemas.microsoft.com/office/drawing/2014/main" id="{F58D019B-FBAA-4343-A116-84971059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7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hapter">
            <a:extLst xmlns:a="http://schemas.openxmlformats.org/drawingml/2006/main">
              <a:ext uri="{FF2B5EF4-FFF2-40B4-BE49-F238E27FC236}">
                <a16:creationId xmlns:a16="http://schemas.microsoft.com/office/drawing/2014/main" id="{C75E2868-09F3-4F64-99C7-C349F84D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C7866"/>
                </a:solidFill>
              </a:defRPr>
            </a:pPr>
            <a:r>
              <a:rPr sz="900" b="1">
                <a:solidFill>
                  <a:srgbClr val="1C7866"/>
                </a:solidFill>
              </a:rPr>
              <a:t>合作架构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9893E9-C432-4039-91F0-000C07F0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71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66F"/>
                </a:solidFill>
              </a:defRPr>
            </a:pPr>
            <a:r>
              <a:rPr sz="825" b="1">
                <a:solidFill>
                  <a:srgbClr val="69766F"/>
                </a:solidFill>
              </a:rPr>
              <a:t>03</a:t>
            </a:r>
          </a:p>
        </p:txBody>
      </p:sp>
      <p:sp>
        <p:nvSpPr>
          <p:cNvPr id="5" name="rule-60-674">
            <a:extLst xmlns:a="http://schemas.openxmlformats.org/drawingml/2006/main">
              <a:ext uri="{FF2B5EF4-FFF2-40B4-BE49-F238E27FC236}">
                <a16:creationId xmlns:a16="http://schemas.microsoft.com/office/drawing/2014/main" id="{8DFBD356-1626-4D7A-9998-5B1CE220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BC89DA5A-4805-44F5-952E-91CCDAAB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B879"/>
                </a:solidFill>
              </a:defRPr>
            </a:pPr>
            <a:r>
              <a:rPr sz="1200" b="1">
                <a:solidFill>
                  <a:srgbClr val="42B879"/>
                </a:solidFill>
              </a:rPr>
              <a:t>mint</a:t>
            </a:r>
          </a:p>
        </p:txBody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35FA2576-FD18-4F4B-B10C-74FD6A3F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77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来源：组件母版示例，生成材料时替换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C1DCD68-2364-43DA-A0C1-2938A641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03 / 15</a:t>
            </a:r>
          </a:p>
        </p:txBody>
      </p:sp>
      <p:sp>
        <p:nvSpPr>
          <p:cNvPr id="9" name="page-title">
            <a:extLst xmlns:a="http://schemas.openxmlformats.org/drawingml/2006/main">
              <a:ext uri="{FF2B5EF4-FFF2-40B4-BE49-F238E27FC236}">
                <a16:creationId xmlns:a16="http://schemas.microsoft.com/office/drawing/2014/main" id="{8AF2BE44-3A7A-476E-BF4B-B7398AEA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A24"/>
                </a:solidFill>
              </a:defRPr>
            </a:pPr>
            <a:r>
              <a:rPr sz="2250" b="1">
                <a:solidFill>
                  <a:srgbClr val="162A24"/>
                </a:solidFill>
              </a:rPr>
              <a:t>合作由客户入口、能力协同与银行承接三层组成</a:t>
            </a:r>
          </a:p>
        </p:txBody>
      </p:sp>
      <p:sp>
        <p:nvSpPr>
          <p:cNvPr id="10" name="page-lead">
            <a:extLst xmlns:a="http://schemas.openxmlformats.org/drawingml/2006/main">
              <a:ext uri="{FF2B5EF4-FFF2-40B4-BE49-F238E27FC236}">
                <a16:creationId xmlns:a16="http://schemas.microsoft.com/office/drawing/2014/main" id="{A06EED62-5E37-4310-A261-DD638B7F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只展示来源提供的主体和关系，不为填版式补写产出。</a:t>
            </a:r>
          </a:p>
        </p:txBody>
      </p:sp>
      <p:sp>
        <p:nvSpPr>
          <p:cNvPr id="11" name="layer-0">
            <a:extLst xmlns:a="http://schemas.openxmlformats.org/drawingml/2006/main">
              <a:ext uri="{FF2B5EF4-FFF2-40B4-BE49-F238E27FC236}">
                <a16:creationId xmlns:a16="http://schemas.microsoft.com/office/drawing/2014/main" id="{5A4D058C-B687-4409-BE97-CD5DA514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11049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12" name="layer-accent-0">
            <a:extLst xmlns:a="http://schemas.openxmlformats.org/drawingml/2006/main">
              <a:ext uri="{FF2B5EF4-FFF2-40B4-BE49-F238E27FC236}">
                <a16:creationId xmlns:a16="http://schemas.microsoft.com/office/drawing/2014/main" id="{E6118302-8E14-4A4C-B00D-74C1013D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666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7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ayer-no-0">
            <a:extLst xmlns:a="http://schemas.openxmlformats.org/drawingml/2006/main">
              <a:ext uri="{FF2B5EF4-FFF2-40B4-BE49-F238E27FC236}">
                <a16:creationId xmlns:a16="http://schemas.microsoft.com/office/drawing/2014/main" id="{D478E133-02AB-4047-A38B-B09B55DB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288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C794D"/>
                </a:solidFill>
              </a:defRPr>
            </a:pPr>
            <a:r>
              <a:rPr sz="975" b="1">
                <a:solidFill>
                  <a:srgbClr val="BC794D"/>
                </a:solidFill>
              </a:rPr>
              <a:t>01</a:t>
            </a:r>
          </a:p>
        </p:txBody>
      </p:sp>
      <p:sp>
        <p:nvSpPr>
          <p:cNvPr id="14" name="layer-name-0">
            <a:extLst xmlns:a="http://schemas.openxmlformats.org/drawingml/2006/main">
              <a:ext uri="{FF2B5EF4-FFF2-40B4-BE49-F238E27FC236}">
                <a16:creationId xmlns:a16="http://schemas.microsoft.com/office/drawing/2014/main" id="{EDBDB60F-408B-4A08-B089-6A742E6D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A24"/>
                </a:solidFill>
              </a:defRPr>
            </a:pPr>
            <a:r>
              <a:rPr sz="1650" b="1">
                <a:solidFill>
                  <a:srgbClr val="162A24"/>
                </a:solidFill>
              </a:rPr>
              <a:t>前台</a:t>
            </a:r>
          </a:p>
        </p:txBody>
      </p:sp>
      <p:sp>
        <p:nvSpPr>
          <p:cNvPr id="15" name="layer-role-0">
            <a:extLst xmlns:a="http://schemas.openxmlformats.org/drawingml/2006/main">
              <a:ext uri="{FF2B5EF4-FFF2-40B4-BE49-F238E27FC236}">
                <a16:creationId xmlns:a16="http://schemas.microsoft.com/office/drawing/2014/main" id="{4DEBA523-9D53-4F0C-822E-5A974508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81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66F"/>
                </a:solidFill>
              </a:defRPr>
            </a:pPr>
            <a:r>
              <a:rPr sz="825" b="0">
                <a:solidFill>
                  <a:srgbClr val="69766F"/>
                </a:solidFill>
              </a:rPr>
              <a:t>客户入口</a:t>
            </a:r>
          </a:p>
        </p:txBody>
      </p:sp>
      <p:sp>
        <p:nvSpPr>
          <p:cNvPr id="16" name="entity-a-0-bg">
            <a:extLst xmlns:a="http://schemas.openxmlformats.org/drawingml/2006/main">
              <a:ext uri="{FF2B5EF4-FFF2-40B4-BE49-F238E27FC236}">
                <a16:creationId xmlns:a16="http://schemas.microsoft.com/office/drawing/2014/main" id="{0330FC13-30FE-49C9-932E-705E12B6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9775"/>
            <a:ext cx="381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17" name="entity-a-0-accent">
            <a:extLst xmlns:a="http://schemas.openxmlformats.org/drawingml/2006/main">
              <a:ext uri="{FF2B5EF4-FFF2-40B4-BE49-F238E27FC236}">
                <a16:creationId xmlns:a16="http://schemas.microsoft.com/office/drawing/2014/main" id="{86A8D0F7-F8D5-4101-BAEA-AF50D07A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977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7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ntity-a-0-title">
            <a:extLst xmlns:a="http://schemas.openxmlformats.org/drawingml/2006/main">
              <a:ext uri="{FF2B5EF4-FFF2-40B4-BE49-F238E27FC236}">
                <a16:creationId xmlns:a16="http://schemas.microsoft.com/office/drawing/2014/main" id="{86BB4D45-B98E-4843-909A-67380359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62175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A24"/>
                </a:solidFill>
              </a:defRPr>
            </a:pPr>
            <a:r>
              <a:rPr sz="1350" b="1">
                <a:solidFill>
                  <a:srgbClr val="162A24"/>
                </a:solidFill>
              </a:rPr>
              <a:t>M-PESA</a:t>
            </a:r>
          </a:p>
        </p:txBody>
      </p:sp>
      <p:sp>
        <p:nvSpPr>
          <p:cNvPr id="19" name="entity-a-0-detail">
            <a:extLst xmlns:a="http://schemas.openxmlformats.org/drawingml/2006/main">
              <a:ext uri="{FF2B5EF4-FFF2-40B4-BE49-F238E27FC236}">
                <a16:creationId xmlns:a16="http://schemas.microsoft.com/office/drawing/2014/main" id="{1AD648D8-1CF6-4A21-AC92-27473AC0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24125"/>
            <a:ext cx="3390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移动支付入口</a:t>
            </a:r>
          </a:p>
        </p:txBody>
      </p:sp>
      <p:sp>
        <p:nvSpPr>
          <p:cNvPr id="20" name="entity-b-0-bg">
            <a:extLst xmlns:a="http://schemas.openxmlformats.org/drawingml/2006/main">
              <a:ext uri="{FF2B5EF4-FFF2-40B4-BE49-F238E27FC236}">
                <a16:creationId xmlns:a16="http://schemas.microsoft.com/office/drawing/2014/main" id="{E55B2028-59E9-4A10-908D-6B62D4B2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09775"/>
            <a:ext cx="428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1" name="entity-b-0-accent">
            <a:extLst xmlns:a="http://schemas.openxmlformats.org/drawingml/2006/main">
              <a:ext uri="{FF2B5EF4-FFF2-40B4-BE49-F238E27FC236}">
                <a16:creationId xmlns:a16="http://schemas.microsoft.com/office/drawing/2014/main" id="{9CC4A31D-BF9F-460B-B8BF-CF44F26D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0977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7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entity-b-0-title">
            <a:extLst xmlns:a="http://schemas.openxmlformats.org/drawingml/2006/main">
              <a:ext uri="{FF2B5EF4-FFF2-40B4-BE49-F238E27FC236}">
                <a16:creationId xmlns:a16="http://schemas.microsoft.com/office/drawing/2014/main" id="{C17B7003-2A41-45B2-93DC-C65F1872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62175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A24"/>
                </a:solidFill>
              </a:defRPr>
            </a:pPr>
            <a:r>
              <a:rPr sz="1350" b="1">
                <a:solidFill>
                  <a:srgbClr val="162A24"/>
                </a:solidFill>
              </a:rPr>
              <a:t>Mint APP</a:t>
            </a:r>
          </a:p>
        </p:txBody>
      </p:sp>
      <p:sp>
        <p:nvSpPr>
          <p:cNvPr id="23" name="entity-b-0-detail">
            <a:extLst xmlns:a="http://schemas.openxmlformats.org/drawingml/2006/main">
              <a:ext uri="{FF2B5EF4-FFF2-40B4-BE49-F238E27FC236}">
                <a16:creationId xmlns:a16="http://schemas.microsoft.com/office/drawing/2014/main" id="{FD039646-68D5-4D61-83C8-2A19959B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24125"/>
            <a:ext cx="3867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Mint 用户入口</a:t>
            </a:r>
          </a:p>
        </p:txBody>
      </p:sp>
      <p:sp>
        <p:nvSpPr>
          <p:cNvPr id="24" name="layer-1">
            <a:extLst xmlns:a="http://schemas.openxmlformats.org/drawingml/2006/main">
              <a:ext uri="{FF2B5EF4-FFF2-40B4-BE49-F238E27FC236}">
                <a16:creationId xmlns:a16="http://schemas.microsoft.com/office/drawing/2014/main" id="{397ACF89-96BB-4FE9-8986-AA454A32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11049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5" name="layer-accent-1">
            <a:extLst xmlns:a="http://schemas.openxmlformats.org/drawingml/2006/main">
              <a:ext uri="{FF2B5EF4-FFF2-40B4-BE49-F238E27FC236}">
                <a16:creationId xmlns:a16="http://schemas.microsoft.com/office/drawing/2014/main" id="{3B35516C-88C0-437B-BD39-19FF1F9B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666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ayer-no-1">
            <a:extLst xmlns:a="http://schemas.openxmlformats.org/drawingml/2006/main">
              <a:ext uri="{FF2B5EF4-FFF2-40B4-BE49-F238E27FC236}">
                <a16:creationId xmlns:a16="http://schemas.microsoft.com/office/drawing/2014/main" id="{F0A5F96C-308F-4ED3-BFC3-4FF17987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866"/>
                </a:solidFill>
              </a:defRPr>
            </a:pPr>
            <a:r>
              <a:rPr sz="975" b="1">
                <a:solidFill>
                  <a:srgbClr val="1C7866"/>
                </a:solidFill>
              </a:rPr>
              <a:t>02</a:t>
            </a:r>
          </a:p>
        </p:txBody>
      </p:sp>
      <p:sp>
        <p:nvSpPr>
          <p:cNvPr id="27" name="layer-name-1">
            <a:extLst xmlns:a="http://schemas.openxmlformats.org/drawingml/2006/main">
              <a:ext uri="{FF2B5EF4-FFF2-40B4-BE49-F238E27FC236}">
                <a16:creationId xmlns:a16="http://schemas.microsoft.com/office/drawing/2014/main" id="{FA7F4B30-32DA-4198-882E-5FC149BF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670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A24"/>
                </a:solidFill>
              </a:defRPr>
            </a:pPr>
            <a:r>
              <a:rPr sz="1650" b="1">
                <a:solidFill>
                  <a:srgbClr val="162A24"/>
                </a:solidFill>
              </a:rPr>
              <a:t>中台</a:t>
            </a:r>
          </a:p>
        </p:txBody>
      </p:sp>
      <p:sp>
        <p:nvSpPr>
          <p:cNvPr id="28" name="layer-role-1">
            <a:extLst xmlns:a="http://schemas.openxmlformats.org/drawingml/2006/main">
              <a:ext uri="{FF2B5EF4-FFF2-40B4-BE49-F238E27FC236}">
                <a16:creationId xmlns:a16="http://schemas.microsoft.com/office/drawing/2014/main" id="{EE6FCA86-927F-48C3-9C35-CEA40E92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480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66F"/>
                </a:solidFill>
              </a:defRPr>
            </a:pPr>
            <a:r>
              <a:rPr sz="825" b="0">
                <a:solidFill>
                  <a:srgbClr val="69766F"/>
                </a:solidFill>
              </a:rPr>
              <a:t>流量与风险能力</a:t>
            </a:r>
          </a:p>
        </p:txBody>
      </p:sp>
      <p:sp>
        <p:nvSpPr>
          <p:cNvPr id="29" name="entity-a-1-bg">
            <a:extLst xmlns:a="http://schemas.openxmlformats.org/drawingml/2006/main">
              <a:ext uri="{FF2B5EF4-FFF2-40B4-BE49-F238E27FC236}">
                <a16:creationId xmlns:a16="http://schemas.microsoft.com/office/drawing/2014/main" id="{629D61E9-BBE4-49CD-87AD-7668B51F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76600"/>
            <a:ext cx="381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30" name="entity-a-1-accent">
            <a:extLst xmlns:a="http://schemas.openxmlformats.org/drawingml/2006/main">
              <a:ext uri="{FF2B5EF4-FFF2-40B4-BE49-F238E27FC236}">
                <a16:creationId xmlns:a16="http://schemas.microsoft.com/office/drawing/2014/main" id="{F46AD113-F3B3-42B4-8C88-ED870F90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766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entity-a-1-title">
            <a:extLst xmlns:a="http://schemas.openxmlformats.org/drawingml/2006/main">
              <a:ext uri="{FF2B5EF4-FFF2-40B4-BE49-F238E27FC236}">
                <a16:creationId xmlns:a16="http://schemas.microsoft.com/office/drawing/2014/main" id="{EA04D37C-F8C5-43F7-9CD1-B610FCCC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290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A24"/>
                </a:solidFill>
              </a:defRPr>
            </a:pPr>
            <a:r>
              <a:rPr sz="1350" b="1">
                <a:solidFill>
                  <a:srgbClr val="162A24"/>
                </a:solidFill>
              </a:rPr>
              <a:t>M-PESA / Transsion</a:t>
            </a:r>
          </a:p>
        </p:txBody>
      </p:sp>
      <p:sp>
        <p:nvSpPr>
          <p:cNvPr id="32" name="entity-a-1-detail">
            <a:extLst xmlns:a="http://schemas.openxmlformats.org/drawingml/2006/main">
              <a:ext uri="{FF2B5EF4-FFF2-40B4-BE49-F238E27FC236}">
                <a16:creationId xmlns:a16="http://schemas.microsoft.com/office/drawing/2014/main" id="{1B3480BA-E4DF-412B-BAE0-56C918D0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3390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提供流量</a:t>
            </a:r>
          </a:p>
        </p:txBody>
      </p:sp>
      <p:sp>
        <p:nvSpPr>
          <p:cNvPr id="33" name="entity-b-1-bg">
            <a:extLst xmlns:a="http://schemas.openxmlformats.org/drawingml/2006/main">
              <a:ext uri="{FF2B5EF4-FFF2-40B4-BE49-F238E27FC236}">
                <a16:creationId xmlns:a16="http://schemas.microsoft.com/office/drawing/2014/main" id="{3BACF317-93E7-43D2-AFAB-B6F65A95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428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34" name="entity-b-1-accent">
            <a:extLst xmlns:a="http://schemas.openxmlformats.org/drawingml/2006/main">
              <a:ext uri="{FF2B5EF4-FFF2-40B4-BE49-F238E27FC236}">
                <a16:creationId xmlns:a16="http://schemas.microsoft.com/office/drawing/2014/main" id="{5F920BB9-2A1A-408F-8567-4A21517F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entity-b-1-title">
            <a:extLst xmlns:a="http://schemas.openxmlformats.org/drawingml/2006/main">
              <a:ext uri="{FF2B5EF4-FFF2-40B4-BE49-F238E27FC236}">
                <a16:creationId xmlns:a16="http://schemas.microsoft.com/office/drawing/2014/main" id="{B58AE302-7602-4EC5-B738-0ED43D55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2900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A24"/>
                </a:solidFill>
              </a:defRPr>
            </a:pPr>
            <a:r>
              <a:rPr sz="1350" b="1">
                <a:solidFill>
                  <a:srgbClr val="162A24"/>
                </a:solidFill>
              </a:rPr>
              <a:t>微众</a:t>
            </a:r>
          </a:p>
        </p:txBody>
      </p:sp>
      <p:sp>
        <p:nvSpPr>
          <p:cNvPr id="36" name="entity-b-1-detail">
            <a:extLst xmlns:a="http://schemas.openxmlformats.org/drawingml/2006/main">
              <a:ext uri="{FF2B5EF4-FFF2-40B4-BE49-F238E27FC236}">
                <a16:creationId xmlns:a16="http://schemas.microsoft.com/office/drawing/2014/main" id="{AE397EB9-BB03-43DA-80CA-E032C579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90950"/>
            <a:ext cx="3867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提供风险能力</a:t>
            </a:r>
          </a:p>
        </p:txBody>
      </p:sp>
      <p:sp>
        <p:nvSpPr>
          <p:cNvPr id="37" name="layer-2">
            <a:extLst xmlns:a="http://schemas.openxmlformats.org/drawingml/2006/main">
              <a:ext uri="{FF2B5EF4-FFF2-40B4-BE49-F238E27FC236}">
                <a16:creationId xmlns:a16="http://schemas.microsoft.com/office/drawing/2014/main" id="{C422C381-8289-4B6C-990A-5369B209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91025"/>
            <a:ext cx="11049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38" name="layer-accent-2">
            <a:extLst xmlns:a="http://schemas.openxmlformats.org/drawingml/2006/main">
              <a:ext uri="{FF2B5EF4-FFF2-40B4-BE49-F238E27FC236}">
                <a16:creationId xmlns:a16="http://schemas.microsoft.com/office/drawing/2014/main" id="{FDF0762A-7D90-43DD-A001-AA46FE55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91025"/>
            <a:ext cx="666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E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layer-no-2">
            <a:extLst xmlns:a="http://schemas.openxmlformats.org/drawingml/2006/main">
              <a:ext uri="{FF2B5EF4-FFF2-40B4-BE49-F238E27FC236}">
                <a16:creationId xmlns:a16="http://schemas.microsoft.com/office/drawing/2014/main" id="{D14004E4-6F24-4ED3-B0CB-78013F26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62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47E89"/>
                </a:solidFill>
              </a:defRPr>
            </a:pPr>
            <a:r>
              <a:rPr sz="975" b="1">
                <a:solidFill>
                  <a:srgbClr val="547E89"/>
                </a:solidFill>
              </a:rPr>
              <a:t>03</a:t>
            </a:r>
          </a:p>
        </p:txBody>
      </p:sp>
      <p:sp>
        <p:nvSpPr>
          <p:cNvPr id="40" name="layer-name-2">
            <a:extLst xmlns:a="http://schemas.openxmlformats.org/drawingml/2006/main">
              <a:ext uri="{FF2B5EF4-FFF2-40B4-BE49-F238E27FC236}">
                <a16:creationId xmlns:a16="http://schemas.microsoft.com/office/drawing/2014/main" id="{57D5FDB4-E459-4CB5-A470-84D80D95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A24"/>
                </a:solidFill>
              </a:defRPr>
            </a:pPr>
            <a:r>
              <a:rPr sz="1650" b="1">
                <a:solidFill>
                  <a:srgbClr val="162A24"/>
                </a:solidFill>
              </a:rPr>
              <a:t>后台</a:t>
            </a:r>
          </a:p>
        </p:txBody>
      </p:sp>
      <p:sp>
        <p:nvSpPr>
          <p:cNvPr id="41" name="layer-role-2">
            <a:extLst xmlns:a="http://schemas.openxmlformats.org/drawingml/2006/main">
              <a:ext uri="{FF2B5EF4-FFF2-40B4-BE49-F238E27FC236}">
                <a16:creationId xmlns:a16="http://schemas.microsoft.com/office/drawing/2014/main" id="{28BC7122-4FF0-4D5B-8350-95AF539B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14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66F"/>
                </a:solidFill>
              </a:defRPr>
            </a:pPr>
            <a:r>
              <a:rPr sz="825" b="0">
                <a:solidFill>
                  <a:srgbClr val="69766F"/>
                </a:solidFill>
              </a:rPr>
              <a:t>银行服务承接</a:t>
            </a:r>
          </a:p>
        </p:txBody>
      </p:sp>
      <p:sp>
        <p:nvSpPr>
          <p:cNvPr id="42" name="entity-a-2-bg">
            <a:extLst xmlns:a="http://schemas.openxmlformats.org/drawingml/2006/main">
              <a:ext uri="{FF2B5EF4-FFF2-40B4-BE49-F238E27FC236}">
                <a16:creationId xmlns:a16="http://schemas.microsoft.com/office/drawing/2014/main" id="{2D099BAB-A9E2-4A90-8B95-6996C746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43425"/>
            <a:ext cx="381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43" name="entity-a-2-accent">
            <a:extLst xmlns:a="http://schemas.openxmlformats.org/drawingml/2006/main">
              <a:ext uri="{FF2B5EF4-FFF2-40B4-BE49-F238E27FC236}">
                <a16:creationId xmlns:a16="http://schemas.microsoft.com/office/drawing/2014/main" id="{A309E447-3242-427F-8BA2-D87E1EDF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4342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E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entity-a-2-title">
            <a:extLst xmlns:a="http://schemas.openxmlformats.org/drawingml/2006/main">
              <a:ext uri="{FF2B5EF4-FFF2-40B4-BE49-F238E27FC236}">
                <a16:creationId xmlns:a16="http://schemas.microsoft.com/office/drawing/2014/main" id="{3C4FDF3D-3FA6-4F19-BEA3-B654D008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95825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A24"/>
                </a:solidFill>
              </a:defRPr>
            </a:pPr>
            <a:r>
              <a:rPr sz="1350" b="1">
                <a:solidFill>
                  <a:srgbClr val="162A24"/>
                </a:solidFill>
              </a:rPr>
              <a:t>传音银行</a:t>
            </a:r>
          </a:p>
        </p:txBody>
      </p:sp>
      <p:sp>
        <p:nvSpPr>
          <p:cNvPr id="45" name="entity-a-2-detail">
            <a:extLst xmlns:a="http://schemas.openxmlformats.org/drawingml/2006/main">
              <a:ext uri="{FF2B5EF4-FFF2-40B4-BE49-F238E27FC236}">
                <a16:creationId xmlns:a16="http://schemas.microsoft.com/office/drawing/2014/main" id="{D315052E-9C96-474D-9A79-A4BCF5D6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57775"/>
            <a:ext cx="3390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银行机构</a:t>
            </a:r>
          </a:p>
        </p:txBody>
      </p:sp>
      <p:sp>
        <p:nvSpPr>
          <p:cNvPr id="46" name="entity-b-2-bg">
            <a:extLst xmlns:a="http://schemas.openxmlformats.org/drawingml/2006/main">
              <a:ext uri="{FF2B5EF4-FFF2-40B4-BE49-F238E27FC236}">
                <a16:creationId xmlns:a16="http://schemas.microsoft.com/office/drawing/2014/main" id="{9149EC3A-BC96-49A0-BC94-2910F74F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43425"/>
            <a:ext cx="428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47" name="entity-b-2-accent">
            <a:extLst xmlns:a="http://schemas.openxmlformats.org/drawingml/2006/main">
              <a:ext uri="{FF2B5EF4-FFF2-40B4-BE49-F238E27FC236}">
                <a16:creationId xmlns:a16="http://schemas.microsoft.com/office/drawing/2014/main" id="{B69740B4-24C3-49A9-9086-01633050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4342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E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entity-b-2-title">
            <a:extLst xmlns:a="http://schemas.openxmlformats.org/drawingml/2006/main">
              <a:ext uri="{FF2B5EF4-FFF2-40B4-BE49-F238E27FC236}">
                <a16:creationId xmlns:a16="http://schemas.microsoft.com/office/drawing/2014/main" id="{2FAEACF6-CD24-4EF2-BD40-3DF75979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95825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A24"/>
                </a:solidFill>
              </a:defRPr>
            </a:pPr>
            <a:r>
              <a:rPr sz="1350" b="1">
                <a:solidFill>
                  <a:srgbClr val="162A24"/>
                </a:solidFill>
              </a:rPr>
              <a:t>其他 Mint 接入银行</a:t>
            </a:r>
          </a:p>
        </p:txBody>
      </p:sp>
      <p:sp>
        <p:nvSpPr>
          <p:cNvPr id="49" name="entity-b-2-detail">
            <a:extLst xmlns:a="http://schemas.openxmlformats.org/drawingml/2006/main">
              <a:ext uri="{FF2B5EF4-FFF2-40B4-BE49-F238E27FC236}">
                <a16:creationId xmlns:a16="http://schemas.microsoft.com/office/drawing/2014/main" id="{287AAA87-3F82-4F5B-9160-BF26F575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57775"/>
            <a:ext cx="3867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银行机构</a:t>
            </a:r>
          </a:p>
        </p:txBody>
      </p:sp>
    </p:spTree>
    <p:extLst>
      <p:ext uri="{BB962C8B-B14F-4D97-AF65-F5344CB8AC3E}">
        <p14:creationId xmlns:p14="http://schemas.microsoft.com/office/powerpoint/2010/main" val="17678272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rule-60-45">
            <a:extLst xmlns:a="http://schemas.openxmlformats.org/drawingml/2006/main">
              <a:ext uri="{FF2B5EF4-FFF2-40B4-BE49-F238E27FC236}">
                <a16:creationId xmlns:a16="http://schemas.microsoft.com/office/drawing/2014/main" id="{E9F2ED62-43C8-42B3-87F3-6F749C3B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accent">
            <a:extLst xmlns:a="http://schemas.openxmlformats.org/drawingml/2006/main">
              <a:ext uri="{FF2B5EF4-FFF2-40B4-BE49-F238E27FC236}">
                <a16:creationId xmlns:a16="http://schemas.microsoft.com/office/drawing/2014/main" id="{F3B919AA-DBB9-467A-8882-88E90716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7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hapter">
            <a:extLst xmlns:a="http://schemas.openxmlformats.org/drawingml/2006/main">
              <a:ext uri="{FF2B5EF4-FFF2-40B4-BE49-F238E27FC236}">
                <a16:creationId xmlns:a16="http://schemas.microsoft.com/office/drawing/2014/main" id="{CA049F77-F545-477F-8BAC-B1B90D54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C7866"/>
                </a:solidFill>
              </a:defRPr>
            </a:pPr>
            <a:r>
              <a:rPr sz="900" b="1">
                <a:solidFill>
                  <a:srgbClr val="1C7866"/>
                </a:solidFill>
              </a:rPr>
              <a:t>战略与牌照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D7C1DA-AD4C-4DDB-8F8D-2E3BB6E6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71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66F"/>
                </a:solidFill>
              </a:defRPr>
            </a:pPr>
            <a:r>
              <a:rPr sz="825" b="1">
                <a:solidFill>
                  <a:srgbClr val="69766F"/>
                </a:solidFill>
              </a:rPr>
              <a:t>04</a:t>
            </a:r>
          </a:p>
        </p:txBody>
      </p:sp>
      <p:sp>
        <p:nvSpPr>
          <p:cNvPr id="5" name="rule-60-674">
            <a:extLst xmlns:a="http://schemas.openxmlformats.org/drawingml/2006/main">
              <a:ext uri="{FF2B5EF4-FFF2-40B4-BE49-F238E27FC236}">
                <a16:creationId xmlns:a16="http://schemas.microsoft.com/office/drawing/2014/main" id="{9E9A7A71-2DF6-4C7F-98AB-47134AA5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0EAD2CF3-68E9-454F-97CF-1F4269B7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B879"/>
                </a:solidFill>
              </a:defRPr>
            </a:pPr>
            <a:r>
              <a:rPr sz="1200" b="1">
                <a:solidFill>
                  <a:srgbClr val="42B879"/>
                </a:solidFill>
              </a:rPr>
              <a:t>mint</a:t>
            </a:r>
          </a:p>
        </p:txBody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6FA50983-C1B3-4925-8A88-72B6C28B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77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来源：组件母版示例，生成材料时替换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917DC83-D7DE-49F1-AEC8-7AFFE27F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04 / 15</a:t>
            </a:r>
          </a:p>
        </p:txBody>
      </p:sp>
      <p:sp>
        <p:nvSpPr>
          <p:cNvPr id="9" name="page-title">
            <a:extLst xmlns:a="http://schemas.openxmlformats.org/drawingml/2006/main">
              <a:ext uri="{FF2B5EF4-FFF2-40B4-BE49-F238E27FC236}">
                <a16:creationId xmlns:a16="http://schemas.microsoft.com/office/drawing/2014/main" id="{C6F04C1A-C8C3-4EC7-B750-DEF8B984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A24"/>
                </a:solidFill>
              </a:defRPr>
            </a:pPr>
            <a:r>
              <a:rPr sz="2250" b="1">
                <a:solidFill>
                  <a:srgbClr val="162A24"/>
                </a:solidFill>
              </a:rPr>
              <a:t>业务演进与牌照升级并行推进</a:t>
            </a:r>
          </a:p>
        </p:txBody>
      </p:sp>
      <p:sp>
        <p:nvSpPr>
          <p:cNvPr id="10" name="page-lead">
            <a:extLst xmlns:a="http://schemas.openxmlformats.org/drawingml/2006/main">
              <a:ext uri="{FF2B5EF4-FFF2-40B4-BE49-F238E27FC236}">
                <a16:creationId xmlns:a16="http://schemas.microsoft.com/office/drawing/2014/main" id="{BEA4D683-003D-4AB4-A1C5-F0923693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两条路径分别表达，底部集中管理层动作。</a:t>
            </a:r>
          </a:p>
        </p:txBody>
      </p:sp>
      <p:sp>
        <p:nvSpPr>
          <p:cNvPr id="11" name="track-0">
            <a:extLst xmlns:a="http://schemas.openxmlformats.org/drawingml/2006/main">
              <a:ext uri="{FF2B5EF4-FFF2-40B4-BE49-F238E27FC236}">
                <a16:creationId xmlns:a16="http://schemas.microsoft.com/office/drawing/2014/main" id="{82F7A4AD-D7D7-4FA7-8C75-B80CAAFD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104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12" name="track-accent-0">
            <a:extLst xmlns:a="http://schemas.openxmlformats.org/drawingml/2006/main">
              <a:ext uri="{FF2B5EF4-FFF2-40B4-BE49-F238E27FC236}">
                <a16:creationId xmlns:a16="http://schemas.microsoft.com/office/drawing/2014/main" id="{C0D3DF42-9644-4D14-B91D-A72ADEA6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rack-label-0">
            <a:extLst xmlns:a="http://schemas.openxmlformats.org/drawingml/2006/main">
              <a:ext uri="{FF2B5EF4-FFF2-40B4-BE49-F238E27FC236}">
                <a16:creationId xmlns:a16="http://schemas.microsoft.com/office/drawing/2014/main" id="{181A21A0-4742-492B-8C29-382F71C3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C794D"/>
                </a:solidFill>
              </a:defRPr>
            </a:pPr>
            <a:r>
              <a:rPr sz="750" b="1">
                <a:solidFill>
                  <a:srgbClr val="BC794D"/>
                </a:solidFill>
              </a:rPr>
              <a:t>路径 01</a:t>
            </a:r>
          </a:p>
        </p:txBody>
      </p:sp>
      <p:sp>
        <p:nvSpPr>
          <p:cNvPr id="14" name="track-name-0">
            <a:extLst xmlns:a="http://schemas.openxmlformats.org/drawingml/2006/main">
              <a:ext uri="{FF2B5EF4-FFF2-40B4-BE49-F238E27FC236}">
                <a16:creationId xmlns:a16="http://schemas.microsoft.com/office/drawing/2014/main" id="{9D2D2DAE-9C7D-4616-855C-F5AC7175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98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A24"/>
                </a:solidFill>
              </a:defRPr>
            </a:pPr>
            <a:r>
              <a:rPr sz="1650" b="1">
                <a:solidFill>
                  <a:srgbClr val="162A24"/>
                </a:solidFill>
              </a:rPr>
              <a:t>业务路径</a:t>
            </a:r>
          </a:p>
        </p:txBody>
      </p:sp>
      <p:sp>
        <p:nvSpPr>
          <p:cNvPr id="15" name="track-summary-0">
            <a:extLst xmlns:a="http://schemas.openxmlformats.org/drawingml/2006/main">
              <a:ext uri="{FF2B5EF4-FFF2-40B4-BE49-F238E27FC236}">
                <a16:creationId xmlns:a16="http://schemas.microsoft.com/office/drawing/2014/main" id="{28A21B77-B6F9-4B5E-8AEB-1721FE36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00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66F"/>
                </a:solidFill>
              </a:defRPr>
            </a:pPr>
            <a:r>
              <a:rPr sz="900" b="1">
                <a:solidFill>
                  <a:srgbClr val="69766F"/>
                </a:solidFill>
              </a:rPr>
              <a:t>先生态，后现金</a:t>
            </a:r>
          </a:p>
        </p:txBody>
      </p:sp>
      <p:sp>
        <p:nvSpPr>
          <p:cNvPr id="16" name="track-0-0-stage">
            <a:extLst xmlns:a="http://schemas.openxmlformats.org/drawingml/2006/main">
              <a:ext uri="{FF2B5EF4-FFF2-40B4-BE49-F238E27FC236}">
                <a16:creationId xmlns:a16="http://schemas.microsoft.com/office/drawing/2014/main" id="{EAE5D7F8-46A4-43C8-BEB4-56C42720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907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C7866"/>
                </a:solidFill>
              </a:defRPr>
            </a:pPr>
            <a:r>
              <a:rPr sz="750" b="1">
                <a:solidFill>
                  <a:srgbClr val="1C7866"/>
                </a:solidFill>
              </a:rPr>
              <a:t>起点</a:t>
            </a:r>
          </a:p>
        </p:txBody>
      </p:sp>
      <p:sp>
        <p:nvSpPr>
          <p:cNvPr id="17" name="track-0-0-title">
            <a:extLst xmlns:a="http://schemas.openxmlformats.org/drawingml/2006/main">
              <a:ext uri="{FF2B5EF4-FFF2-40B4-BE49-F238E27FC236}">
                <a16:creationId xmlns:a16="http://schemas.microsoft.com/office/drawing/2014/main" id="{720DC05F-9E54-4A56-93ED-B4D7A5FF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383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A24"/>
                </a:solidFill>
              </a:defRPr>
            </a:pPr>
            <a:r>
              <a:rPr sz="1200" b="1">
                <a:solidFill>
                  <a:srgbClr val="162A24"/>
                </a:solidFill>
              </a:rPr>
              <a:t>核心企业生态</a:t>
            </a:r>
          </a:p>
        </p:txBody>
      </p:sp>
      <p:sp>
        <p:nvSpPr>
          <p:cNvPr id="18" name="track-0-0-detail">
            <a:extLst xmlns:a="http://schemas.openxmlformats.org/drawingml/2006/main">
              <a:ext uri="{FF2B5EF4-FFF2-40B4-BE49-F238E27FC236}">
                <a16:creationId xmlns:a16="http://schemas.microsoft.com/office/drawing/2014/main" id="{01FD5F08-9FAA-42B5-852B-24B01DA9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81275"/>
            <a:ext cx="1571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66F"/>
                </a:solidFill>
              </a:defRPr>
            </a:pPr>
            <a:r>
              <a:rPr sz="750" b="0">
                <a:solidFill>
                  <a:srgbClr val="69766F"/>
                </a:solidFill>
              </a:rPr>
              <a:t>在此填写已确认的阶段内容</a:t>
            </a:r>
          </a:p>
        </p:txBody>
      </p:sp>
      <p:sp>
        <p:nvSpPr>
          <p:cNvPr id="19" name="track-0-0-arrow">
            <a:extLst xmlns:a="http://schemas.openxmlformats.org/drawingml/2006/main">
              <a:ext uri="{FF2B5EF4-FFF2-40B4-BE49-F238E27FC236}">
                <a16:creationId xmlns:a16="http://schemas.microsoft.com/office/drawing/2014/main" id="{9BB029BF-2D36-404C-A5CE-D868C168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33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C794D"/>
                </a:solidFill>
              </a:defRPr>
            </a:pPr>
            <a:r>
              <a:rPr sz="1350" b="1">
                <a:solidFill>
                  <a:srgbClr val="BC794D"/>
                </a:solidFill>
              </a:rPr>
              <a:t>→</a:t>
            </a:r>
          </a:p>
        </p:txBody>
      </p:sp>
      <p:sp>
        <p:nvSpPr>
          <p:cNvPr id="20" name="track-0-1-stage">
            <a:extLst xmlns:a="http://schemas.openxmlformats.org/drawingml/2006/main">
              <a:ext uri="{FF2B5EF4-FFF2-40B4-BE49-F238E27FC236}">
                <a16:creationId xmlns:a16="http://schemas.microsoft.com/office/drawing/2014/main" id="{3D0390D0-A89C-4936-A220-8ED17801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9907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C7866"/>
                </a:solidFill>
              </a:defRPr>
            </a:pPr>
            <a:r>
              <a:rPr sz="750" b="1">
                <a:solidFill>
                  <a:srgbClr val="1C7866"/>
                </a:solidFill>
              </a:rPr>
              <a:t>推进</a:t>
            </a:r>
          </a:p>
        </p:txBody>
      </p:sp>
      <p:sp>
        <p:nvSpPr>
          <p:cNvPr id="21" name="track-0-1-title">
            <a:extLst xmlns:a="http://schemas.openxmlformats.org/drawingml/2006/main">
              <a:ext uri="{FF2B5EF4-FFF2-40B4-BE49-F238E27FC236}">
                <a16:creationId xmlns:a16="http://schemas.microsoft.com/office/drawing/2014/main" id="{502E820A-2FC9-47AE-BC27-99656A31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383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A24"/>
                </a:solidFill>
              </a:defRPr>
            </a:pPr>
            <a:r>
              <a:rPr sz="1200" b="1">
                <a:solidFill>
                  <a:srgbClr val="162A24"/>
                </a:solidFill>
              </a:rPr>
              <a:t>首发产品</a:t>
            </a:r>
          </a:p>
        </p:txBody>
      </p:sp>
      <p:sp>
        <p:nvSpPr>
          <p:cNvPr id="22" name="track-0-1-detail">
            <a:extLst xmlns:a="http://schemas.openxmlformats.org/drawingml/2006/main">
              <a:ext uri="{FF2B5EF4-FFF2-40B4-BE49-F238E27FC236}">
                <a16:creationId xmlns:a16="http://schemas.microsoft.com/office/drawing/2014/main" id="{46572C9A-146D-4A57-8D57-FC439DFB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81275"/>
            <a:ext cx="1571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66F"/>
                </a:solidFill>
              </a:defRPr>
            </a:pPr>
            <a:r>
              <a:rPr sz="750" b="0">
                <a:solidFill>
                  <a:srgbClr val="69766F"/>
                </a:solidFill>
              </a:rPr>
              <a:t>在此填写已确认的阶段内容</a:t>
            </a:r>
          </a:p>
        </p:txBody>
      </p:sp>
      <p:sp>
        <p:nvSpPr>
          <p:cNvPr id="23" name="track-0-1-arrow">
            <a:extLst xmlns:a="http://schemas.openxmlformats.org/drawingml/2006/main">
              <a:ext uri="{FF2B5EF4-FFF2-40B4-BE49-F238E27FC236}">
                <a16:creationId xmlns:a16="http://schemas.microsoft.com/office/drawing/2014/main" id="{D78B87F2-074B-4B74-95E2-224D218A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333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C794D"/>
                </a:solidFill>
              </a:defRPr>
            </a:pPr>
            <a:r>
              <a:rPr sz="1350" b="1">
                <a:solidFill>
                  <a:srgbClr val="BC794D"/>
                </a:solidFill>
              </a:rPr>
              <a:t>→</a:t>
            </a:r>
          </a:p>
        </p:txBody>
      </p:sp>
      <p:sp>
        <p:nvSpPr>
          <p:cNvPr id="24" name="track-0-2-stage">
            <a:extLst xmlns:a="http://schemas.openxmlformats.org/drawingml/2006/main">
              <a:ext uri="{FF2B5EF4-FFF2-40B4-BE49-F238E27FC236}">
                <a16:creationId xmlns:a16="http://schemas.microsoft.com/office/drawing/2014/main" id="{D3DFB6BE-82F9-40E8-83BB-D8186512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907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C7866"/>
                </a:solidFill>
              </a:defRPr>
            </a:pPr>
            <a:r>
              <a:rPr sz="750" b="1">
                <a:solidFill>
                  <a:srgbClr val="1C7866"/>
                </a:solidFill>
              </a:rPr>
              <a:t>验证</a:t>
            </a:r>
          </a:p>
        </p:txBody>
      </p:sp>
      <p:sp>
        <p:nvSpPr>
          <p:cNvPr id="25" name="track-0-2-title">
            <a:extLst xmlns:a="http://schemas.openxmlformats.org/drawingml/2006/main">
              <a:ext uri="{FF2B5EF4-FFF2-40B4-BE49-F238E27FC236}">
                <a16:creationId xmlns:a16="http://schemas.microsoft.com/office/drawing/2014/main" id="{AB388C17-E4F9-4235-97B7-F4C8F2F8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383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A24"/>
                </a:solidFill>
              </a:defRPr>
            </a:pPr>
            <a:r>
              <a:rPr sz="1200" b="1">
                <a:solidFill>
                  <a:srgbClr val="162A24"/>
                </a:solidFill>
              </a:rPr>
              <a:t>积累数据</a:t>
            </a:r>
          </a:p>
        </p:txBody>
      </p:sp>
      <p:sp>
        <p:nvSpPr>
          <p:cNvPr id="26" name="track-0-2-detail">
            <a:extLst xmlns:a="http://schemas.openxmlformats.org/drawingml/2006/main">
              <a:ext uri="{FF2B5EF4-FFF2-40B4-BE49-F238E27FC236}">
                <a16:creationId xmlns:a16="http://schemas.microsoft.com/office/drawing/2014/main" id="{698D219B-4204-44C8-B104-D15069B6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81275"/>
            <a:ext cx="1571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66F"/>
                </a:solidFill>
              </a:defRPr>
            </a:pPr>
            <a:r>
              <a:rPr sz="750" b="0">
                <a:solidFill>
                  <a:srgbClr val="69766F"/>
                </a:solidFill>
              </a:rPr>
              <a:t>在此填写已确认的阶段内容</a:t>
            </a:r>
          </a:p>
        </p:txBody>
      </p:sp>
      <p:sp>
        <p:nvSpPr>
          <p:cNvPr id="27" name="track-0-2-arrow">
            <a:extLst xmlns:a="http://schemas.openxmlformats.org/drawingml/2006/main">
              <a:ext uri="{FF2B5EF4-FFF2-40B4-BE49-F238E27FC236}">
                <a16:creationId xmlns:a16="http://schemas.microsoft.com/office/drawing/2014/main" id="{9575606C-4F10-40D9-8170-52486720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336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C794D"/>
                </a:solidFill>
              </a:defRPr>
            </a:pPr>
            <a:r>
              <a:rPr sz="1350" b="1">
                <a:solidFill>
                  <a:srgbClr val="BC794D"/>
                </a:solidFill>
              </a:rPr>
              <a:t>→</a:t>
            </a:r>
          </a:p>
        </p:txBody>
      </p:sp>
      <p:sp>
        <p:nvSpPr>
          <p:cNvPr id="28" name="track-0-3-stage">
            <a:extLst xmlns:a="http://schemas.openxmlformats.org/drawingml/2006/main">
              <a:ext uri="{FF2B5EF4-FFF2-40B4-BE49-F238E27FC236}">
                <a16:creationId xmlns:a16="http://schemas.microsoft.com/office/drawing/2014/main" id="{4A01B985-791A-4B50-AD75-8EB39980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907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C7866"/>
                </a:solidFill>
              </a:defRPr>
            </a:pPr>
            <a:r>
              <a:rPr sz="750" b="1">
                <a:solidFill>
                  <a:srgbClr val="1C7866"/>
                </a:solidFill>
              </a:rPr>
              <a:t>目标</a:t>
            </a:r>
          </a:p>
        </p:txBody>
      </p:sp>
      <p:sp>
        <p:nvSpPr>
          <p:cNvPr id="29" name="track-0-3-title">
            <a:extLst xmlns:a="http://schemas.openxmlformats.org/drawingml/2006/main">
              <a:ext uri="{FF2B5EF4-FFF2-40B4-BE49-F238E27FC236}">
                <a16:creationId xmlns:a16="http://schemas.microsoft.com/office/drawing/2014/main" id="{6ABF4FD8-DAC9-4342-8C39-E7D13C14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383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A24"/>
                </a:solidFill>
              </a:defRPr>
            </a:pPr>
            <a:r>
              <a:rPr sz="1200" b="1">
                <a:solidFill>
                  <a:srgbClr val="162A24"/>
                </a:solidFill>
              </a:rPr>
              <a:t>扩展业务</a:t>
            </a:r>
          </a:p>
        </p:txBody>
      </p:sp>
      <p:sp>
        <p:nvSpPr>
          <p:cNvPr id="30" name="track-0-3-detail">
            <a:extLst xmlns:a="http://schemas.openxmlformats.org/drawingml/2006/main">
              <a:ext uri="{FF2B5EF4-FFF2-40B4-BE49-F238E27FC236}">
                <a16:creationId xmlns:a16="http://schemas.microsoft.com/office/drawing/2014/main" id="{ED544FDD-DE38-4BA8-901F-B98C24EF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81275"/>
            <a:ext cx="1571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66F"/>
                </a:solidFill>
              </a:defRPr>
            </a:pPr>
            <a:r>
              <a:rPr sz="750" b="0">
                <a:solidFill>
                  <a:srgbClr val="69766F"/>
                </a:solidFill>
              </a:rPr>
              <a:t>在此填写已确认的阶段内容</a:t>
            </a:r>
          </a:p>
        </p:txBody>
      </p:sp>
      <p:sp>
        <p:nvSpPr>
          <p:cNvPr id="31" name="track-1">
            <a:extLst xmlns:a="http://schemas.openxmlformats.org/drawingml/2006/main">
              <a:ext uri="{FF2B5EF4-FFF2-40B4-BE49-F238E27FC236}">
                <a16:creationId xmlns:a16="http://schemas.microsoft.com/office/drawing/2014/main" id="{43CA706F-7ABF-4C12-BE26-64B2FF9E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1104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32" name="track-accent-1">
            <a:extLst xmlns:a="http://schemas.openxmlformats.org/drawingml/2006/main">
              <a:ext uri="{FF2B5EF4-FFF2-40B4-BE49-F238E27FC236}">
                <a16:creationId xmlns:a16="http://schemas.microsoft.com/office/drawing/2014/main" id="{CB698AF2-D29A-4D3D-B293-E9AC47E3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E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rack-label-1">
            <a:extLst xmlns:a="http://schemas.openxmlformats.org/drawingml/2006/main">
              <a:ext uri="{FF2B5EF4-FFF2-40B4-BE49-F238E27FC236}">
                <a16:creationId xmlns:a16="http://schemas.microsoft.com/office/drawing/2014/main" id="{599E6434-F21B-4F1D-A735-B8FADD55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671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C794D"/>
                </a:solidFill>
              </a:defRPr>
            </a:pPr>
            <a:r>
              <a:rPr sz="750" b="1">
                <a:solidFill>
                  <a:srgbClr val="BC794D"/>
                </a:solidFill>
              </a:rPr>
              <a:t>路径 02</a:t>
            </a:r>
          </a:p>
        </p:txBody>
      </p:sp>
      <p:sp>
        <p:nvSpPr>
          <p:cNvPr id="34" name="track-name-1">
            <a:extLst xmlns:a="http://schemas.openxmlformats.org/drawingml/2006/main">
              <a:ext uri="{FF2B5EF4-FFF2-40B4-BE49-F238E27FC236}">
                <a16:creationId xmlns:a16="http://schemas.microsoft.com/office/drawing/2014/main" id="{99D1A9C4-BA72-4698-843D-ADF6202E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243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A24"/>
                </a:solidFill>
              </a:defRPr>
            </a:pPr>
            <a:r>
              <a:rPr sz="1650" b="1">
                <a:solidFill>
                  <a:srgbClr val="162A24"/>
                </a:solidFill>
              </a:rPr>
              <a:t>牌照路径</a:t>
            </a:r>
          </a:p>
        </p:txBody>
      </p:sp>
      <p:sp>
        <p:nvSpPr>
          <p:cNvPr id="35" name="track-summary-1">
            <a:extLst xmlns:a="http://schemas.openxmlformats.org/drawingml/2006/main">
              <a:ext uri="{FF2B5EF4-FFF2-40B4-BE49-F238E27FC236}">
                <a16:creationId xmlns:a16="http://schemas.microsoft.com/office/drawing/2014/main" id="{731085A5-208F-427D-9457-E2BD230C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148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66F"/>
                </a:solidFill>
              </a:defRPr>
            </a:pPr>
            <a:r>
              <a:rPr sz="900" b="1">
                <a:solidFill>
                  <a:srgbClr val="69766F"/>
                </a:solidFill>
              </a:rPr>
              <a:t>DRB → 运营三年 → DFB</a:t>
            </a:r>
          </a:p>
        </p:txBody>
      </p:sp>
      <p:sp>
        <p:nvSpPr>
          <p:cNvPr id="36" name="track-1-0-stage">
            <a:extLst xmlns:a="http://schemas.openxmlformats.org/drawingml/2006/main">
              <a:ext uri="{FF2B5EF4-FFF2-40B4-BE49-F238E27FC236}">
                <a16:creationId xmlns:a16="http://schemas.microsoft.com/office/drawing/2014/main" id="{CC37206D-2995-4C0A-9E66-09D8902F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05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47E89"/>
                </a:solidFill>
              </a:defRPr>
            </a:pPr>
            <a:r>
              <a:rPr sz="750" b="1">
                <a:solidFill>
                  <a:srgbClr val="547E89"/>
                </a:solidFill>
              </a:rPr>
              <a:t>起点</a:t>
            </a:r>
          </a:p>
        </p:txBody>
      </p:sp>
      <p:sp>
        <p:nvSpPr>
          <p:cNvPr id="37" name="track-1-0-title">
            <a:extLst xmlns:a="http://schemas.openxmlformats.org/drawingml/2006/main">
              <a:ext uri="{FF2B5EF4-FFF2-40B4-BE49-F238E27FC236}">
                <a16:creationId xmlns:a16="http://schemas.microsoft.com/office/drawing/2014/main" id="{125F7E77-10C0-4C9D-8647-5CEAEFBF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528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A24"/>
                </a:solidFill>
              </a:defRPr>
            </a:pPr>
            <a:r>
              <a:rPr sz="1200" b="1">
                <a:solidFill>
                  <a:srgbClr val="162A24"/>
                </a:solidFill>
              </a:rPr>
              <a:t>核心企业生态</a:t>
            </a:r>
          </a:p>
        </p:txBody>
      </p:sp>
      <p:sp>
        <p:nvSpPr>
          <p:cNvPr id="38" name="track-1-0-detail">
            <a:extLst xmlns:a="http://schemas.openxmlformats.org/drawingml/2006/main">
              <a:ext uri="{FF2B5EF4-FFF2-40B4-BE49-F238E27FC236}">
                <a16:creationId xmlns:a16="http://schemas.microsoft.com/office/drawing/2014/main" id="{942F3F2F-F50A-4BE4-A897-34D4D148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95775"/>
            <a:ext cx="1571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66F"/>
                </a:solidFill>
              </a:defRPr>
            </a:pPr>
            <a:r>
              <a:rPr sz="750" b="0">
                <a:solidFill>
                  <a:srgbClr val="69766F"/>
                </a:solidFill>
              </a:rPr>
              <a:t>在此填写已确认的阶段内容</a:t>
            </a:r>
          </a:p>
        </p:txBody>
      </p:sp>
      <p:sp>
        <p:nvSpPr>
          <p:cNvPr id="39" name="track-1-0-arrow">
            <a:extLst xmlns:a="http://schemas.openxmlformats.org/drawingml/2006/main">
              <a:ext uri="{FF2B5EF4-FFF2-40B4-BE49-F238E27FC236}">
                <a16:creationId xmlns:a16="http://schemas.microsoft.com/office/drawing/2014/main" id="{547C3E7A-0110-45B4-89F9-F2DED4DF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481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C794D"/>
                </a:solidFill>
              </a:defRPr>
            </a:pPr>
            <a:r>
              <a:rPr sz="1350" b="1">
                <a:solidFill>
                  <a:srgbClr val="BC794D"/>
                </a:solidFill>
              </a:rPr>
              <a:t>→</a:t>
            </a:r>
          </a:p>
        </p:txBody>
      </p:sp>
      <p:sp>
        <p:nvSpPr>
          <p:cNvPr id="40" name="track-1-1-stage">
            <a:extLst xmlns:a="http://schemas.openxmlformats.org/drawingml/2006/main">
              <a:ext uri="{FF2B5EF4-FFF2-40B4-BE49-F238E27FC236}">
                <a16:creationId xmlns:a16="http://schemas.microsoft.com/office/drawing/2014/main" id="{D76602E2-52F5-4040-968F-5BFA997D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05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47E89"/>
                </a:solidFill>
              </a:defRPr>
            </a:pPr>
            <a:r>
              <a:rPr sz="750" b="1">
                <a:solidFill>
                  <a:srgbClr val="547E89"/>
                </a:solidFill>
              </a:rPr>
              <a:t>推进</a:t>
            </a:r>
          </a:p>
        </p:txBody>
      </p:sp>
      <p:sp>
        <p:nvSpPr>
          <p:cNvPr id="41" name="track-1-1-title">
            <a:extLst xmlns:a="http://schemas.openxmlformats.org/drawingml/2006/main">
              <a:ext uri="{FF2B5EF4-FFF2-40B4-BE49-F238E27FC236}">
                <a16:creationId xmlns:a16="http://schemas.microsoft.com/office/drawing/2014/main" id="{6CE9A41C-1019-4351-A2BD-B78AD535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528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A24"/>
                </a:solidFill>
              </a:defRPr>
            </a:pPr>
            <a:r>
              <a:rPr sz="1200" b="1">
                <a:solidFill>
                  <a:srgbClr val="162A24"/>
                </a:solidFill>
              </a:rPr>
              <a:t>首发产品</a:t>
            </a:r>
          </a:p>
        </p:txBody>
      </p:sp>
      <p:sp>
        <p:nvSpPr>
          <p:cNvPr id="42" name="track-1-1-detail">
            <a:extLst xmlns:a="http://schemas.openxmlformats.org/drawingml/2006/main">
              <a:ext uri="{FF2B5EF4-FFF2-40B4-BE49-F238E27FC236}">
                <a16:creationId xmlns:a16="http://schemas.microsoft.com/office/drawing/2014/main" id="{448BCC8B-111C-41C4-8E60-34070419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95775"/>
            <a:ext cx="1571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66F"/>
                </a:solidFill>
              </a:defRPr>
            </a:pPr>
            <a:r>
              <a:rPr sz="750" b="0">
                <a:solidFill>
                  <a:srgbClr val="69766F"/>
                </a:solidFill>
              </a:rPr>
              <a:t>在此填写已确认的阶段内容</a:t>
            </a:r>
          </a:p>
        </p:txBody>
      </p:sp>
      <p:sp>
        <p:nvSpPr>
          <p:cNvPr id="43" name="track-1-1-arrow">
            <a:extLst xmlns:a="http://schemas.openxmlformats.org/drawingml/2006/main">
              <a:ext uri="{FF2B5EF4-FFF2-40B4-BE49-F238E27FC236}">
                <a16:creationId xmlns:a16="http://schemas.microsoft.com/office/drawing/2014/main" id="{38BE9596-BEB9-4857-B734-00BDE30E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481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C794D"/>
                </a:solidFill>
              </a:defRPr>
            </a:pPr>
            <a:r>
              <a:rPr sz="1350" b="1">
                <a:solidFill>
                  <a:srgbClr val="BC794D"/>
                </a:solidFill>
              </a:rPr>
              <a:t>→</a:t>
            </a:r>
          </a:p>
        </p:txBody>
      </p:sp>
      <p:sp>
        <p:nvSpPr>
          <p:cNvPr id="44" name="track-1-2-stage">
            <a:extLst xmlns:a="http://schemas.openxmlformats.org/drawingml/2006/main">
              <a:ext uri="{FF2B5EF4-FFF2-40B4-BE49-F238E27FC236}">
                <a16:creationId xmlns:a16="http://schemas.microsoft.com/office/drawing/2014/main" id="{A0BCF01A-A257-4E36-B4DB-821CBC46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05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47E89"/>
                </a:solidFill>
              </a:defRPr>
            </a:pPr>
            <a:r>
              <a:rPr sz="750" b="1">
                <a:solidFill>
                  <a:srgbClr val="547E89"/>
                </a:solidFill>
              </a:rPr>
              <a:t>验证</a:t>
            </a:r>
          </a:p>
        </p:txBody>
      </p:sp>
      <p:sp>
        <p:nvSpPr>
          <p:cNvPr id="45" name="track-1-2-title">
            <a:extLst xmlns:a="http://schemas.openxmlformats.org/drawingml/2006/main">
              <a:ext uri="{FF2B5EF4-FFF2-40B4-BE49-F238E27FC236}">
                <a16:creationId xmlns:a16="http://schemas.microsoft.com/office/drawing/2014/main" id="{EE7EBD9A-D3D6-406D-9274-2C28BDBD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528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A24"/>
                </a:solidFill>
              </a:defRPr>
            </a:pPr>
            <a:r>
              <a:rPr sz="1200" b="1">
                <a:solidFill>
                  <a:srgbClr val="162A24"/>
                </a:solidFill>
              </a:rPr>
              <a:t>积累数据</a:t>
            </a:r>
          </a:p>
        </p:txBody>
      </p:sp>
      <p:sp>
        <p:nvSpPr>
          <p:cNvPr id="46" name="track-1-2-detail">
            <a:extLst xmlns:a="http://schemas.openxmlformats.org/drawingml/2006/main">
              <a:ext uri="{FF2B5EF4-FFF2-40B4-BE49-F238E27FC236}">
                <a16:creationId xmlns:a16="http://schemas.microsoft.com/office/drawing/2014/main" id="{4F30BE4D-3949-47C0-A4C3-97E9A27B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95775"/>
            <a:ext cx="1571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66F"/>
                </a:solidFill>
              </a:defRPr>
            </a:pPr>
            <a:r>
              <a:rPr sz="750" b="0">
                <a:solidFill>
                  <a:srgbClr val="69766F"/>
                </a:solidFill>
              </a:rPr>
              <a:t>在此填写已确认的阶段内容</a:t>
            </a:r>
          </a:p>
        </p:txBody>
      </p:sp>
      <p:sp>
        <p:nvSpPr>
          <p:cNvPr id="47" name="track-1-2-arrow">
            <a:extLst xmlns:a="http://schemas.openxmlformats.org/drawingml/2006/main">
              <a:ext uri="{FF2B5EF4-FFF2-40B4-BE49-F238E27FC236}">
                <a16:creationId xmlns:a16="http://schemas.microsoft.com/office/drawing/2014/main" id="{8A6C1CB3-7DBD-4839-8FEA-8AEE982C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4812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C794D"/>
                </a:solidFill>
              </a:defRPr>
            </a:pPr>
            <a:r>
              <a:rPr sz="1350" b="1">
                <a:solidFill>
                  <a:srgbClr val="BC794D"/>
                </a:solidFill>
              </a:rPr>
              <a:t>→</a:t>
            </a:r>
          </a:p>
        </p:txBody>
      </p:sp>
      <p:sp>
        <p:nvSpPr>
          <p:cNvPr id="48" name="track-1-3-stage">
            <a:extLst xmlns:a="http://schemas.openxmlformats.org/drawingml/2006/main">
              <a:ext uri="{FF2B5EF4-FFF2-40B4-BE49-F238E27FC236}">
                <a16:creationId xmlns:a16="http://schemas.microsoft.com/office/drawing/2014/main" id="{5202C768-FC75-4083-AA43-A8F15965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052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47E89"/>
                </a:solidFill>
              </a:defRPr>
            </a:pPr>
            <a:r>
              <a:rPr sz="750" b="1">
                <a:solidFill>
                  <a:srgbClr val="547E89"/>
                </a:solidFill>
              </a:rPr>
              <a:t>目标</a:t>
            </a:r>
          </a:p>
        </p:txBody>
      </p:sp>
      <p:sp>
        <p:nvSpPr>
          <p:cNvPr id="49" name="track-1-3-title">
            <a:extLst xmlns:a="http://schemas.openxmlformats.org/drawingml/2006/main">
              <a:ext uri="{FF2B5EF4-FFF2-40B4-BE49-F238E27FC236}">
                <a16:creationId xmlns:a16="http://schemas.microsoft.com/office/drawing/2014/main" id="{48271C4B-F5A3-4D64-AD77-107F4D7A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5287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A24"/>
                </a:solidFill>
              </a:defRPr>
            </a:pPr>
            <a:r>
              <a:rPr sz="1200" b="1">
                <a:solidFill>
                  <a:srgbClr val="162A24"/>
                </a:solidFill>
              </a:rPr>
              <a:t>扩展业务</a:t>
            </a:r>
          </a:p>
        </p:txBody>
      </p:sp>
      <p:sp>
        <p:nvSpPr>
          <p:cNvPr id="50" name="track-1-3-detail">
            <a:extLst xmlns:a="http://schemas.openxmlformats.org/drawingml/2006/main">
              <a:ext uri="{FF2B5EF4-FFF2-40B4-BE49-F238E27FC236}">
                <a16:creationId xmlns:a16="http://schemas.microsoft.com/office/drawing/2014/main" id="{B60DEEBC-4362-43B0-B88D-8DD659B6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95775"/>
            <a:ext cx="1571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66F"/>
                </a:solidFill>
              </a:defRPr>
            </a:pPr>
            <a:r>
              <a:rPr sz="750" b="0">
                <a:solidFill>
                  <a:srgbClr val="69766F"/>
                </a:solidFill>
              </a:rPr>
              <a:t>在此填写已确认的阶段内容</a:t>
            </a:r>
          </a:p>
        </p:txBody>
      </p:sp>
      <p:sp>
        <p:nvSpPr>
          <p:cNvPr id="51" name="action-bg">
            <a:extLst xmlns:a="http://schemas.openxmlformats.org/drawingml/2006/main">
              <a:ext uri="{FF2B5EF4-FFF2-40B4-BE49-F238E27FC236}">
                <a16:creationId xmlns:a16="http://schemas.microsoft.com/office/drawing/2014/main" id="{B9430E87-A6B4-4C5F-B4A7-DAAB6DB0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A995F4E0-7FE5-473D-9F92-E8878818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23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DF8"/>
                </a:solidFill>
              </a:defRPr>
            </a:pPr>
            <a:r>
              <a:rPr sz="1725" b="1">
                <a:solidFill>
                  <a:srgbClr val="FFFDF8"/>
                </a:solidFill>
              </a:rPr>
              <a:t>下一步</a:t>
            </a:r>
          </a:p>
        </p:txBody>
      </p:sp>
      <p:sp>
        <p:nvSpPr>
          <p:cNvPr id="53" name="action-0">
            <a:extLst xmlns:a="http://schemas.openxmlformats.org/drawingml/2006/main">
              <a:ext uri="{FF2B5EF4-FFF2-40B4-BE49-F238E27FC236}">
                <a16:creationId xmlns:a16="http://schemas.microsoft.com/office/drawing/2014/main" id="{A09107FF-AB5B-4DE6-A05E-556D916F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48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DF8"/>
                </a:solidFill>
              </a:defRPr>
            </a:pPr>
            <a:r>
              <a:rPr sz="975" b="1">
                <a:solidFill>
                  <a:srgbClr val="FFFDF8"/>
                </a:solidFill>
              </a:rPr>
              <a:t>合作｜填写动作、Owner 与时间</a:t>
            </a:r>
          </a:p>
        </p:txBody>
      </p:sp>
      <p:sp>
        <p:nvSpPr>
          <p:cNvPr id="54" name="action-1">
            <a:extLst xmlns:a="http://schemas.openxmlformats.org/drawingml/2006/main">
              <a:ext uri="{FF2B5EF4-FFF2-40B4-BE49-F238E27FC236}">
                <a16:creationId xmlns:a16="http://schemas.microsoft.com/office/drawing/2014/main" id="{FA927127-0AD9-4200-9D85-ECB402DF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48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DF8"/>
                </a:solidFill>
              </a:defRPr>
            </a:pPr>
            <a:r>
              <a:rPr sz="975" b="1">
                <a:solidFill>
                  <a:srgbClr val="FFFDF8"/>
                </a:solidFill>
              </a:rPr>
              <a:t>资本｜填写动作、Owner 与时间</a:t>
            </a:r>
          </a:p>
        </p:txBody>
      </p:sp>
      <p:sp>
        <p:nvSpPr>
          <p:cNvPr id="55" name="action-2">
            <a:extLst xmlns:a="http://schemas.openxmlformats.org/drawingml/2006/main">
              <a:ext uri="{FF2B5EF4-FFF2-40B4-BE49-F238E27FC236}">
                <a16:creationId xmlns:a16="http://schemas.microsoft.com/office/drawing/2014/main" id="{F981A2E9-4843-4B64-8164-AEB39A41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48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DF8"/>
                </a:solidFill>
              </a:defRPr>
            </a:pPr>
            <a:r>
              <a:rPr sz="975" b="1">
                <a:solidFill>
                  <a:srgbClr val="FFFDF8"/>
                </a:solidFill>
              </a:rPr>
              <a:t>申报｜填写动作、Owner 与时间</a:t>
            </a:r>
          </a:p>
        </p:txBody>
      </p:sp>
    </p:spTree>
    <p:extLst>
      <p:ext uri="{BB962C8B-B14F-4D97-AF65-F5344CB8AC3E}">
        <p14:creationId xmlns:p14="http://schemas.microsoft.com/office/powerpoint/2010/main" val="8607994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ule-60-45">
            <a:extLst xmlns:a="http://schemas.openxmlformats.org/drawingml/2006/main">
              <a:ext uri="{FF2B5EF4-FFF2-40B4-BE49-F238E27FC236}">
                <a16:creationId xmlns:a16="http://schemas.microsoft.com/office/drawing/2014/main" id="{072653F4-78F0-4BE4-B522-1D5989DE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accent">
            <a:extLst xmlns:a="http://schemas.openxmlformats.org/drawingml/2006/main">
              <a:ext uri="{FF2B5EF4-FFF2-40B4-BE49-F238E27FC236}">
                <a16:creationId xmlns:a16="http://schemas.microsoft.com/office/drawing/2014/main" id="{749597CA-50A3-4265-B2CB-F29ED191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7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hapter">
            <a:extLst xmlns:a="http://schemas.openxmlformats.org/drawingml/2006/main">
              <a:ext uri="{FF2B5EF4-FFF2-40B4-BE49-F238E27FC236}">
                <a16:creationId xmlns:a16="http://schemas.microsoft.com/office/drawing/2014/main" id="{D1A99A7E-C696-4BF9-BBCF-7A567B8C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C7866"/>
                </a:solidFill>
              </a:defRPr>
            </a:pPr>
            <a:r>
              <a:rPr sz="900" b="1">
                <a:solidFill>
                  <a:srgbClr val="1C7866"/>
                </a:solidFill>
              </a:rPr>
              <a:t>流程与阶段门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65847C-C3DF-4919-9E60-E394A35E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71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66F"/>
                </a:solidFill>
              </a:defRPr>
            </a:pPr>
            <a:r>
              <a:rPr sz="825" b="1">
                <a:solidFill>
                  <a:srgbClr val="69766F"/>
                </a:solidFill>
              </a:rPr>
              <a:t>05</a:t>
            </a:r>
          </a:p>
        </p:txBody>
      </p:sp>
      <p:sp>
        <p:nvSpPr>
          <p:cNvPr id="5" name="rule-60-674">
            <a:extLst xmlns:a="http://schemas.openxmlformats.org/drawingml/2006/main">
              <a:ext uri="{FF2B5EF4-FFF2-40B4-BE49-F238E27FC236}">
                <a16:creationId xmlns:a16="http://schemas.microsoft.com/office/drawing/2014/main" id="{35C9102B-B373-4AD7-A215-A6E5CE9A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D6706338-F40F-4F9A-89B9-1EAD5119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B879"/>
                </a:solidFill>
              </a:defRPr>
            </a:pPr>
            <a:r>
              <a:rPr sz="1200" b="1">
                <a:solidFill>
                  <a:srgbClr val="42B879"/>
                </a:solidFill>
              </a:rPr>
              <a:t>mint</a:t>
            </a:r>
          </a:p>
        </p:txBody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F312E820-BA89-4106-85EF-C3E0BD32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77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来源：组件母版示例，生成材料时替换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D5FBB76-EBE5-4735-AEFB-D67214B1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05 / 15</a:t>
            </a:r>
          </a:p>
        </p:txBody>
      </p:sp>
      <p:sp>
        <p:nvSpPr>
          <p:cNvPr id="9" name="page-title">
            <a:extLst xmlns:a="http://schemas.openxmlformats.org/drawingml/2006/main">
              <a:ext uri="{FF2B5EF4-FFF2-40B4-BE49-F238E27FC236}">
                <a16:creationId xmlns:a16="http://schemas.microsoft.com/office/drawing/2014/main" id="{934B9D0D-B8BB-4A3C-B328-9CBEFDD4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A24"/>
                </a:solidFill>
              </a:defRPr>
            </a:pPr>
            <a:r>
              <a:rPr sz="2250" b="1">
                <a:solidFill>
                  <a:srgbClr val="162A24"/>
                </a:solidFill>
              </a:rPr>
              <a:t>输入经过有序处理，形成可验证输出</a:t>
            </a:r>
          </a:p>
        </p:txBody>
      </p:sp>
      <p:sp>
        <p:nvSpPr>
          <p:cNvPr id="10" name="page-lead">
            <a:extLst xmlns:a="http://schemas.openxmlformats.org/drawingml/2006/main">
              <a:ext uri="{FF2B5EF4-FFF2-40B4-BE49-F238E27FC236}">
                <a16:creationId xmlns:a16="http://schemas.microsoft.com/office/drawing/2014/main" id="{D9F35642-6D30-4A8E-BC9C-75C8A8AF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仅当内容存在真实顺序时使用流程图。</a:t>
            </a:r>
          </a:p>
        </p:txBody>
      </p:sp>
      <p:sp>
        <p:nvSpPr>
          <p:cNvPr id="11" name="rule-95-390">
            <a:extLst xmlns:a="http://schemas.openxmlformats.org/drawingml/2006/main">
              <a:ext uri="{FF2B5EF4-FFF2-40B4-BE49-F238E27FC236}">
                <a16:creationId xmlns:a16="http://schemas.microsoft.com/office/drawing/2014/main" id="{4D4F2740-F982-46F5-B7EE-83A11A92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cess-0">
            <a:extLst xmlns:a="http://schemas.openxmlformats.org/drawingml/2006/main">
              <a:ext uri="{FF2B5EF4-FFF2-40B4-BE49-F238E27FC236}">
                <a16:creationId xmlns:a16="http://schemas.microsoft.com/office/drawing/2014/main" id="{E1DC4973-A86D-40F7-9535-86779A65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BC794D"/>
            </a:solidFill>
            <a:prstDash val="solid"/>
          </a:ln>
        </p:spPr>
      </p:sp>
      <p:sp>
        <p:nvSpPr>
          <p:cNvPr id="13" name="process-no-0">
            <a:extLst xmlns:a="http://schemas.openxmlformats.org/drawingml/2006/main">
              <a:ext uri="{FF2B5EF4-FFF2-40B4-BE49-F238E27FC236}">
                <a16:creationId xmlns:a16="http://schemas.microsoft.com/office/drawing/2014/main" id="{FDDBA9A3-F672-4F60-A034-1BCF4B2E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C794D"/>
                </a:solidFill>
              </a:defRPr>
            </a:pPr>
            <a:r>
              <a:rPr sz="1050" b="1">
                <a:solidFill>
                  <a:srgbClr val="BC794D"/>
                </a:solidFill>
              </a:rPr>
              <a:t>01</a:t>
            </a:r>
          </a:p>
        </p:txBody>
      </p:sp>
      <p:sp>
        <p:nvSpPr>
          <p:cNvPr id="14" name="process-title-0">
            <a:extLst xmlns:a="http://schemas.openxmlformats.org/drawingml/2006/main">
              <a:ext uri="{FF2B5EF4-FFF2-40B4-BE49-F238E27FC236}">
                <a16:creationId xmlns:a16="http://schemas.microsoft.com/office/drawing/2014/main" id="{A38C9616-677B-4CBB-8EA2-696B298B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A24"/>
                </a:solidFill>
              </a:defRPr>
            </a:pPr>
            <a:r>
              <a:rPr sz="1500" b="1">
                <a:solidFill>
                  <a:srgbClr val="162A24"/>
                </a:solidFill>
              </a:rPr>
              <a:t>确认输入</a:t>
            </a:r>
          </a:p>
        </p:txBody>
      </p:sp>
      <p:sp>
        <p:nvSpPr>
          <p:cNvPr id="15" name="process-detail-0">
            <a:extLst xmlns:a="http://schemas.openxmlformats.org/drawingml/2006/main">
              <a:ext uri="{FF2B5EF4-FFF2-40B4-BE49-F238E27FC236}">
                <a16:creationId xmlns:a16="http://schemas.microsoft.com/office/drawing/2014/main" id="{FFB3E6D4-6A74-4F52-806A-0E715373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9766F"/>
                </a:solidFill>
              </a:defRPr>
            </a:pPr>
            <a:r>
              <a:rPr sz="825" b="0">
                <a:solidFill>
                  <a:srgbClr val="69766F"/>
                </a:solidFill>
              </a:rPr>
              <a:t>填写该步骤的动作和结果</a:t>
            </a:r>
          </a:p>
        </p:txBody>
      </p:sp>
      <p:sp>
        <p:nvSpPr>
          <p:cNvPr id="16" name="process-1">
            <a:extLst xmlns:a="http://schemas.openxmlformats.org/drawingml/2006/main">
              <a:ext uri="{FF2B5EF4-FFF2-40B4-BE49-F238E27FC236}">
                <a16:creationId xmlns:a16="http://schemas.microsoft.com/office/drawing/2014/main" id="{36308D43-BA72-4D02-A9A1-F243E127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43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BC794D"/>
            </a:solidFill>
            <a:prstDash val="solid"/>
          </a:ln>
        </p:spPr>
      </p:sp>
      <p:sp>
        <p:nvSpPr>
          <p:cNvPr id="17" name="process-no-1">
            <a:extLst xmlns:a="http://schemas.openxmlformats.org/drawingml/2006/main">
              <a:ext uri="{FF2B5EF4-FFF2-40B4-BE49-F238E27FC236}">
                <a16:creationId xmlns:a16="http://schemas.microsoft.com/office/drawing/2014/main" id="{AF84D40E-EA92-4C56-A20C-F4BABAC5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90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C794D"/>
                </a:solidFill>
              </a:defRPr>
            </a:pPr>
            <a:r>
              <a:rPr sz="1050" b="1">
                <a:solidFill>
                  <a:srgbClr val="BC794D"/>
                </a:solidFill>
              </a:rPr>
              <a:t>02</a:t>
            </a:r>
          </a:p>
        </p:txBody>
      </p:sp>
      <p:sp>
        <p:nvSpPr>
          <p:cNvPr id="18" name="process-title-1">
            <a:extLst xmlns:a="http://schemas.openxmlformats.org/drawingml/2006/main">
              <a:ext uri="{FF2B5EF4-FFF2-40B4-BE49-F238E27FC236}">
                <a16:creationId xmlns:a16="http://schemas.microsoft.com/office/drawing/2014/main" id="{5F732A53-9C9A-4872-B5FB-E84EADF8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193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A24"/>
                </a:solidFill>
              </a:defRPr>
            </a:pPr>
            <a:r>
              <a:rPr sz="1500" b="1">
                <a:solidFill>
                  <a:srgbClr val="162A24"/>
                </a:solidFill>
              </a:rPr>
              <a:t>核对事实</a:t>
            </a:r>
          </a:p>
        </p:txBody>
      </p:sp>
      <p:sp>
        <p:nvSpPr>
          <p:cNvPr id="19" name="process-detail-1">
            <a:extLst xmlns:a="http://schemas.openxmlformats.org/drawingml/2006/main">
              <a:ext uri="{FF2B5EF4-FFF2-40B4-BE49-F238E27FC236}">
                <a16:creationId xmlns:a16="http://schemas.microsoft.com/office/drawing/2014/main" id="{F0BF5D42-7286-4E4A-947C-A556A2E7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289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9766F"/>
                </a:solidFill>
              </a:defRPr>
            </a:pPr>
            <a:r>
              <a:rPr sz="825" b="0">
                <a:solidFill>
                  <a:srgbClr val="69766F"/>
                </a:solidFill>
              </a:rPr>
              <a:t>填写该步骤的动作和结果</a:t>
            </a:r>
          </a:p>
        </p:txBody>
      </p:sp>
      <p:sp>
        <p:nvSpPr>
          <p:cNvPr id="20" name="process-2">
            <a:extLst xmlns:a="http://schemas.openxmlformats.org/drawingml/2006/main">
              <a:ext uri="{FF2B5EF4-FFF2-40B4-BE49-F238E27FC236}">
                <a16:creationId xmlns:a16="http://schemas.microsoft.com/office/drawing/2014/main" id="{D6E9800E-50A5-4713-92CA-46B3E46A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43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4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rocess-no-2">
            <a:extLst xmlns:a="http://schemas.openxmlformats.org/drawingml/2006/main">
              <a:ext uri="{FF2B5EF4-FFF2-40B4-BE49-F238E27FC236}">
                <a16:creationId xmlns:a16="http://schemas.microsoft.com/office/drawing/2014/main" id="{F06901D1-DCFA-45D6-AA18-CDE63145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C794D"/>
                </a:solidFill>
              </a:defRPr>
            </a:pPr>
            <a:r>
              <a:rPr sz="1050" b="1">
                <a:solidFill>
                  <a:srgbClr val="BC794D"/>
                </a:solidFill>
              </a:rPr>
              <a:t>03</a:t>
            </a:r>
          </a:p>
        </p:txBody>
      </p:sp>
      <p:sp>
        <p:nvSpPr>
          <p:cNvPr id="22" name="process-title-2">
            <a:extLst xmlns:a="http://schemas.openxmlformats.org/drawingml/2006/main">
              <a:ext uri="{FF2B5EF4-FFF2-40B4-BE49-F238E27FC236}">
                <a16:creationId xmlns:a16="http://schemas.microsoft.com/office/drawing/2014/main" id="{B1C3B8D4-DA22-4243-9C8C-ABFC90F0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193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A24"/>
                </a:solidFill>
              </a:defRPr>
            </a:pPr>
            <a:r>
              <a:rPr sz="1500" b="1">
                <a:solidFill>
                  <a:srgbClr val="162A24"/>
                </a:solidFill>
              </a:rPr>
              <a:t>形成判断</a:t>
            </a:r>
          </a:p>
        </p:txBody>
      </p:sp>
      <p:sp>
        <p:nvSpPr>
          <p:cNvPr id="23" name="process-detail-2">
            <a:extLst xmlns:a="http://schemas.openxmlformats.org/drawingml/2006/main">
              <a:ext uri="{FF2B5EF4-FFF2-40B4-BE49-F238E27FC236}">
                <a16:creationId xmlns:a16="http://schemas.microsoft.com/office/drawing/2014/main" id="{1C4E4A1D-8382-443C-9AC5-FB360F0B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289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9766F"/>
                </a:solidFill>
              </a:defRPr>
            </a:pPr>
            <a:r>
              <a:rPr sz="825" b="0">
                <a:solidFill>
                  <a:srgbClr val="69766F"/>
                </a:solidFill>
              </a:rPr>
              <a:t>填写该步骤的动作和结果</a:t>
            </a:r>
          </a:p>
        </p:txBody>
      </p:sp>
      <p:sp>
        <p:nvSpPr>
          <p:cNvPr id="24" name="process-3">
            <a:extLst xmlns:a="http://schemas.openxmlformats.org/drawingml/2006/main">
              <a:ext uri="{FF2B5EF4-FFF2-40B4-BE49-F238E27FC236}">
                <a16:creationId xmlns:a16="http://schemas.microsoft.com/office/drawing/2014/main" id="{001C7540-BE24-4B3A-ADBD-FB91E070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543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BC794D"/>
            </a:solidFill>
            <a:prstDash val="solid"/>
          </a:ln>
        </p:spPr>
      </p:sp>
      <p:sp>
        <p:nvSpPr>
          <p:cNvPr id="25" name="process-no-3">
            <a:extLst xmlns:a="http://schemas.openxmlformats.org/drawingml/2006/main">
              <a:ext uri="{FF2B5EF4-FFF2-40B4-BE49-F238E27FC236}">
                <a16:creationId xmlns:a16="http://schemas.microsoft.com/office/drawing/2014/main" id="{68F58D80-C768-4149-8CCB-851024C9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0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C794D"/>
                </a:solidFill>
              </a:defRPr>
            </a:pPr>
            <a:r>
              <a:rPr sz="1050" b="1">
                <a:solidFill>
                  <a:srgbClr val="BC794D"/>
                </a:solidFill>
              </a:rPr>
              <a:t>04</a:t>
            </a:r>
          </a:p>
        </p:txBody>
      </p:sp>
      <p:sp>
        <p:nvSpPr>
          <p:cNvPr id="26" name="process-title-3">
            <a:extLst xmlns:a="http://schemas.openxmlformats.org/drawingml/2006/main">
              <a:ext uri="{FF2B5EF4-FFF2-40B4-BE49-F238E27FC236}">
                <a16:creationId xmlns:a16="http://schemas.microsoft.com/office/drawing/2014/main" id="{F18F40A3-46C2-4F56-866F-6A40CAE5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193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A24"/>
                </a:solidFill>
              </a:defRPr>
            </a:pPr>
            <a:r>
              <a:rPr sz="1500" b="1">
                <a:solidFill>
                  <a:srgbClr val="162A24"/>
                </a:solidFill>
              </a:rPr>
              <a:t>执行行动</a:t>
            </a:r>
          </a:p>
        </p:txBody>
      </p:sp>
      <p:sp>
        <p:nvSpPr>
          <p:cNvPr id="27" name="process-detail-3">
            <a:extLst xmlns:a="http://schemas.openxmlformats.org/drawingml/2006/main">
              <a:ext uri="{FF2B5EF4-FFF2-40B4-BE49-F238E27FC236}">
                <a16:creationId xmlns:a16="http://schemas.microsoft.com/office/drawing/2014/main" id="{61FC72F8-7162-4E93-9904-7CC74545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289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9766F"/>
                </a:solidFill>
              </a:defRPr>
            </a:pPr>
            <a:r>
              <a:rPr sz="825" b="0">
                <a:solidFill>
                  <a:srgbClr val="69766F"/>
                </a:solidFill>
              </a:rPr>
              <a:t>填写该步骤的动作和结果</a:t>
            </a:r>
          </a:p>
        </p:txBody>
      </p:sp>
      <p:sp>
        <p:nvSpPr>
          <p:cNvPr id="28" name="process-4">
            <a:extLst xmlns:a="http://schemas.openxmlformats.org/drawingml/2006/main">
              <a:ext uri="{FF2B5EF4-FFF2-40B4-BE49-F238E27FC236}">
                <a16:creationId xmlns:a16="http://schemas.microsoft.com/office/drawing/2014/main" id="{5BFE8D52-DF52-4D9A-A459-EE946703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543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BC794D"/>
            </a:solidFill>
            <a:prstDash val="solid"/>
          </a:ln>
        </p:spPr>
      </p:sp>
      <p:sp>
        <p:nvSpPr>
          <p:cNvPr id="29" name="process-no-4">
            <a:extLst xmlns:a="http://schemas.openxmlformats.org/drawingml/2006/main">
              <a:ext uri="{FF2B5EF4-FFF2-40B4-BE49-F238E27FC236}">
                <a16:creationId xmlns:a16="http://schemas.microsoft.com/office/drawing/2014/main" id="{F510F1C5-940A-426C-93FE-6C613CD5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C794D"/>
                </a:solidFill>
              </a:defRPr>
            </a:pPr>
            <a:r>
              <a:rPr sz="1050" b="1">
                <a:solidFill>
                  <a:srgbClr val="BC794D"/>
                </a:solidFill>
              </a:rPr>
              <a:t>05</a:t>
            </a:r>
          </a:p>
        </p:txBody>
      </p:sp>
      <p:sp>
        <p:nvSpPr>
          <p:cNvPr id="30" name="process-title-4">
            <a:extLst xmlns:a="http://schemas.openxmlformats.org/drawingml/2006/main">
              <a:ext uri="{FF2B5EF4-FFF2-40B4-BE49-F238E27FC236}">
                <a16:creationId xmlns:a16="http://schemas.microsoft.com/office/drawing/2014/main" id="{67C8CDEA-C194-49AB-8DBE-54885B6B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193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2A24"/>
                </a:solidFill>
              </a:defRPr>
            </a:pPr>
            <a:r>
              <a:rPr sz="1500" b="1">
                <a:solidFill>
                  <a:srgbClr val="162A24"/>
                </a:solidFill>
              </a:rPr>
              <a:t>验证结果</a:t>
            </a:r>
          </a:p>
        </p:txBody>
      </p:sp>
      <p:sp>
        <p:nvSpPr>
          <p:cNvPr id="31" name="process-detail-4">
            <a:extLst xmlns:a="http://schemas.openxmlformats.org/drawingml/2006/main">
              <a:ext uri="{FF2B5EF4-FFF2-40B4-BE49-F238E27FC236}">
                <a16:creationId xmlns:a16="http://schemas.microsoft.com/office/drawing/2014/main" id="{DBBDA0E4-E853-4923-8ACD-32C3E793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289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9766F"/>
                </a:solidFill>
              </a:defRPr>
            </a:pPr>
            <a:r>
              <a:rPr sz="825" b="0">
                <a:solidFill>
                  <a:srgbClr val="69766F"/>
                </a:solidFill>
              </a:rPr>
              <a:t>填写该步骤的动作和结果</a:t>
            </a:r>
          </a:p>
        </p:txBody>
      </p:sp>
    </p:spTree>
    <p:extLst>
      <p:ext uri="{BB962C8B-B14F-4D97-AF65-F5344CB8AC3E}">
        <p14:creationId xmlns:p14="http://schemas.microsoft.com/office/powerpoint/2010/main" val="15272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ule-60-45">
            <a:extLst xmlns:a="http://schemas.openxmlformats.org/drawingml/2006/main">
              <a:ext uri="{FF2B5EF4-FFF2-40B4-BE49-F238E27FC236}">
                <a16:creationId xmlns:a16="http://schemas.microsoft.com/office/drawing/2014/main" id="{6FC32818-8826-4CFE-A806-1DBC5450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accent">
            <a:extLst xmlns:a="http://schemas.openxmlformats.org/drawingml/2006/main">
              <a:ext uri="{FF2B5EF4-FFF2-40B4-BE49-F238E27FC236}">
                <a16:creationId xmlns:a16="http://schemas.microsoft.com/office/drawing/2014/main" id="{289D55BF-78B7-4415-ACDB-00CBF89B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7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hapter">
            <a:extLst xmlns:a="http://schemas.openxmlformats.org/drawingml/2006/main">
              <a:ext uri="{FF2B5EF4-FFF2-40B4-BE49-F238E27FC236}">
                <a16:creationId xmlns:a16="http://schemas.microsoft.com/office/drawing/2014/main" id="{BA793A39-AF3F-4D39-8FEC-EE575AD5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C7866"/>
                </a:solidFill>
              </a:defRPr>
            </a:pPr>
            <a:r>
              <a:rPr sz="900" b="1">
                <a:solidFill>
                  <a:srgbClr val="1C7866"/>
                </a:solidFill>
              </a:rPr>
              <a:t>时间与里程碑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43ECF19-0EF1-4FAE-BF10-DA1A277D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71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66F"/>
                </a:solidFill>
              </a:defRPr>
            </a:pPr>
            <a:r>
              <a:rPr sz="825" b="1">
                <a:solidFill>
                  <a:srgbClr val="69766F"/>
                </a:solidFill>
              </a:rPr>
              <a:t>06</a:t>
            </a:r>
          </a:p>
        </p:txBody>
      </p:sp>
      <p:sp>
        <p:nvSpPr>
          <p:cNvPr id="5" name="rule-60-674">
            <a:extLst xmlns:a="http://schemas.openxmlformats.org/drawingml/2006/main">
              <a:ext uri="{FF2B5EF4-FFF2-40B4-BE49-F238E27FC236}">
                <a16:creationId xmlns:a16="http://schemas.microsoft.com/office/drawing/2014/main" id="{71520882-5AE6-4A57-ACD1-2D929FB7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34D407FE-A9D8-413D-817D-1083D53F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B879"/>
                </a:solidFill>
              </a:defRPr>
            </a:pPr>
            <a:r>
              <a:rPr sz="1200" b="1">
                <a:solidFill>
                  <a:srgbClr val="42B879"/>
                </a:solidFill>
              </a:rPr>
              <a:t>mint</a:t>
            </a:r>
          </a:p>
        </p:txBody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18D6AD57-801D-4654-BDC8-197E7AAD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77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来源：组件母版示例，生成材料时替换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AFD5987-96EE-46F5-ACED-2490BA24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06 / 15</a:t>
            </a:r>
          </a:p>
        </p:txBody>
      </p:sp>
      <p:sp>
        <p:nvSpPr>
          <p:cNvPr id="9" name="page-title">
            <a:extLst xmlns:a="http://schemas.openxmlformats.org/drawingml/2006/main">
              <a:ext uri="{FF2B5EF4-FFF2-40B4-BE49-F238E27FC236}">
                <a16:creationId xmlns:a16="http://schemas.microsoft.com/office/drawing/2014/main" id="{BD20B0B1-A840-484B-8A84-6D27C2E9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A24"/>
                </a:solidFill>
              </a:defRPr>
            </a:pPr>
            <a:r>
              <a:rPr sz="2250" b="1">
                <a:solidFill>
                  <a:srgbClr val="162A24"/>
                </a:solidFill>
              </a:rPr>
              <a:t>关键节点沿同一时间轴推进</a:t>
            </a:r>
          </a:p>
        </p:txBody>
      </p:sp>
      <p:sp>
        <p:nvSpPr>
          <p:cNvPr id="10" name="page-lead">
            <a:extLst xmlns:a="http://schemas.openxmlformats.org/drawingml/2006/main">
              <a:ext uri="{FF2B5EF4-FFF2-40B4-BE49-F238E27FC236}">
                <a16:creationId xmlns:a16="http://schemas.microsoft.com/office/drawing/2014/main" id="{4A9193A7-AC2D-4F32-8976-F7CA5592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时间、里程碑和交付物必须来自原始材料。</a:t>
            </a:r>
          </a:p>
        </p:txBody>
      </p:sp>
      <p:sp>
        <p:nvSpPr>
          <p:cNvPr id="11" name="rule-110-385">
            <a:extLst xmlns:a="http://schemas.openxmlformats.org/drawingml/2006/main">
              <a:ext uri="{FF2B5EF4-FFF2-40B4-BE49-F238E27FC236}">
                <a16:creationId xmlns:a16="http://schemas.microsoft.com/office/drawing/2014/main" id="{911173D2-C603-4BFF-A09E-107CCDD0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-dot-0">
            <a:extLst xmlns:a="http://schemas.openxmlformats.org/drawingml/2006/main">
              <a:ext uri="{FF2B5EF4-FFF2-40B4-BE49-F238E27FC236}">
                <a16:creationId xmlns:a16="http://schemas.microsoft.com/office/drawing/2014/main" id="{D1A3C2E7-34B5-45EC-B441-BBA27C2F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95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me-0">
            <a:extLst xmlns:a="http://schemas.openxmlformats.org/drawingml/2006/main">
              <a:ext uri="{FF2B5EF4-FFF2-40B4-BE49-F238E27FC236}">
                <a16:creationId xmlns:a16="http://schemas.microsoft.com/office/drawing/2014/main" id="{D642AADA-C5C8-439D-A2D4-7B42272A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866"/>
                </a:solidFill>
              </a:defRPr>
            </a:pPr>
            <a:r>
              <a:rPr sz="975" b="1">
                <a:solidFill>
                  <a:srgbClr val="1C7866"/>
                </a:solidFill>
              </a:rPr>
              <a:t>当前</a:t>
            </a:r>
          </a:p>
        </p:txBody>
      </p:sp>
      <p:sp>
        <p:nvSpPr>
          <p:cNvPr id="14" name="time-title-0">
            <a:extLst xmlns:a="http://schemas.openxmlformats.org/drawingml/2006/main">
              <a:ext uri="{FF2B5EF4-FFF2-40B4-BE49-F238E27FC236}">
                <a16:creationId xmlns:a16="http://schemas.microsoft.com/office/drawing/2014/main" id="{28B1FBCA-0475-456C-8676-C66DAE71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A24"/>
                </a:solidFill>
              </a:defRPr>
            </a:pPr>
            <a:r>
              <a:rPr sz="1500" b="1">
                <a:solidFill>
                  <a:srgbClr val="162A24"/>
                </a:solidFill>
              </a:rPr>
              <a:t>当前基础</a:t>
            </a:r>
          </a:p>
        </p:txBody>
      </p:sp>
      <p:sp>
        <p:nvSpPr>
          <p:cNvPr id="15" name="time-detail-0">
            <a:extLst xmlns:a="http://schemas.openxmlformats.org/drawingml/2006/main">
              <a:ext uri="{FF2B5EF4-FFF2-40B4-BE49-F238E27FC236}">
                <a16:creationId xmlns:a16="http://schemas.microsoft.com/office/drawing/2014/main" id="{CCB1C4C2-E1B2-47DA-A3FF-B6EDD5A7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718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66F"/>
                </a:solidFill>
              </a:defRPr>
            </a:pPr>
            <a:r>
              <a:rPr sz="825" b="0">
                <a:solidFill>
                  <a:srgbClr val="69766F"/>
                </a:solidFill>
              </a:rPr>
              <a:t>填写来源确认的时间与里程碑</a:t>
            </a:r>
          </a:p>
        </p:txBody>
      </p:sp>
      <p:sp>
        <p:nvSpPr>
          <p:cNvPr id="16" name="time-dot-1">
            <a:extLst xmlns:a="http://schemas.openxmlformats.org/drawingml/2006/main">
              <a:ext uri="{FF2B5EF4-FFF2-40B4-BE49-F238E27FC236}">
                <a16:creationId xmlns:a16="http://schemas.microsoft.com/office/drawing/2014/main" id="{5489791B-1D23-442C-B32A-D8408FC3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95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ime-1">
            <a:extLst xmlns:a="http://schemas.openxmlformats.org/drawingml/2006/main">
              <a:ext uri="{FF2B5EF4-FFF2-40B4-BE49-F238E27FC236}">
                <a16:creationId xmlns:a16="http://schemas.microsoft.com/office/drawing/2014/main" id="{11D9AA7F-004C-4E34-A524-689958BF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95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866"/>
                </a:solidFill>
              </a:defRPr>
            </a:pPr>
            <a:r>
              <a:rPr sz="975" b="1">
                <a:solidFill>
                  <a:srgbClr val="1C7866"/>
                </a:solidFill>
              </a:rPr>
              <a:t>T+1</a:t>
            </a:r>
          </a:p>
        </p:txBody>
      </p:sp>
      <p:sp>
        <p:nvSpPr>
          <p:cNvPr id="18" name="time-title-1">
            <a:extLst xmlns:a="http://schemas.openxmlformats.org/drawingml/2006/main">
              <a:ext uri="{FF2B5EF4-FFF2-40B4-BE49-F238E27FC236}">
                <a16:creationId xmlns:a16="http://schemas.microsoft.com/office/drawing/2014/main" id="{3526F800-1626-4D37-9916-BACDF64B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71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A24"/>
                </a:solidFill>
              </a:defRPr>
            </a:pPr>
            <a:r>
              <a:rPr sz="1500" b="1">
                <a:solidFill>
                  <a:srgbClr val="162A24"/>
                </a:solidFill>
              </a:rPr>
              <a:t>完成审批</a:t>
            </a:r>
          </a:p>
        </p:txBody>
      </p:sp>
      <p:sp>
        <p:nvSpPr>
          <p:cNvPr id="19" name="time-detail-1">
            <a:extLst xmlns:a="http://schemas.openxmlformats.org/drawingml/2006/main">
              <a:ext uri="{FF2B5EF4-FFF2-40B4-BE49-F238E27FC236}">
                <a16:creationId xmlns:a16="http://schemas.microsoft.com/office/drawing/2014/main" id="{E6FD3650-88DD-4CE8-BAE4-4FEB216E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718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66F"/>
                </a:solidFill>
              </a:defRPr>
            </a:pPr>
            <a:r>
              <a:rPr sz="825" b="0">
                <a:solidFill>
                  <a:srgbClr val="69766F"/>
                </a:solidFill>
              </a:rPr>
              <a:t>填写来源确认的时间与里程碑</a:t>
            </a:r>
          </a:p>
        </p:txBody>
      </p:sp>
      <p:sp>
        <p:nvSpPr>
          <p:cNvPr id="20" name="time-dot-2">
            <a:extLst xmlns:a="http://schemas.openxmlformats.org/drawingml/2006/main">
              <a:ext uri="{FF2B5EF4-FFF2-40B4-BE49-F238E27FC236}">
                <a16:creationId xmlns:a16="http://schemas.microsoft.com/office/drawing/2014/main" id="{C2F0A007-3E40-4774-8B9E-D1345C59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95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ime-2">
            <a:extLst xmlns:a="http://schemas.openxmlformats.org/drawingml/2006/main">
              <a:ext uri="{FF2B5EF4-FFF2-40B4-BE49-F238E27FC236}">
                <a16:creationId xmlns:a16="http://schemas.microsoft.com/office/drawing/2014/main" id="{D00CBF23-7100-426B-A1C0-17E1CB63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866"/>
                </a:solidFill>
              </a:defRPr>
            </a:pPr>
            <a:r>
              <a:rPr sz="975" b="1">
                <a:solidFill>
                  <a:srgbClr val="1C7866"/>
                </a:solidFill>
              </a:rPr>
              <a:t>T+2</a:t>
            </a:r>
          </a:p>
        </p:txBody>
      </p:sp>
      <p:sp>
        <p:nvSpPr>
          <p:cNvPr id="22" name="time-title-2">
            <a:extLst xmlns:a="http://schemas.openxmlformats.org/drawingml/2006/main">
              <a:ext uri="{FF2B5EF4-FFF2-40B4-BE49-F238E27FC236}">
                <a16:creationId xmlns:a16="http://schemas.microsoft.com/office/drawing/2014/main" id="{A2DB23B4-7EC9-4AAB-991F-35AF330A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71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A24"/>
                </a:solidFill>
              </a:defRPr>
            </a:pPr>
            <a:r>
              <a:rPr sz="1500" b="1">
                <a:solidFill>
                  <a:srgbClr val="162A24"/>
                </a:solidFill>
              </a:rPr>
              <a:t>进入运营</a:t>
            </a:r>
          </a:p>
        </p:txBody>
      </p:sp>
      <p:sp>
        <p:nvSpPr>
          <p:cNvPr id="23" name="time-detail-2">
            <a:extLst xmlns:a="http://schemas.openxmlformats.org/drawingml/2006/main">
              <a:ext uri="{FF2B5EF4-FFF2-40B4-BE49-F238E27FC236}">
                <a16:creationId xmlns:a16="http://schemas.microsoft.com/office/drawing/2014/main" id="{363BB84E-4264-4726-A919-DB558999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718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66F"/>
                </a:solidFill>
              </a:defRPr>
            </a:pPr>
            <a:r>
              <a:rPr sz="825" b="0">
                <a:solidFill>
                  <a:srgbClr val="69766F"/>
                </a:solidFill>
              </a:rPr>
              <a:t>填写来源确认的时间与里程碑</a:t>
            </a:r>
          </a:p>
        </p:txBody>
      </p:sp>
      <p:sp>
        <p:nvSpPr>
          <p:cNvPr id="24" name="time-dot-3">
            <a:extLst xmlns:a="http://schemas.openxmlformats.org/drawingml/2006/main">
              <a:ext uri="{FF2B5EF4-FFF2-40B4-BE49-F238E27FC236}">
                <a16:creationId xmlns:a16="http://schemas.microsoft.com/office/drawing/2014/main" id="{991B8718-21E5-4B74-B819-2C0691A9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495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7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ime-3">
            <a:extLst xmlns:a="http://schemas.openxmlformats.org/drawingml/2006/main">
              <a:ext uri="{FF2B5EF4-FFF2-40B4-BE49-F238E27FC236}">
                <a16:creationId xmlns:a16="http://schemas.microsoft.com/office/drawing/2014/main" id="{10AE9AAF-1900-4FC2-BA87-5EE212C4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866"/>
                </a:solidFill>
              </a:defRPr>
            </a:pPr>
            <a:r>
              <a:rPr sz="975" b="1">
                <a:solidFill>
                  <a:srgbClr val="1C7866"/>
                </a:solidFill>
              </a:rPr>
              <a:t>目标节点</a:t>
            </a:r>
          </a:p>
        </p:txBody>
      </p:sp>
      <p:sp>
        <p:nvSpPr>
          <p:cNvPr id="26" name="time-title-3">
            <a:extLst xmlns:a="http://schemas.openxmlformats.org/drawingml/2006/main">
              <a:ext uri="{FF2B5EF4-FFF2-40B4-BE49-F238E27FC236}">
                <a16:creationId xmlns:a16="http://schemas.microsoft.com/office/drawing/2014/main" id="{EC395E47-3D16-4941-806B-3612867E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71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A24"/>
                </a:solidFill>
              </a:defRPr>
            </a:pPr>
            <a:r>
              <a:rPr sz="1500" b="1">
                <a:solidFill>
                  <a:srgbClr val="162A24"/>
                </a:solidFill>
              </a:rPr>
              <a:t>形成目标能力</a:t>
            </a:r>
          </a:p>
        </p:txBody>
      </p:sp>
      <p:sp>
        <p:nvSpPr>
          <p:cNvPr id="27" name="time-detail-3">
            <a:extLst xmlns:a="http://schemas.openxmlformats.org/drawingml/2006/main">
              <a:ext uri="{FF2B5EF4-FFF2-40B4-BE49-F238E27FC236}">
                <a16:creationId xmlns:a16="http://schemas.microsoft.com/office/drawing/2014/main" id="{AD6E2507-D37A-4568-B2A1-B61E6DF0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718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66F"/>
                </a:solidFill>
              </a:defRPr>
            </a:pPr>
            <a:r>
              <a:rPr sz="825" b="0">
                <a:solidFill>
                  <a:srgbClr val="69766F"/>
                </a:solidFill>
              </a:rPr>
              <a:t>填写来源确认的时间与里程碑</a:t>
            </a:r>
          </a:p>
        </p:txBody>
      </p:sp>
    </p:spTree>
    <p:extLst>
      <p:ext uri="{BB962C8B-B14F-4D97-AF65-F5344CB8AC3E}">
        <p14:creationId xmlns:p14="http://schemas.microsoft.com/office/powerpoint/2010/main" val="3498809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rule-60-45">
            <a:extLst xmlns:a="http://schemas.openxmlformats.org/drawingml/2006/main">
              <a:ext uri="{FF2B5EF4-FFF2-40B4-BE49-F238E27FC236}">
                <a16:creationId xmlns:a16="http://schemas.microsoft.com/office/drawing/2014/main" id="{ADB486EA-DFA7-47CE-9441-AAD76411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accent">
            <a:extLst xmlns:a="http://schemas.openxmlformats.org/drawingml/2006/main">
              <a:ext uri="{FF2B5EF4-FFF2-40B4-BE49-F238E27FC236}">
                <a16:creationId xmlns:a16="http://schemas.microsoft.com/office/drawing/2014/main" id="{0AFB8A6F-24B5-4C8A-AAF7-8B747C5D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7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hapter">
            <a:extLst xmlns:a="http://schemas.openxmlformats.org/drawingml/2006/main">
              <a:ext uri="{FF2B5EF4-FFF2-40B4-BE49-F238E27FC236}">
                <a16:creationId xmlns:a16="http://schemas.microsoft.com/office/drawing/2014/main" id="{26E4239C-0218-4384-B61B-EFB6B096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C7866"/>
                </a:solidFill>
              </a:defRPr>
            </a:pPr>
            <a:r>
              <a:rPr sz="900" b="1">
                <a:solidFill>
                  <a:srgbClr val="1C7866"/>
                </a:solidFill>
              </a:rPr>
              <a:t>角色与职责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A05BCC6-6F6C-4232-98BC-3729E858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71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66F"/>
                </a:solidFill>
              </a:defRPr>
            </a:pPr>
            <a:r>
              <a:rPr sz="825" b="1">
                <a:solidFill>
                  <a:srgbClr val="69766F"/>
                </a:solidFill>
              </a:rPr>
              <a:t>07</a:t>
            </a:r>
          </a:p>
        </p:txBody>
      </p:sp>
      <p:sp>
        <p:nvSpPr>
          <p:cNvPr id="5" name="rule-60-674">
            <a:extLst xmlns:a="http://schemas.openxmlformats.org/drawingml/2006/main">
              <a:ext uri="{FF2B5EF4-FFF2-40B4-BE49-F238E27FC236}">
                <a16:creationId xmlns:a16="http://schemas.microsoft.com/office/drawing/2014/main" id="{D3BD6DA1-95AE-4547-90D4-B7E2FE85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9D332A15-A262-4DF9-94E0-2DC11F79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B879"/>
                </a:solidFill>
              </a:defRPr>
            </a:pPr>
            <a:r>
              <a:rPr sz="1200" b="1">
                <a:solidFill>
                  <a:srgbClr val="42B879"/>
                </a:solidFill>
              </a:rPr>
              <a:t>mint</a:t>
            </a:r>
          </a:p>
        </p:txBody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C97487DA-1272-4368-97F6-A881480B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77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来源：组件母版示例，生成材料时替换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B479D0F-3C21-4D22-AE7D-C3310176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07 / 15</a:t>
            </a:r>
          </a:p>
        </p:txBody>
      </p:sp>
      <p:sp>
        <p:nvSpPr>
          <p:cNvPr id="9" name="page-title">
            <a:extLst xmlns:a="http://schemas.openxmlformats.org/drawingml/2006/main">
              <a:ext uri="{FF2B5EF4-FFF2-40B4-BE49-F238E27FC236}">
                <a16:creationId xmlns:a16="http://schemas.microsoft.com/office/drawing/2014/main" id="{83EDEBC2-F06F-48C2-8435-BF3B0039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A24"/>
                </a:solidFill>
              </a:defRPr>
            </a:pPr>
            <a:r>
              <a:rPr sz="2250" b="1">
                <a:solidFill>
                  <a:srgbClr val="162A24"/>
                </a:solidFill>
              </a:rPr>
              <a:t>每个角色沿同一流程承担明确责任</a:t>
            </a:r>
          </a:p>
        </p:txBody>
      </p:sp>
      <p:sp>
        <p:nvSpPr>
          <p:cNvPr id="10" name="page-lead">
            <a:extLst xmlns:a="http://schemas.openxmlformats.org/drawingml/2006/main">
              <a:ext uri="{FF2B5EF4-FFF2-40B4-BE49-F238E27FC236}">
                <a16:creationId xmlns:a16="http://schemas.microsoft.com/office/drawing/2014/main" id="{AA20280D-2269-4008-9EA5-B785246D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用角色和动作组织阅读，不把职责拆成孤立卡片。</a:t>
            </a:r>
          </a:p>
        </p:txBody>
      </p:sp>
      <p:sp>
        <p:nvSpPr>
          <p:cNvPr id="11" name="lane-0">
            <a:extLst xmlns:a="http://schemas.openxmlformats.org/drawingml/2006/main">
              <a:ext uri="{FF2B5EF4-FFF2-40B4-BE49-F238E27FC236}">
                <a16:creationId xmlns:a16="http://schemas.microsoft.com/office/drawing/2014/main" id="{9C1C1ADF-BE73-4B74-8B5F-29FE6AEE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12" name="lane-actor-0">
            <a:extLst xmlns:a="http://schemas.openxmlformats.org/drawingml/2006/main">
              <a:ext uri="{FF2B5EF4-FFF2-40B4-BE49-F238E27FC236}">
                <a16:creationId xmlns:a16="http://schemas.microsoft.com/office/drawing/2014/main" id="{AA17092C-23D0-4233-A9EA-CE69D7D0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A24"/>
                </a:solidFill>
              </a:defRPr>
            </a:pPr>
            <a:r>
              <a:rPr sz="1350" b="1">
                <a:solidFill>
                  <a:srgbClr val="162A24"/>
                </a:solidFill>
              </a:rPr>
              <a:t>业务 Owner</a:t>
            </a:r>
          </a:p>
        </p:txBody>
      </p:sp>
      <p:sp>
        <p:nvSpPr>
          <p:cNvPr id="13" name="lane-0-0">
            <a:extLst xmlns:a="http://schemas.openxmlformats.org/drawingml/2006/main">
              <a:ext uri="{FF2B5EF4-FFF2-40B4-BE49-F238E27FC236}">
                <a16:creationId xmlns:a16="http://schemas.microsoft.com/office/drawing/2014/main" id="{DC059394-7C29-42C7-845B-26DF289C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C7866"/>
                </a:solidFill>
              </a:defRPr>
            </a:pPr>
            <a:r>
              <a:rPr sz="900" b="1">
                <a:solidFill>
                  <a:srgbClr val="1C7866"/>
                </a:solidFill>
              </a:rPr>
              <a:t>输入：主要责任</a:t>
            </a:r>
          </a:p>
        </p:txBody>
      </p:sp>
      <p:sp>
        <p:nvSpPr>
          <p:cNvPr id="14" name="lane-0-1">
            <a:extLst xmlns:a="http://schemas.openxmlformats.org/drawingml/2006/main">
              <a:ext uri="{FF2B5EF4-FFF2-40B4-BE49-F238E27FC236}">
                <a16:creationId xmlns:a16="http://schemas.microsoft.com/office/drawing/2014/main" id="{63F1465C-F4E0-4AE5-A75E-85EFB295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判断：配合</a:t>
            </a:r>
          </a:p>
        </p:txBody>
      </p:sp>
      <p:sp>
        <p:nvSpPr>
          <p:cNvPr id="15" name="lane-0-2">
            <a:extLst xmlns:a="http://schemas.openxmlformats.org/drawingml/2006/main">
              <a:ext uri="{FF2B5EF4-FFF2-40B4-BE49-F238E27FC236}">
                <a16:creationId xmlns:a16="http://schemas.microsoft.com/office/drawing/2014/main" id="{1ABF702A-7D4A-4F22-852F-5757448D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行动：配合</a:t>
            </a:r>
          </a:p>
        </p:txBody>
      </p:sp>
      <p:sp>
        <p:nvSpPr>
          <p:cNvPr id="16" name="lane-0-3">
            <a:extLst xmlns:a="http://schemas.openxmlformats.org/drawingml/2006/main">
              <a:ext uri="{FF2B5EF4-FFF2-40B4-BE49-F238E27FC236}">
                <a16:creationId xmlns:a16="http://schemas.microsoft.com/office/drawing/2014/main" id="{D03DD740-AC1F-4316-ABDA-D1485B17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结果：配合</a:t>
            </a:r>
          </a:p>
        </p:txBody>
      </p:sp>
      <p:sp>
        <p:nvSpPr>
          <p:cNvPr id="17" name="lane-1">
            <a:extLst xmlns:a="http://schemas.openxmlformats.org/drawingml/2006/main">
              <a:ext uri="{FF2B5EF4-FFF2-40B4-BE49-F238E27FC236}">
                <a16:creationId xmlns:a16="http://schemas.microsoft.com/office/drawing/2014/main" id="{4BCE790F-37BC-4799-BE33-B62D1A61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9875"/>
            <a:ext cx="1104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18" name="lane-actor-1">
            <a:extLst xmlns:a="http://schemas.openxmlformats.org/drawingml/2006/main">
              <a:ext uri="{FF2B5EF4-FFF2-40B4-BE49-F238E27FC236}">
                <a16:creationId xmlns:a16="http://schemas.microsoft.com/office/drawing/2014/main" id="{99131EF2-D283-4E93-A3D4-90F36AF6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A24"/>
                </a:solidFill>
              </a:defRPr>
            </a:pPr>
            <a:r>
              <a:rPr sz="1350" b="1">
                <a:solidFill>
                  <a:srgbClr val="162A24"/>
                </a:solidFill>
              </a:rPr>
              <a:t>数据 / 风险</a:t>
            </a:r>
          </a:p>
        </p:txBody>
      </p:sp>
      <p:sp>
        <p:nvSpPr>
          <p:cNvPr id="19" name="lane-1-0">
            <a:extLst xmlns:a="http://schemas.openxmlformats.org/drawingml/2006/main">
              <a:ext uri="{FF2B5EF4-FFF2-40B4-BE49-F238E27FC236}">
                <a16:creationId xmlns:a16="http://schemas.microsoft.com/office/drawing/2014/main" id="{60FCDA93-8453-4B2D-8235-BACF04AC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003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输入：配合</a:t>
            </a:r>
          </a:p>
        </p:txBody>
      </p:sp>
      <p:sp>
        <p:nvSpPr>
          <p:cNvPr id="20" name="lane-1-1">
            <a:extLst xmlns:a="http://schemas.openxmlformats.org/drawingml/2006/main">
              <a:ext uri="{FF2B5EF4-FFF2-40B4-BE49-F238E27FC236}">
                <a16:creationId xmlns:a16="http://schemas.microsoft.com/office/drawing/2014/main" id="{1CACCEC7-C437-4A13-A4CB-CB330033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C7866"/>
                </a:solidFill>
              </a:defRPr>
            </a:pPr>
            <a:r>
              <a:rPr sz="900" b="1">
                <a:solidFill>
                  <a:srgbClr val="1C7866"/>
                </a:solidFill>
              </a:rPr>
              <a:t>判断：主要责任</a:t>
            </a:r>
          </a:p>
        </p:txBody>
      </p:sp>
      <p:sp>
        <p:nvSpPr>
          <p:cNvPr id="21" name="lane-1-2">
            <a:extLst xmlns:a="http://schemas.openxmlformats.org/drawingml/2006/main">
              <a:ext uri="{FF2B5EF4-FFF2-40B4-BE49-F238E27FC236}">
                <a16:creationId xmlns:a16="http://schemas.microsoft.com/office/drawing/2014/main" id="{8A12AD6D-B06C-4707-98E6-E460D606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03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行动：配合</a:t>
            </a:r>
          </a:p>
        </p:txBody>
      </p:sp>
      <p:sp>
        <p:nvSpPr>
          <p:cNvPr id="22" name="lane-1-3">
            <a:extLst xmlns:a="http://schemas.openxmlformats.org/drawingml/2006/main">
              <a:ext uri="{FF2B5EF4-FFF2-40B4-BE49-F238E27FC236}">
                <a16:creationId xmlns:a16="http://schemas.microsoft.com/office/drawing/2014/main" id="{087EA5EA-D588-4AB9-9AF4-C1C3571F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结果：配合</a:t>
            </a:r>
          </a:p>
        </p:txBody>
      </p:sp>
      <p:sp>
        <p:nvSpPr>
          <p:cNvPr id="23" name="lane-2">
            <a:extLst xmlns:a="http://schemas.openxmlformats.org/drawingml/2006/main">
              <a:ext uri="{FF2B5EF4-FFF2-40B4-BE49-F238E27FC236}">
                <a16:creationId xmlns:a16="http://schemas.microsoft.com/office/drawing/2014/main" id="{2174BA4B-9969-4E57-801E-612F2386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1104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4" name="lane-actor-2">
            <a:extLst xmlns:a="http://schemas.openxmlformats.org/drawingml/2006/main">
              <a:ext uri="{FF2B5EF4-FFF2-40B4-BE49-F238E27FC236}">
                <a16:creationId xmlns:a16="http://schemas.microsoft.com/office/drawing/2014/main" id="{0EDDE6FE-E50A-4701-8121-0A0F22EE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A24"/>
                </a:solidFill>
              </a:defRPr>
            </a:pPr>
            <a:r>
              <a:rPr sz="1350" b="1">
                <a:solidFill>
                  <a:srgbClr val="162A24"/>
                </a:solidFill>
              </a:rPr>
              <a:t>合作机构</a:t>
            </a:r>
          </a:p>
        </p:txBody>
      </p:sp>
      <p:sp>
        <p:nvSpPr>
          <p:cNvPr id="25" name="lane-2-0">
            <a:extLst xmlns:a="http://schemas.openxmlformats.org/drawingml/2006/main">
              <a:ext uri="{FF2B5EF4-FFF2-40B4-BE49-F238E27FC236}">
                <a16:creationId xmlns:a16="http://schemas.microsoft.com/office/drawing/2014/main" id="{E0EB392B-C5E2-4F1C-AA8B-08A89628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005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输入：配合</a:t>
            </a:r>
          </a:p>
        </p:txBody>
      </p:sp>
      <p:sp>
        <p:nvSpPr>
          <p:cNvPr id="26" name="lane-2-1">
            <a:extLst xmlns:a="http://schemas.openxmlformats.org/drawingml/2006/main">
              <a:ext uri="{FF2B5EF4-FFF2-40B4-BE49-F238E27FC236}">
                <a16:creationId xmlns:a16="http://schemas.microsoft.com/office/drawing/2014/main" id="{08A5ABAB-D325-4F0D-BFCE-79A1FF40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判断：配合</a:t>
            </a:r>
          </a:p>
        </p:txBody>
      </p:sp>
      <p:sp>
        <p:nvSpPr>
          <p:cNvPr id="27" name="lane-2-2">
            <a:extLst xmlns:a="http://schemas.openxmlformats.org/drawingml/2006/main">
              <a:ext uri="{FF2B5EF4-FFF2-40B4-BE49-F238E27FC236}">
                <a16:creationId xmlns:a16="http://schemas.microsoft.com/office/drawing/2014/main" id="{EA9A9AFA-21AD-4743-8F18-3BD1D537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C7866"/>
                </a:solidFill>
              </a:defRPr>
            </a:pPr>
            <a:r>
              <a:rPr sz="900" b="1">
                <a:solidFill>
                  <a:srgbClr val="1C7866"/>
                </a:solidFill>
              </a:rPr>
              <a:t>行动：主要责任</a:t>
            </a:r>
          </a:p>
        </p:txBody>
      </p:sp>
      <p:sp>
        <p:nvSpPr>
          <p:cNvPr id="28" name="lane-2-3">
            <a:extLst xmlns:a="http://schemas.openxmlformats.org/drawingml/2006/main">
              <a:ext uri="{FF2B5EF4-FFF2-40B4-BE49-F238E27FC236}">
                <a16:creationId xmlns:a16="http://schemas.microsoft.com/office/drawing/2014/main" id="{322BF1BC-E7E1-46CD-87DF-EB7A143A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结果：配合</a:t>
            </a:r>
          </a:p>
        </p:txBody>
      </p:sp>
      <p:sp>
        <p:nvSpPr>
          <p:cNvPr id="29" name="lane-3">
            <a:extLst xmlns:a="http://schemas.openxmlformats.org/drawingml/2006/main">
              <a:ext uri="{FF2B5EF4-FFF2-40B4-BE49-F238E27FC236}">
                <a16:creationId xmlns:a16="http://schemas.microsoft.com/office/drawing/2014/main" id="{CE916E43-DBB2-4409-8779-BD3047AE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104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30" name="lane-actor-3">
            <a:extLst xmlns:a="http://schemas.openxmlformats.org/drawingml/2006/main">
              <a:ext uri="{FF2B5EF4-FFF2-40B4-BE49-F238E27FC236}">
                <a16:creationId xmlns:a16="http://schemas.microsoft.com/office/drawing/2014/main" id="{2D85364D-0233-4E89-BC59-9CE07FDB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A24"/>
                </a:solidFill>
              </a:defRPr>
            </a:pPr>
            <a:r>
              <a:rPr sz="1350" b="1">
                <a:solidFill>
                  <a:srgbClr val="162A24"/>
                </a:solidFill>
              </a:rPr>
              <a:t>管理层</a:t>
            </a:r>
          </a:p>
        </p:txBody>
      </p:sp>
      <p:sp>
        <p:nvSpPr>
          <p:cNvPr id="31" name="lane-3-0">
            <a:extLst xmlns:a="http://schemas.openxmlformats.org/drawingml/2006/main">
              <a:ext uri="{FF2B5EF4-FFF2-40B4-BE49-F238E27FC236}">
                <a16:creationId xmlns:a16="http://schemas.microsoft.com/office/drawing/2014/main" id="{E10EF00A-6C67-486C-AC7E-3DB38013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0062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输入：配合</a:t>
            </a:r>
          </a:p>
        </p:txBody>
      </p:sp>
      <p:sp>
        <p:nvSpPr>
          <p:cNvPr id="32" name="lane-3-1">
            <a:extLst xmlns:a="http://schemas.openxmlformats.org/drawingml/2006/main">
              <a:ext uri="{FF2B5EF4-FFF2-40B4-BE49-F238E27FC236}">
                <a16:creationId xmlns:a16="http://schemas.microsoft.com/office/drawing/2014/main" id="{FDCE406C-FD7A-46F7-BB2C-4262BEFE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0062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判断：配合</a:t>
            </a:r>
          </a:p>
        </p:txBody>
      </p:sp>
      <p:sp>
        <p:nvSpPr>
          <p:cNvPr id="33" name="lane-3-2">
            <a:extLst xmlns:a="http://schemas.openxmlformats.org/drawingml/2006/main">
              <a:ext uri="{FF2B5EF4-FFF2-40B4-BE49-F238E27FC236}">
                <a16:creationId xmlns:a16="http://schemas.microsoft.com/office/drawing/2014/main" id="{0C73F925-A4ED-421F-B6C7-02E32377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0062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行动：配合</a:t>
            </a:r>
          </a:p>
        </p:txBody>
      </p:sp>
      <p:sp>
        <p:nvSpPr>
          <p:cNvPr id="34" name="lane-3-3">
            <a:extLst xmlns:a="http://schemas.openxmlformats.org/drawingml/2006/main">
              <a:ext uri="{FF2B5EF4-FFF2-40B4-BE49-F238E27FC236}">
                <a16:creationId xmlns:a16="http://schemas.microsoft.com/office/drawing/2014/main" id="{ABF170F7-5EDA-48CB-8333-545D8D3D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0062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C7866"/>
                </a:solidFill>
              </a:defRPr>
            </a:pPr>
            <a:r>
              <a:rPr sz="900" b="1">
                <a:solidFill>
                  <a:srgbClr val="1C7866"/>
                </a:solidFill>
              </a:rPr>
              <a:t>结果：主要责任</a:t>
            </a:r>
          </a:p>
        </p:txBody>
      </p:sp>
    </p:spTree>
    <p:extLst>
      <p:ext uri="{BB962C8B-B14F-4D97-AF65-F5344CB8AC3E}">
        <p14:creationId xmlns:p14="http://schemas.microsoft.com/office/powerpoint/2010/main" val="18464732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rule-60-45">
            <a:extLst xmlns:a="http://schemas.openxmlformats.org/drawingml/2006/main">
              <a:ext uri="{FF2B5EF4-FFF2-40B4-BE49-F238E27FC236}">
                <a16:creationId xmlns:a16="http://schemas.microsoft.com/office/drawing/2014/main" id="{76D8E18B-F4CB-42E6-813A-7A9810B1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accent">
            <a:extLst xmlns:a="http://schemas.openxmlformats.org/drawingml/2006/main">
              <a:ext uri="{FF2B5EF4-FFF2-40B4-BE49-F238E27FC236}">
                <a16:creationId xmlns:a16="http://schemas.microsoft.com/office/drawing/2014/main" id="{051C6CE3-C857-446B-9375-B38F80A0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7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hapter">
            <a:extLst xmlns:a="http://schemas.openxmlformats.org/drawingml/2006/main">
              <a:ext uri="{FF2B5EF4-FFF2-40B4-BE49-F238E27FC236}">
                <a16:creationId xmlns:a16="http://schemas.microsoft.com/office/drawing/2014/main" id="{A11DF676-8306-47E0-B13A-E926AF51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C7866"/>
                </a:solidFill>
              </a:defRPr>
            </a:pPr>
            <a:r>
              <a:rPr sz="900" b="1">
                <a:solidFill>
                  <a:srgbClr val="1C7866"/>
                </a:solidFill>
              </a:rPr>
              <a:t>方案比较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604C4A-22E7-487F-8EB9-B26BD6AF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71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66F"/>
                </a:solidFill>
              </a:defRPr>
            </a:pPr>
            <a:r>
              <a:rPr sz="825" b="1">
                <a:solidFill>
                  <a:srgbClr val="69766F"/>
                </a:solidFill>
              </a:rPr>
              <a:t>08</a:t>
            </a:r>
          </a:p>
        </p:txBody>
      </p:sp>
      <p:sp>
        <p:nvSpPr>
          <p:cNvPr id="5" name="rule-60-674">
            <a:extLst xmlns:a="http://schemas.openxmlformats.org/drawingml/2006/main">
              <a:ext uri="{FF2B5EF4-FFF2-40B4-BE49-F238E27FC236}">
                <a16:creationId xmlns:a16="http://schemas.microsoft.com/office/drawing/2014/main" id="{9F85E97C-5FAE-46DD-BA36-EE959798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6C692188-AF4E-43FD-A1CE-CA29A0A5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B879"/>
                </a:solidFill>
              </a:defRPr>
            </a:pPr>
            <a:r>
              <a:rPr sz="1200" b="1">
                <a:solidFill>
                  <a:srgbClr val="42B879"/>
                </a:solidFill>
              </a:rPr>
              <a:t>mint</a:t>
            </a:r>
          </a:p>
        </p:txBody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EC6E9683-0594-449F-9320-EE974A14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77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来源：组件母版示例，生成材料时替换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4DD4FFB-D403-4DC2-972A-DD0EEB76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08 / 15</a:t>
            </a:r>
          </a:p>
        </p:txBody>
      </p:sp>
      <p:sp>
        <p:nvSpPr>
          <p:cNvPr id="9" name="page-title">
            <a:extLst xmlns:a="http://schemas.openxmlformats.org/drawingml/2006/main">
              <a:ext uri="{FF2B5EF4-FFF2-40B4-BE49-F238E27FC236}">
                <a16:creationId xmlns:a16="http://schemas.microsoft.com/office/drawing/2014/main" id="{A0779201-E5E8-4528-B90C-76F2D264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A24"/>
                </a:solidFill>
              </a:defRPr>
            </a:pPr>
            <a:r>
              <a:rPr sz="2250" b="1">
                <a:solidFill>
                  <a:srgbClr val="162A24"/>
                </a:solidFill>
              </a:rPr>
              <a:t>两个方案按同一维度比较，差异一眼可见</a:t>
            </a:r>
          </a:p>
        </p:txBody>
      </p:sp>
      <p:sp>
        <p:nvSpPr>
          <p:cNvPr id="10" name="page-lead">
            <a:extLst xmlns:a="http://schemas.openxmlformats.org/drawingml/2006/main">
              <a:ext uri="{FF2B5EF4-FFF2-40B4-BE49-F238E27FC236}">
                <a16:creationId xmlns:a16="http://schemas.microsoft.com/office/drawing/2014/main" id="{9C3F214B-630E-4D8E-80CC-1A63330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评价维度保持一致，结论不能由版式制造。</a:t>
            </a:r>
          </a:p>
        </p:txBody>
      </p:sp>
      <p:sp>
        <p:nvSpPr>
          <p:cNvPr id="11" name="comparison-0">
            <a:extLst xmlns:a="http://schemas.openxmlformats.org/drawingml/2006/main">
              <a:ext uri="{FF2B5EF4-FFF2-40B4-BE49-F238E27FC236}">
                <a16:creationId xmlns:a16="http://schemas.microsoft.com/office/drawing/2014/main" id="{0E633C00-E43E-4A52-A114-1151DD65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429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12" name="comparison-accent-0">
            <a:extLst xmlns:a="http://schemas.openxmlformats.org/drawingml/2006/main">
              <a:ext uri="{FF2B5EF4-FFF2-40B4-BE49-F238E27FC236}">
                <a16:creationId xmlns:a16="http://schemas.microsoft.com/office/drawing/2014/main" id="{FEFDA0EE-CD59-43C3-B3F0-5E58AD55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mparison-title-0">
            <a:extLst xmlns:a="http://schemas.openxmlformats.org/drawingml/2006/main">
              <a:ext uri="{FF2B5EF4-FFF2-40B4-BE49-F238E27FC236}">
                <a16:creationId xmlns:a16="http://schemas.microsoft.com/office/drawing/2014/main" id="{ADDD6CF8-3243-4F29-B0FB-393E1BD8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2A24"/>
                </a:solidFill>
              </a:defRPr>
            </a:pPr>
            <a:r>
              <a:rPr sz="1875" b="1">
                <a:solidFill>
                  <a:srgbClr val="162A24"/>
                </a:solidFill>
              </a:rPr>
              <a:t>方案 A</a:t>
            </a:r>
          </a:p>
        </p:txBody>
      </p:sp>
      <p:sp>
        <p:nvSpPr>
          <p:cNvPr id="14" name="rule-90-292">
            <a:extLst xmlns:a="http://schemas.openxmlformats.org/drawingml/2006/main">
              <a:ext uri="{FF2B5EF4-FFF2-40B4-BE49-F238E27FC236}">
                <a16:creationId xmlns:a16="http://schemas.microsoft.com/office/drawing/2014/main" id="{34E94091-10F2-40BB-9DBD-590CBB2B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mparison-label-0-0">
            <a:extLst xmlns:a="http://schemas.openxmlformats.org/drawingml/2006/main">
              <a:ext uri="{FF2B5EF4-FFF2-40B4-BE49-F238E27FC236}">
                <a16:creationId xmlns:a16="http://schemas.microsoft.com/office/drawing/2014/main" id="{A1800F50-F497-4CB7-A00B-57AD58F7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66F"/>
                </a:solidFill>
              </a:defRPr>
            </a:pPr>
            <a:r>
              <a:rPr sz="900" b="1">
                <a:solidFill>
                  <a:srgbClr val="69766F"/>
                </a:solidFill>
              </a:rPr>
              <a:t>适用场景</a:t>
            </a:r>
          </a:p>
        </p:txBody>
      </p:sp>
      <p:sp>
        <p:nvSpPr>
          <p:cNvPr id="16" name="comparison-value-0-0">
            <a:extLst xmlns:a="http://schemas.openxmlformats.org/drawingml/2006/main">
              <a:ext uri="{FF2B5EF4-FFF2-40B4-BE49-F238E27FC236}">
                <a16:creationId xmlns:a16="http://schemas.microsoft.com/office/drawing/2014/main" id="{E0408AC0-B3F1-4C9B-9503-01FE5B17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A24"/>
                </a:solidFill>
              </a:defRPr>
            </a:pPr>
            <a:r>
              <a:rPr sz="1050" b="0">
                <a:solidFill>
                  <a:srgbClr val="162A24"/>
                </a:solidFill>
              </a:rPr>
              <a:t>填写已确认内容</a:t>
            </a:r>
          </a:p>
        </p:txBody>
      </p:sp>
      <p:sp>
        <p:nvSpPr>
          <p:cNvPr id="17" name="rule-90-356">
            <a:extLst xmlns:a="http://schemas.openxmlformats.org/drawingml/2006/main">
              <a:ext uri="{FF2B5EF4-FFF2-40B4-BE49-F238E27FC236}">
                <a16:creationId xmlns:a16="http://schemas.microsoft.com/office/drawing/2014/main" id="{150F2980-B9CC-4031-A6AD-3399BF62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arison-label-0-1">
            <a:extLst xmlns:a="http://schemas.openxmlformats.org/drawingml/2006/main">
              <a:ext uri="{FF2B5EF4-FFF2-40B4-BE49-F238E27FC236}">
                <a16:creationId xmlns:a16="http://schemas.microsoft.com/office/drawing/2014/main" id="{0A3A47FE-F77B-442E-99D0-3E34034F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66F"/>
                </a:solidFill>
              </a:defRPr>
            </a:pPr>
            <a:r>
              <a:rPr sz="900" b="1">
                <a:solidFill>
                  <a:srgbClr val="69766F"/>
                </a:solidFill>
              </a:rPr>
              <a:t>关键优势</a:t>
            </a:r>
          </a:p>
        </p:txBody>
      </p:sp>
      <p:sp>
        <p:nvSpPr>
          <p:cNvPr id="19" name="comparison-value-0-1">
            <a:extLst xmlns:a="http://schemas.openxmlformats.org/drawingml/2006/main">
              <a:ext uri="{FF2B5EF4-FFF2-40B4-BE49-F238E27FC236}">
                <a16:creationId xmlns:a16="http://schemas.microsoft.com/office/drawing/2014/main" id="{1E6120F1-0557-4D95-B106-A6307772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86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A24"/>
                </a:solidFill>
              </a:defRPr>
            </a:pPr>
            <a:r>
              <a:rPr sz="1050" b="0">
                <a:solidFill>
                  <a:srgbClr val="162A24"/>
                </a:solidFill>
              </a:rPr>
              <a:t>填写已确认内容</a:t>
            </a:r>
          </a:p>
        </p:txBody>
      </p:sp>
      <p:sp>
        <p:nvSpPr>
          <p:cNvPr id="20" name="rule-90-420">
            <a:extLst xmlns:a="http://schemas.openxmlformats.org/drawingml/2006/main">
              <a:ext uri="{FF2B5EF4-FFF2-40B4-BE49-F238E27FC236}">
                <a16:creationId xmlns:a16="http://schemas.microsoft.com/office/drawing/2014/main" id="{C546028F-D63B-4EE9-917E-707F18A2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mparison-label-0-2">
            <a:extLst xmlns:a="http://schemas.openxmlformats.org/drawingml/2006/main">
              <a:ext uri="{FF2B5EF4-FFF2-40B4-BE49-F238E27FC236}">
                <a16:creationId xmlns:a16="http://schemas.microsoft.com/office/drawing/2014/main" id="{AE8481FE-BD62-4BFB-8463-F79604DD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66F"/>
                </a:solidFill>
              </a:defRPr>
            </a:pPr>
            <a:r>
              <a:rPr sz="900" b="1">
                <a:solidFill>
                  <a:srgbClr val="69766F"/>
                </a:solidFill>
              </a:rPr>
              <a:t>主要限制</a:t>
            </a:r>
          </a:p>
        </p:txBody>
      </p:sp>
      <p:sp>
        <p:nvSpPr>
          <p:cNvPr id="22" name="comparison-value-0-2">
            <a:extLst xmlns:a="http://schemas.openxmlformats.org/drawingml/2006/main">
              <a:ext uri="{FF2B5EF4-FFF2-40B4-BE49-F238E27FC236}">
                <a16:creationId xmlns:a16="http://schemas.microsoft.com/office/drawing/2014/main" id="{EAB69CB8-814B-4694-AA60-2DC01C9A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95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A24"/>
                </a:solidFill>
              </a:defRPr>
            </a:pPr>
            <a:r>
              <a:rPr sz="1050" b="0">
                <a:solidFill>
                  <a:srgbClr val="162A24"/>
                </a:solidFill>
              </a:rPr>
              <a:t>填写已确认内容</a:t>
            </a:r>
          </a:p>
        </p:txBody>
      </p:sp>
      <p:sp>
        <p:nvSpPr>
          <p:cNvPr id="23" name="rule-90-484">
            <a:extLst xmlns:a="http://schemas.openxmlformats.org/drawingml/2006/main">
              <a:ext uri="{FF2B5EF4-FFF2-40B4-BE49-F238E27FC236}">
                <a16:creationId xmlns:a16="http://schemas.microsoft.com/office/drawing/2014/main" id="{D36EF5B7-1C02-4373-B527-AE3D51A1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mparison-label-0-3">
            <a:extLst xmlns:a="http://schemas.openxmlformats.org/drawingml/2006/main">
              <a:ext uri="{FF2B5EF4-FFF2-40B4-BE49-F238E27FC236}">
                <a16:creationId xmlns:a16="http://schemas.microsoft.com/office/drawing/2014/main" id="{F4E479EC-FE89-40C5-A3AC-4528E2F5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66F"/>
                </a:solidFill>
              </a:defRPr>
            </a:pPr>
            <a:r>
              <a:rPr sz="900" b="1">
                <a:solidFill>
                  <a:srgbClr val="69766F"/>
                </a:solidFill>
              </a:rPr>
              <a:t>验证条件</a:t>
            </a:r>
          </a:p>
        </p:txBody>
      </p:sp>
      <p:sp>
        <p:nvSpPr>
          <p:cNvPr id="25" name="comparison-value-0-3">
            <a:extLst xmlns:a="http://schemas.openxmlformats.org/drawingml/2006/main">
              <a:ext uri="{FF2B5EF4-FFF2-40B4-BE49-F238E27FC236}">
                <a16:creationId xmlns:a16="http://schemas.microsoft.com/office/drawing/2014/main" id="{AD9E065C-1041-405D-B829-EDF40D69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053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A24"/>
                </a:solidFill>
              </a:defRPr>
            </a:pPr>
            <a:r>
              <a:rPr sz="1050" b="0">
                <a:solidFill>
                  <a:srgbClr val="162A24"/>
                </a:solidFill>
              </a:rPr>
              <a:t>填写已确认内容</a:t>
            </a:r>
          </a:p>
        </p:txBody>
      </p:sp>
      <p:sp>
        <p:nvSpPr>
          <p:cNvPr id="26" name="comparison-1">
            <a:extLst xmlns:a="http://schemas.openxmlformats.org/drawingml/2006/main">
              <a:ext uri="{FF2B5EF4-FFF2-40B4-BE49-F238E27FC236}">
                <a16:creationId xmlns:a16="http://schemas.microsoft.com/office/drawing/2014/main" id="{2CE0B9DC-2A56-4D25-A90B-FCB27B83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429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7" name="comparison-accent-1">
            <a:extLst xmlns:a="http://schemas.openxmlformats.org/drawingml/2006/main">
              <a:ext uri="{FF2B5EF4-FFF2-40B4-BE49-F238E27FC236}">
                <a16:creationId xmlns:a16="http://schemas.microsoft.com/office/drawing/2014/main" id="{ECDF6A0B-E73D-4A70-BDCA-642BE91F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42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E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mparison-title-1">
            <a:extLst xmlns:a="http://schemas.openxmlformats.org/drawingml/2006/main">
              <a:ext uri="{FF2B5EF4-FFF2-40B4-BE49-F238E27FC236}">
                <a16:creationId xmlns:a16="http://schemas.microsoft.com/office/drawing/2014/main" id="{B3715D30-4E85-4813-8392-A903920B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2A24"/>
                </a:solidFill>
              </a:defRPr>
            </a:pPr>
            <a:r>
              <a:rPr sz="1875" b="1">
                <a:solidFill>
                  <a:srgbClr val="162A24"/>
                </a:solidFill>
              </a:rPr>
              <a:t>方案 B</a:t>
            </a:r>
          </a:p>
        </p:txBody>
      </p:sp>
      <p:sp>
        <p:nvSpPr>
          <p:cNvPr id="29" name="rule-680-292">
            <a:extLst xmlns:a="http://schemas.openxmlformats.org/drawingml/2006/main">
              <a:ext uri="{FF2B5EF4-FFF2-40B4-BE49-F238E27FC236}">
                <a16:creationId xmlns:a16="http://schemas.microsoft.com/office/drawing/2014/main" id="{DC5DAC58-C34C-43B5-906B-1FB95C1A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mparison-label-1-0">
            <a:extLst xmlns:a="http://schemas.openxmlformats.org/drawingml/2006/main">
              <a:ext uri="{FF2B5EF4-FFF2-40B4-BE49-F238E27FC236}">
                <a16:creationId xmlns:a16="http://schemas.microsoft.com/office/drawing/2014/main" id="{164AA460-6BCC-497B-B784-505A73EE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66F"/>
                </a:solidFill>
              </a:defRPr>
            </a:pPr>
            <a:r>
              <a:rPr sz="900" b="1">
                <a:solidFill>
                  <a:srgbClr val="69766F"/>
                </a:solidFill>
              </a:rPr>
              <a:t>适用场景</a:t>
            </a:r>
          </a:p>
        </p:txBody>
      </p:sp>
      <p:sp>
        <p:nvSpPr>
          <p:cNvPr id="31" name="comparison-value-1-0">
            <a:extLst xmlns:a="http://schemas.openxmlformats.org/drawingml/2006/main">
              <a:ext uri="{FF2B5EF4-FFF2-40B4-BE49-F238E27FC236}">
                <a16:creationId xmlns:a16="http://schemas.microsoft.com/office/drawing/2014/main" id="{C5C784FB-1238-4BC3-86BC-E1592E79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765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A24"/>
                </a:solidFill>
              </a:defRPr>
            </a:pPr>
            <a:r>
              <a:rPr sz="1050" b="0">
                <a:solidFill>
                  <a:srgbClr val="162A24"/>
                </a:solidFill>
              </a:rPr>
              <a:t>填写已确认内容</a:t>
            </a:r>
          </a:p>
        </p:txBody>
      </p:sp>
      <p:sp>
        <p:nvSpPr>
          <p:cNvPr id="32" name="rule-680-356">
            <a:extLst xmlns:a="http://schemas.openxmlformats.org/drawingml/2006/main">
              <a:ext uri="{FF2B5EF4-FFF2-40B4-BE49-F238E27FC236}">
                <a16:creationId xmlns:a16="http://schemas.microsoft.com/office/drawing/2014/main" id="{5A78D111-8B00-468B-8109-3AA47E39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mparison-label-1-1">
            <a:extLst xmlns:a="http://schemas.openxmlformats.org/drawingml/2006/main">
              <a:ext uri="{FF2B5EF4-FFF2-40B4-BE49-F238E27FC236}">
                <a16:creationId xmlns:a16="http://schemas.microsoft.com/office/drawing/2014/main" id="{F1C1CF38-7DDD-41A8-8D8F-FD9C7D47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66F"/>
                </a:solidFill>
              </a:defRPr>
            </a:pPr>
            <a:r>
              <a:rPr sz="900" b="1">
                <a:solidFill>
                  <a:srgbClr val="69766F"/>
                </a:solidFill>
              </a:rPr>
              <a:t>关键优势</a:t>
            </a:r>
          </a:p>
        </p:txBody>
      </p:sp>
      <p:sp>
        <p:nvSpPr>
          <p:cNvPr id="34" name="comparison-value-1-1">
            <a:extLst xmlns:a="http://schemas.openxmlformats.org/drawingml/2006/main">
              <a:ext uri="{FF2B5EF4-FFF2-40B4-BE49-F238E27FC236}">
                <a16:creationId xmlns:a16="http://schemas.microsoft.com/office/drawing/2014/main" id="{60F9774D-96FE-46D7-8920-F63A4D77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86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A24"/>
                </a:solidFill>
              </a:defRPr>
            </a:pPr>
            <a:r>
              <a:rPr sz="1050" b="0">
                <a:solidFill>
                  <a:srgbClr val="162A24"/>
                </a:solidFill>
              </a:rPr>
              <a:t>填写已确认内容</a:t>
            </a:r>
          </a:p>
        </p:txBody>
      </p:sp>
      <p:sp>
        <p:nvSpPr>
          <p:cNvPr id="35" name="rule-680-420">
            <a:extLst xmlns:a="http://schemas.openxmlformats.org/drawingml/2006/main">
              <a:ext uri="{FF2B5EF4-FFF2-40B4-BE49-F238E27FC236}">
                <a16:creationId xmlns:a16="http://schemas.microsoft.com/office/drawing/2014/main" id="{A42EF90F-A48E-4913-A1FA-8DC83E20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omparison-label-1-2">
            <a:extLst xmlns:a="http://schemas.openxmlformats.org/drawingml/2006/main">
              <a:ext uri="{FF2B5EF4-FFF2-40B4-BE49-F238E27FC236}">
                <a16:creationId xmlns:a16="http://schemas.microsoft.com/office/drawing/2014/main" id="{D2D7A975-A591-48AB-A3F2-54F47920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66F"/>
                </a:solidFill>
              </a:defRPr>
            </a:pPr>
            <a:r>
              <a:rPr sz="900" b="1">
                <a:solidFill>
                  <a:srgbClr val="69766F"/>
                </a:solidFill>
              </a:rPr>
              <a:t>主要限制</a:t>
            </a:r>
          </a:p>
        </p:txBody>
      </p:sp>
      <p:sp>
        <p:nvSpPr>
          <p:cNvPr id="37" name="comparison-value-1-2">
            <a:extLst xmlns:a="http://schemas.openxmlformats.org/drawingml/2006/main">
              <a:ext uri="{FF2B5EF4-FFF2-40B4-BE49-F238E27FC236}">
                <a16:creationId xmlns:a16="http://schemas.microsoft.com/office/drawing/2014/main" id="{6551351F-355F-4DB5-A671-ABC54EE6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95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A24"/>
                </a:solidFill>
              </a:defRPr>
            </a:pPr>
            <a:r>
              <a:rPr sz="1050" b="0">
                <a:solidFill>
                  <a:srgbClr val="162A24"/>
                </a:solidFill>
              </a:rPr>
              <a:t>填写已确认内容</a:t>
            </a:r>
          </a:p>
        </p:txBody>
      </p:sp>
      <p:sp>
        <p:nvSpPr>
          <p:cNvPr id="38" name="rule-680-484">
            <a:extLst xmlns:a="http://schemas.openxmlformats.org/drawingml/2006/main">
              <a:ext uri="{FF2B5EF4-FFF2-40B4-BE49-F238E27FC236}">
                <a16:creationId xmlns:a16="http://schemas.microsoft.com/office/drawing/2014/main" id="{E73F6F20-5317-45D3-A9BF-D9C962C0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010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mparison-label-1-3">
            <a:extLst xmlns:a="http://schemas.openxmlformats.org/drawingml/2006/main">
              <a:ext uri="{FF2B5EF4-FFF2-40B4-BE49-F238E27FC236}">
                <a16:creationId xmlns:a16="http://schemas.microsoft.com/office/drawing/2014/main" id="{5C6A2924-A9C9-4A11-953C-1A5571DC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66F"/>
                </a:solidFill>
              </a:defRPr>
            </a:pPr>
            <a:r>
              <a:rPr sz="900" b="1">
                <a:solidFill>
                  <a:srgbClr val="69766F"/>
                </a:solidFill>
              </a:rPr>
              <a:t>验证条件</a:t>
            </a:r>
          </a:p>
        </p:txBody>
      </p:sp>
      <p:sp>
        <p:nvSpPr>
          <p:cNvPr id="40" name="comparison-value-1-3">
            <a:extLst xmlns:a="http://schemas.openxmlformats.org/drawingml/2006/main">
              <a:ext uri="{FF2B5EF4-FFF2-40B4-BE49-F238E27FC236}">
                <a16:creationId xmlns:a16="http://schemas.microsoft.com/office/drawing/2014/main" id="{A28B75AF-CA97-4505-9FF1-4D2CB8B4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7053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A24"/>
                </a:solidFill>
              </a:defRPr>
            </a:pPr>
            <a:r>
              <a:rPr sz="1050" b="0">
                <a:solidFill>
                  <a:srgbClr val="162A24"/>
                </a:solidFill>
              </a:rPr>
              <a:t>填写已确认内容</a:t>
            </a:r>
          </a:p>
        </p:txBody>
      </p:sp>
    </p:spTree>
    <p:extLst>
      <p:ext uri="{BB962C8B-B14F-4D97-AF65-F5344CB8AC3E}">
        <p14:creationId xmlns:p14="http://schemas.microsoft.com/office/powerpoint/2010/main" val="5440966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ule-60-45">
            <a:extLst xmlns:a="http://schemas.openxmlformats.org/drawingml/2006/main">
              <a:ext uri="{FF2B5EF4-FFF2-40B4-BE49-F238E27FC236}">
                <a16:creationId xmlns:a16="http://schemas.microsoft.com/office/drawing/2014/main" id="{40A2B2E3-3610-409E-8317-AFE90050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accent">
            <a:extLst xmlns:a="http://schemas.openxmlformats.org/drawingml/2006/main">
              <a:ext uri="{FF2B5EF4-FFF2-40B4-BE49-F238E27FC236}">
                <a16:creationId xmlns:a16="http://schemas.microsoft.com/office/drawing/2014/main" id="{88B650D0-2A25-47BA-9563-0594FF54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7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hapter">
            <a:extLst xmlns:a="http://schemas.openxmlformats.org/drawingml/2006/main">
              <a:ext uri="{FF2B5EF4-FFF2-40B4-BE49-F238E27FC236}">
                <a16:creationId xmlns:a16="http://schemas.microsoft.com/office/drawing/2014/main" id="{C7F3834F-BD34-4F6F-A7AC-28D79D32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C7866"/>
                </a:solidFill>
              </a:defRPr>
            </a:pPr>
            <a:r>
              <a:rPr sz="900" b="1">
                <a:solidFill>
                  <a:srgbClr val="1C7866"/>
                </a:solidFill>
              </a:rPr>
              <a:t>分类矩阵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2979E90-AC92-405B-B2B4-8878E67B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71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66F"/>
                </a:solidFill>
              </a:defRPr>
            </a:pPr>
            <a:r>
              <a:rPr sz="825" b="1">
                <a:solidFill>
                  <a:srgbClr val="69766F"/>
                </a:solidFill>
              </a:rPr>
              <a:t>09</a:t>
            </a:r>
          </a:p>
        </p:txBody>
      </p:sp>
      <p:sp>
        <p:nvSpPr>
          <p:cNvPr id="5" name="rule-60-674">
            <a:extLst xmlns:a="http://schemas.openxmlformats.org/drawingml/2006/main">
              <a:ext uri="{FF2B5EF4-FFF2-40B4-BE49-F238E27FC236}">
                <a16:creationId xmlns:a16="http://schemas.microsoft.com/office/drawing/2014/main" id="{26A64936-88CA-4296-8BBC-3C3A5559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D3540A41-B777-4069-8BB9-1EE97653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B879"/>
                </a:solidFill>
              </a:defRPr>
            </a:pPr>
            <a:r>
              <a:rPr sz="1200" b="1">
                <a:solidFill>
                  <a:srgbClr val="42B879"/>
                </a:solidFill>
              </a:rPr>
              <a:t>mint</a:t>
            </a:r>
          </a:p>
        </p:txBody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6616B15B-431C-4B4F-9C49-9D8775DB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77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来源：组件母版示例，生成材料时替换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CB0BD06-2358-4D56-99EB-6488BB94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09 / 15</a:t>
            </a:r>
          </a:p>
        </p:txBody>
      </p:sp>
      <p:sp>
        <p:nvSpPr>
          <p:cNvPr id="9" name="page-title">
            <a:extLst xmlns:a="http://schemas.openxmlformats.org/drawingml/2006/main">
              <a:ext uri="{FF2B5EF4-FFF2-40B4-BE49-F238E27FC236}">
                <a16:creationId xmlns:a16="http://schemas.microsoft.com/office/drawing/2014/main" id="{2D6F1997-F625-45E2-8AB1-1F697195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A24"/>
                </a:solidFill>
              </a:defRPr>
            </a:pPr>
            <a:r>
              <a:rPr sz="2250" b="1">
                <a:solidFill>
                  <a:srgbClr val="162A24"/>
                </a:solidFill>
              </a:rPr>
              <a:t>两个分类维度交叉定位机会与风险</a:t>
            </a:r>
          </a:p>
        </p:txBody>
      </p:sp>
      <p:sp>
        <p:nvSpPr>
          <p:cNvPr id="10" name="page-lead">
            <a:extLst xmlns:a="http://schemas.openxmlformats.org/drawingml/2006/main">
              <a:ext uri="{FF2B5EF4-FFF2-40B4-BE49-F238E27FC236}">
                <a16:creationId xmlns:a16="http://schemas.microsoft.com/office/drawing/2014/main" id="{67A57D73-64CF-4A11-8C2E-90F62B27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用于类别 × 类别，不用于伪造数值热力图。</a:t>
            </a:r>
          </a:p>
        </p:txBody>
      </p:sp>
      <p:sp>
        <p:nvSpPr>
          <p:cNvPr id="11" name="matrix-col-0">
            <a:extLst xmlns:a="http://schemas.openxmlformats.org/drawingml/2006/main">
              <a:ext uri="{FF2B5EF4-FFF2-40B4-BE49-F238E27FC236}">
                <a16:creationId xmlns:a16="http://schemas.microsoft.com/office/drawing/2014/main" id="{8C2BE6B9-6024-4F33-A1A6-BFEB8DE6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09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</a:defRPr>
            </a:pPr>
            <a:r>
              <a:rPr sz="1125" b="1">
                <a:solidFill>
                  <a:srgbClr val="FFFDF8"/>
                </a:solidFill>
              </a:rPr>
              <a:t>低影响</a:t>
            </a:r>
          </a:p>
        </p:txBody>
      </p:sp>
      <p:sp>
        <p:nvSpPr>
          <p:cNvPr id="12" name="matrix-col-1">
            <a:extLst xmlns:a="http://schemas.openxmlformats.org/drawingml/2006/main">
              <a:ext uri="{FF2B5EF4-FFF2-40B4-BE49-F238E27FC236}">
                <a16:creationId xmlns:a16="http://schemas.microsoft.com/office/drawing/2014/main" id="{478CEC2F-6736-4620-AC29-D1C0D670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</a:defRPr>
            </a:pPr>
            <a:r>
              <a:rPr sz="1125" b="1">
                <a:solidFill>
                  <a:srgbClr val="FFFDF8"/>
                </a:solidFill>
              </a:rPr>
              <a:t>中影响</a:t>
            </a:r>
          </a:p>
        </p:txBody>
      </p:sp>
      <p:sp>
        <p:nvSpPr>
          <p:cNvPr id="13" name="matrix-col-2">
            <a:extLst xmlns:a="http://schemas.openxmlformats.org/drawingml/2006/main">
              <a:ext uri="{FF2B5EF4-FFF2-40B4-BE49-F238E27FC236}">
                <a16:creationId xmlns:a16="http://schemas.microsoft.com/office/drawing/2014/main" id="{948FF496-85EE-407C-8A7D-716FA6AC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</a:defRPr>
            </a:pPr>
            <a:r>
              <a:rPr sz="1125" b="1">
                <a:solidFill>
                  <a:srgbClr val="FFFDF8"/>
                </a:solidFill>
              </a:rPr>
              <a:t>高影响</a:t>
            </a:r>
          </a:p>
        </p:txBody>
      </p:sp>
      <p:sp>
        <p:nvSpPr>
          <p:cNvPr id="14" name="matrix-head">
            <a:extLst xmlns:a="http://schemas.openxmlformats.org/drawingml/2006/main">
              <a:ext uri="{FF2B5EF4-FFF2-40B4-BE49-F238E27FC236}">
                <a16:creationId xmlns:a16="http://schemas.microsoft.com/office/drawing/2014/main" id="{84EA7DD3-8433-40FB-95AF-C995A425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8001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atrix-row-0">
            <a:extLst xmlns:a="http://schemas.openxmlformats.org/drawingml/2006/main">
              <a:ext uri="{FF2B5EF4-FFF2-40B4-BE49-F238E27FC236}">
                <a16:creationId xmlns:a16="http://schemas.microsoft.com/office/drawing/2014/main" id="{E6BD24AF-0548-432F-8237-BF7F5E79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A24"/>
                </a:solidFill>
              </a:defRPr>
            </a:pPr>
            <a:r>
              <a:rPr sz="1200" b="1">
                <a:solidFill>
                  <a:srgbClr val="162A24"/>
                </a:solidFill>
              </a:rPr>
              <a:t>高可行性</a:t>
            </a:r>
          </a:p>
        </p:txBody>
      </p:sp>
      <p:sp>
        <p:nvSpPr>
          <p:cNvPr id="16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F2EEF3A4-3BCD-4206-9476-CBDA0EFB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5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17" name="matrix-copy-0-0">
            <a:extLst xmlns:a="http://schemas.openxmlformats.org/drawingml/2006/main">
              <a:ext uri="{FF2B5EF4-FFF2-40B4-BE49-F238E27FC236}">
                <a16:creationId xmlns:a16="http://schemas.microsoft.com/office/drawing/2014/main" id="{5148F600-8CB8-47F8-9681-E5BB7FE2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670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2A24"/>
                </a:solidFill>
              </a:defRPr>
            </a:pPr>
            <a:r>
              <a:rPr sz="1050" b="0">
                <a:solidFill>
                  <a:srgbClr val="162A24"/>
                </a:solidFill>
              </a:rPr>
              <a:t>填写分类判断</a:t>
            </a:r>
          </a:p>
        </p:txBody>
      </p:sp>
      <p:sp>
        <p:nvSpPr>
          <p:cNvPr id="18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EF655AA3-B1FA-47D8-AD3D-EBFE41F2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3362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ACB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19" name="matrix-copy-0-1">
            <a:extLst xmlns:a="http://schemas.openxmlformats.org/drawingml/2006/main">
              <a:ext uri="{FF2B5EF4-FFF2-40B4-BE49-F238E27FC236}">
                <a16:creationId xmlns:a16="http://schemas.microsoft.com/office/drawing/2014/main" id="{37F29521-5B60-4DA3-BF90-CB905289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670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2A24"/>
                </a:solidFill>
              </a:defRPr>
            </a:pPr>
            <a:r>
              <a:rPr sz="1050" b="0">
                <a:solidFill>
                  <a:srgbClr val="162A24"/>
                </a:solidFill>
              </a:rPr>
              <a:t>填写分类判断</a:t>
            </a:r>
          </a:p>
        </p:txBody>
      </p:sp>
      <p:sp>
        <p:nvSpPr>
          <p:cNvPr id="20" name="matrix-cell-0-2">
            <a:extLst xmlns:a="http://schemas.openxmlformats.org/drawingml/2006/main">
              <a:ext uri="{FF2B5EF4-FFF2-40B4-BE49-F238E27FC236}">
                <a16:creationId xmlns:a16="http://schemas.microsoft.com/office/drawing/2014/main" id="{5DAB50ED-5D0D-416B-A0A7-88C9E32E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DB2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1" name="matrix-copy-0-2">
            <a:extLst xmlns:a="http://schemas.openxmlformats.org/drawingml/2006/main">
              <a:ext uri="{FF2B5EF4-FFF2-40B4-BE49-F238E27FC236}">
                <a16:creationId xmlns:a16="http://schemas.microsoft.com/office/drawing/2014/main" id="{E2F3AF00-6B23-4198-ADF6-597FCD94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670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2A24"/>
                </a:solidFill>
              </a:defRPr>
            </a:pPr>
            <a:r>
              <a:rPr sz="1050" b="0">
                <a:solidFill>
                  <a:srgbClr val="162A24"/>
                </a:solidFill>
              </a:rPr>
              <a:t>填写分类判断</a:t>
            </a:r>
          </a:p>
        </p:txBody>
      </p:sp>
      <p:sp>
        <p:nvSpPr>
          <p:cNvPr id="22" name="matrix-row-1">
            <a:extLst xmlns:a="http://schemas.openxmlformats.org/drawingml/2006/main">
              <a:ext uri="{FF2B5EF4-FFF2-40B4-BE49-F238E27FC236}">
                <a16:creationId xmlns:a16="http://schemas.microsoft.com/office/drawing/2014/main" id="{CB24F788-4175-4060-8283-409335F7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A24"/>
                </a:solidFill>
              </a:defRPr>
            </a:pPr>
            <a:r>
              <a:rPr sz="1200" b="1">
                <a:solidFill>
                  <a:srgbClr val="162A24"/>
                </a:solidFill>
              </a:rPr>
              <a:t>中可行性</a:t>
            </a:r>
          </a:p>
        </p:txBody>
      </p:sp>
      <p:sp>
        <p:nvSpPr>
          <p:cNvPr id="23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ACAFC609-F523-429C-9C0F-E0704BAF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8137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4" name="matrix-copy-1-0">
            <a:extLst xmlns:a="http://schemas.openxmlformats.org/drawingml/2006/main">
              <a:ext uri="{FF2B5EF4-FFF2-40B4-BE49-F238E27FC236}">
                <a16:creationId xmlns:a16="http://schemas.microsoft.com/office/drawing/2014/main" id="{9B922175-0B1F-45BA-A6EF-D1AD1830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14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2A24"/>
                </a:solidFill>
              </a:defRPr>
            </a:pPr>
            <a:r>
              <a:rPr sz="1050" b="0">
                <a:solidFill>
                  <a:srgbClr val="162A24"/>
                </a:solidFill>
              </a:rPr>
              <a:t>填写分类判断</a:t>
            </a:r>
          </a:p>
        </p:txBody>
      </p:sp>
      <p:sp>
        <p:nvSpPr>
          <p:cNvPr id="25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015D93F3-944D-489F-99FE-CDBEE211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8137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5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6" name="matrix-copy-1-1">
            <a:extLst xmlns:a="http://schemas.openxmlformats.org/drawingml/2006/main">
              <a:ext uri="{FF2B5EF4-FFF2-40B4-BE49-F238E27FC236}">
                <a16:creationId xmlns:a16="http://schemas.microsoft.com/office/drawing/2014/main" id="{269C0D59-BCB2-4057-BF5D-0ECC1D27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14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2A24"/>
                </a:solidFill>
              </a:defRPr>
            </a:pPr>
            <a:r>
              <a:rPr sz="1050" b="0">
                <a:solidFill>
                  <a:srgbClr val="162A24"/>
                </a:solidFill>
              </a:rPr>
              <a:t>填写分类判断</a:t>
            </a:r>
          </a:p>
        </p:txBody>
      </p:sp>
      <p:sp>
        <p:nvSpPr>
          <p:cNvPr id="27" name="matrix-cell-1-2">
            <a:extLst xmlns:a="http://schemas.openxmlformats.org/drawingml/2006/main">
              <a:ext uri="{FF2B5EF4-FFF2-40B4-BE49-F238E27FC236}">
                <a16:creationId xmlns:a16="http://schemas.microsoft.com/office/drawing/2014/main" id="{CF3D04C9-4D72-4094-9913-FC65B35B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8137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ACB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8" name="matrix-copy-1-2">
            <a:extLst xmlns:a="http://schemas.openxmlformats.org/drawingml/2006/main">
              <a:ext uri="{FF2B5EF4-FFF2-40B4-BE49-F238E27FC236}">
                <a16:creationId xmlns:a16="http://schemas.microsoft.com/office/drawing/2014/main" id="{99F8FC20-230E-4A85-BD99-28A2EBE7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14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2A24"/>
                </a:solidFill>
              </a:defRPr>
            </a:pPr>
            <a:r>
              <a:rPr sz="1050" b="0">
                <a:solidFill>
                  <a:srgbClr val="162A24"/>
                </a:solidFill>
              </a:rPr>
              <a:t>填写分类判断</a:t>
            </a:r>
          </a:p>
        </p:txBody>
      </p:sp>
      <p:sp>
        <p:nvSpPr>
          <p:cNvPr id="29" name="matrix-row-2">
            <a:extLst xmlns:a="http://schemas.openxmlformats.org/drawingml/2006/main">
              <a:ext uri="{FF2B5EF4-FFF2-40B4-BE49-F238E27FC236}">
                <a16:creationId xmlns:a16="http://schemas.microsoft.com/office/drawing/2014/main" id="{0F5E7696-FD31-4E24-A975-03804CF5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A24"/>
                </a:solidFill>
              </a:defRPr>
            </a:pPr>
            <a:r>
              <a:rPr sz="1200" b="1">
                <a:solidFill>
                  <a:srgbClr val="162A24"/>
                </a:solidFill>
              </a:rPr>
              <a:t>低可行性</a:t>
            </a:r>
          </a:p>
        </p:txBody>
      </p:sp>
      <p:sp>
        <p:nvSpPr>
          <p:cNvPr id="30" name="matrix-cell-2-0">
            <a:extLst xmlns:a="http://schemas.openxmlformats.org/drawingml/2006/main">
              <a:ext uri="{FF2B5EF4-FFF2-40B4-BE49-F238E27FC236}">
                <a16:creationId xmlns:a16="http://schemas.microsoft.com/office/drawing/2014/main" id="{022C2B85-14B3-4F53-B48D-29699441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2912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31" name="matrix-copy-2-0">
            <a:extLst xmlns:a="http://schemas.openxmlformats.org/drawingml/2006/main">
              <a:ext uri="{FF2B5EF4-FFF2-40B4-BE49-F238E27FC236}">
                <a16:creationId xmlns:a16="http://schemas.microsoft.com/office/drawing/2014/main" id="{FD3C59DC-61D2-45C1-983F-6208135E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62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2A24"/>
                </a:solidFill>
              </a:defRPr>
            </a:pPr>
            <a:r>
              <a:rPr sz="1050" b="0">
                <a:solidFill>
                  <a:srgbClr val="162A24"/>
                </a:solidFill>
              </a:rPr>
              <a:t>填写分类判断</a:t>
            </a:r>
          </a:p>
        </p:txBody>
      </p:sp>
      <p:sp>
        <p:nvSpPr>
          <p:cNvPr id="32" name="matrix-cell-2-1">
            <a:extLst xmlns:a="http://schemas.openxmlformats.org/drawingml/2006/main">
              <a:ext uri="{FF2B5EF4-FFF2-40B4-BE49-F238E27FC236}">
                <a16:creationId xmlns:a16="http://schemas.microsoft.com/office/drawing/2014/main" id="{FABD7E9C-CA37-4723-8594-790D980C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2912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33" name="matrix-copy-2-1">
            <a:extLst xmlns:a="http://schemas.openxmlformats.org/drawingml/2006/main">
              <a:ext uri="{FF2B5EF4-FFF2-40B4-BE49-F238E27FC236}">
                <a16:creationId xmlns:a16="http://schemas.microsoft.com/office/drawing/2014/main" id="{54102C26-045C-40E5-A79B-A0FB258A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62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2A24"/>
                </a:solidFill>
              </a:defRPr>
            </a:pPr>
            <a:r>
              <a:rPr sz="1050" b="0">
                <a:solidFill>
                  <a:srgbClr val="162A24"/>
                </a:solidFill>
              </a:rPr>
              <a:t>填写分类判断</a:t>
            </a:r>
          </a:p>
        </p:txBody>
      </p:sp>
      <p:sp>
        <p:nvSpPr>
          <p:cNvPr id="34" name="matrix-cell-2-2">
            <a:extLst xmlns:a="http://schemas.openxmlformats.org/drawingml/2006/main">
              <a:ext uri="{FF2B5EF4-FFF2-40B4-BE49-F238E27FC236}">
                <a16:creationId xmlns:a16="http://schemas.microsoft.com/office/drawing/2014/main" id="{6C0A307E-00AA-4DAC-83F9-C2E1B308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29125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E5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35" name="matrix-copy-2-2">
            <a:extLst xmlns:a="http://schemas.openxmlformats.org/drawingml/2006/main">
              <a:ext uri="{FF2B5EF4-FFF2-40B4-BE49-F238E27FC236}">
                <a16:creationId xmlns:a16="http://schemas.microsoft.com/office/drawing/2014/main" id="{793494CF-40E9-408F-BBEB-9770FFE3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62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2A24"/>
                </a:solidFill>
              </a:defRPr>
            </a:pPr>
            <a:r>
              <a:rPr sz="1050" b="0">
                <a:solidFill>
                  <a:srgbClr val="162A24"/>
                </a:solidFill>
              </a:rPr>
              <a:t>填写分类判断</a:t>
            </a:r>
          </a:p>
        </p:txBody>
      </p:sp>
    </p:spTree>
    <p:extLst>
      <p:ext uri="{BB962C8B-B14F-4D97-AF65-F5344CB8AC3E}">
        <p14:creationId xmlns:p14="http://schemas.microsoft.com/office/powerpoint/2010/main" val="19572322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rule-60-45">
            <a:extLst xmlns:a="http://schemas.openxmlformats.org/drawingml/2006/main">
              <a:ext uri="{FF2B5EF4-FFF2-40B4-BE49-F238E27FC236}">
                <a16:creationId xmlns:a16="http://schemas.microsoft.com/office/drawing/2014/main" id="{9523ACBD-86D3-469F-A841-C5829BC7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accent">
            <a:extLst xmlns:a="http://schemas.openxmlformats.org/drawingml/2006/main">
              <a:ext uri="{FF2B5EF4-FFF2-40B4-BE49-F238E27FC236}">
                <a16:creationId xmlns:a16="http://schemas.microsoft.com/office/drawing/2014/main" id="{089DD85E-9244-45DB-B4BF-740609DC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7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hapter">
            <a:extLst xmlns:a="http://schemas.openxmlformats.org/drawingml/2006/main">
              <a:ext uri="{FF2B5EF4-FFF2-40B4-BE49-F238E27FC236}">
                <a16:creationId xmlns:a16="http://schemas.microsoft.com/office/drawing/2014/main" id="{EC4BAA31-8798-42D6-A7AB-8BD25713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C7866"/>
                </a:solidFill>
              </a:defRPr>
            </a:pPr>
            <a:r>
              <a:rPr sz="900" b="1">
                <a:solidFill>
                  <a:srgbClr val="1C7866"/>
                </a:solidFill>
              </a:rPr>
              <a:t>精确数据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66CAE4-ECC6-44AA-8156-DCBA683A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71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66F"/>
                </a:solidFill>
              </a:defRPr>
            </a:pPr>
            <a:r>
              <a:rPr sz="825" b="1">
                <a:solidFill>
                  <a:srgbClr val="69766F"/>
                </a:solidFill>
              </a:rPr>
              <a:t>10</a:t>
            </a:r>
          </a:p>
        </p:txBody>
      </p:sp>
      <p:sp>
        <p:nvSpPr>
          <p:cNvPr id="5" name="rule-60-674">
            <a:extLst xmlns:a="http://schemas.openxmlformats.org/drawingml/2006/main">
              <a:ext uri="{FF2B5EF4-FFF2-40B4-BE49-F238E27FC236}">
                <a16:creationId xmlns:a16="http://schemas.microsoft.com/office/drawing/2014/main" id="{B10C2988-5923-4100-AC20-36289E90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A9EAF1CD-0EC4-42B2-A3C4-BDDBB063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B879"/>
                </a:solidFill>
              </a:defRPr>
            </a:pPr>
            <a:r>
              <a:rPr sz="1200" b="1">
                <a:solidFill>
                  <a:srgbClr val="42B879"/>
                </a:solidFill>
              </a:rPr>
              <a:t>mint</a:t>
            </a:r>
          </a:p>
        </p:txBody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0BC860E5-EF04-4639-9F8D-7476DEC9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77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来源：组件母版示例，生成材料时替换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9CF282-2432-4BCE-A932-17392339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10 / 15</a:t>
            </a:r>
          </a:p>
        </p:txBody>
      </p:sp>
      <p:sp>
        <p:nvSpPr>
          <p:cNvPr id="9" name="page-title">
            <a:extLst xmlns:a="http://schemas.openxmlformats.org/drawingml/2006/main">
              <a:ext uri="{FF2B5EF4-FFF2-40B4-BE49-F238E27FC236}">
                <a16:creationId xmlns:a16="http://schemas.microsoft.com/office/drawing/2014/main" id="{6EE229A1-6771-44EF-A450-3596600F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A24"/>
                </a:solidFill>
              </a:defRPr>
            </a:pPr>
            <a:r>
              <a:rPr sz="2250" b="1">
                <a:solidFill>
                  <a:srgbClr val="162A24"/>
                </a:solidFill>
              </a:rPr>
              <a:t>精确数字优先用表格，指标口径同时可见</a:t>
            </a:r>
          </a:p>
        </p:txBody>
      </p:sp>
      <p:sp>
        <p:nvSpPr>
          <p:cNvPr id="10" name="page-lead">
            <a:extLst xmlns:a="http://schemas.openxmlformats.org/drawingml/2006/main">
              <a:ext uri="{FF2B5EF4-FFF2-40B4-BE49-F238E27FC236}">
                <a16:creationId xmlns:a16="http://schemas.microsoft.com/office/drawing/2014/main" id="{B2498191-FEDD-410D-8F91-853ED46E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每个指标保留单位、期间、统计对象和来源。</a:t>
            </a:r>
          </a:p>
        </p:txBody>
      </p:sp>
      <p:sp>
        <p:nvSpPr>
          <p:cNvPr id="11" name="th-0">
            <a:extLst xmlns:a="http://schemas.openxmlformats.org/drawingml/2006/main">
              <a:ext uri="{FF2B5EF4-FFF2-40B4-BE49-F238E27FC236}">
                <a16:creationId xmlns:a16="http://schemas.microsoft.com/office/drawing/2014/main" id="{84F2A2D3-EAAD-401F-9019-E5F0E49A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h-text-0">
            <a:extLst xmlns:a="http://schemas.openxmlformats.org/drawingml/2006/main">
              <a:ext uri="{FF2B5EF4-FFF2-40B4-BE49-F238E27FC236}">
                <a16:creationId xmlns:a16="http://schemas.microsoft.com/office/drawing/2014/main" id="{A4FC64EF-80B2-4400-BA22-DAFF437E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85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DF8"/>
                </a:solidFill>
              </a:defRPr>
            </a:pPr>
            <a:r>
              <a:rPr sz="975" b="1">
                <a:solidFill>
                  <a:srgbClr val="FFFDF8"/>
                </a:solidFill>
              </a:rPr>
              <a:t>指标</a:t>
            </a:r>
          </a:p>
        </p:txBody>
      </p:sp>
      <p:sp>
        <p:nvSpPr>
          <p:cNvPr id="13" name="th-1">
            <a:extLst xmlns:a="http://schemas.openxmlformats.org/drawingml/2006/main">
              <a:ext uri="{FF2B5EF4-FFF2-40B4-BE49-F238E27FC236}">
                <a16:creationId xmlns:a16="http://schemas.microsoft.com/office/drawing/2014/main" id="{5FCDCB59-10EB-44C5-910F-29790C91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h-text-1">
            <a:extLst xmlns:a="http://schemas.openxmlformats.org/drawingml/2006/main">
              <a:ext uri="{FF2B5EF4-FFF2-40B4-BE49-F238E27FC236}">
                <a16:creationId xmlns:a16="http://schemas.microsoft.com/office/drawing/2014/main" id="{92C26ADE-72BB-43F9-91BB-5B6D1ED2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859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DF8"/>
                </a:solidFill>
              </a:defRPr>
            </a:pPr>
            <a:r>
              <a:rPr sz="975" b="1">
                <a:solidFill>
                  <a:srgbClr val="FFFDF8"/>
                </a:solidFill>
              </a:rPr>
              <a:t>本期</a:t>
            </a:r>
          </a:p>
        </p:txBody>
      </p:sp>
      <p:sp>
        <p:nvSpPr>
          <p:cNvPr id="15" name="th-2">
            <a:extLst xmlns:a="http://schemas.openxmlformats.org/drawingml/2006/main">
              <a:ext uri="{FF2B5EF4-FFF2-40B4-BE49-F238E27FC236}">
                <a16:creationId xmlns:a16="http://schemas.microsoft.com/office/drawing/2014/main" id="{B127C81D-04AF-48FC-AD47-4BA6B380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h-text-2">
            <a:extLst xmlns:a="http://schemas.openxmlformats.org/drawingml/2006/main">
              <a:ext uri="{FF2B5EF4-FFF2-40B4-BE49-F238E27FC236}">
                <a16:creationId xmlns:a16="http://schemas.microsoft.com/office/drawing/2014/main" id="{C3A7385F-EB25-4B16-BA8E-69BC01FD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859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DF8"/>
                </a:solidFill>
              </a:defRPr>
            </a:pPr>
            <a:r>
              <a:rPr sz="975" b="1">
                <a:solidFill>
                  <a:srgbClr val="FFFDF8"/>
                </a:solidFill>
              </a:rPr>
              <a:t>目标</a:t>
            </a:r>
          </a:p>
        </p:txBody>
      </p:sp>
      <p:sp>
        <p:nvSpPr>
          <p:cNvPr id="17" name="th-3">
            <a:extLst xmlns:a="http://schemas.openxmlformats.org/drawingml/2006/main">
              <a:ext uri="{FF2B5EF4-FFF2-40B4-BE49-F238E27FC236}">
                <a16:creationId xmlns:a16="http://schemas.microsoft.com/office/drawing/2014/main" id="{DB16E2CE-B644-4436-B4EA-45D31737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h-text-3">
            <a:extLst xmlns:a="http://schemas.openxmlformats.org/drawingml/2006/main">
              <a:ext uri="{FF2B5EF4-FFF2-40B4-BE49-F238E27FC236}">
                <a16:creationId xmlns:a16="http://schemas.microsoft.com/office/drawing/2014/main" id="{BB6781D8-1CA0-44F9-A187-41D4F02D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859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DF8"/>
                </a:solidFill>
              </a:defRPr>
            </a:pPr>
            <a:r>
              <a:rPr sz="975" b="1">
                <a:solidFill>
                  <a:srgbClr val="FFFDF8"/>
                </a:solidFill>
              </a:rPr>
              <a:t>变化</a:t>
            </a:r>
          </a:p>
        </p:txBody>
      </p:sp>
      <p:sp>
        <p:nvSpPr>
          <p:cNvPr id="19" name="th-4">
            <a:extLst xmlns:a="http://schemas.openxmlformats.org/drawingml/2006/main">
              <a:ext uri="{FF2B5EF4-FFF2-40B4-BE49-F238E27FC236}">
                <a16:creationId xmlns:a16="http://schemas.microsoft.com/office/drawing/2014/main" id="{F187E242-98A9-4A9C-B933-300317A5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h-text-4">
            <a:extLst xmlns:a="http://schemas.openxmlformats.org/drawingml/2006/main">
              <a:ext uri="{FF2B5EF4-FFF2-40B4-BE49-F238E27FC236}">
                <a16:creationId xmlns:a16="http://schemas.microsoft.com/office/drawing/2014/main" id="{39AFECFE-15DC-47BA-AC87-ACCA8B76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859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DF8"/>
                </a:solidFill>
              </a:defRPr>
            </a:pPr>
            <a:r>
              <a:rPr sz="975" b="1">
                <a:solidFill>
                  <a:srgbClr val="FFFDF8"/>
                </a:solidFill>
              </a:rPr>
              <a:t>口径 / 说明</a:t>
            </a:r>
          </a:p>
        </p:txBody>
      </p:sp>
      <p:sp>
        <p:nvSpPr>
          <p:cNvPr id="21" name="td-0-0">
            <a:extLst xmlns:a="http://schemas.openxmlformats.org/drawingml/2006/main">
              <a:ext uri="{FF2B5EF4-FFF2-40B4-BE49-F238E27FC236}">
                <a16:creationId xmlns:a16="http://schemas.microsoft.com/office/drawing/2014/main" id="{53B73BA2-D170-4415-8BD5-D471D253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2381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2" name="td-text-0-0">
            <a:extLst xmlns:a="http://schemas.openxmlformats.org/drawingml/2006/main">
              <a:ext uri="{FF2B5EF4-FFF2-40B4-BE49-F238E27FC236}">
                <a16:creationId xmlns:a16="http://schemas.microsoft.com/office/drawing/2014/main" id="{1ECDDE81-5436-469E-B900-BE0BB125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A24"/>
                </a:solidFill>
              </a:defRPr>
            </a:pPr>
            <a:r>
              <a:rPr sz="1050" b="1">
                <a:solidFill>
                  <a:srgbClr val="162A24"/>
                </a:solidFill>
              </a:rPr>
              <a:t>核心指标 A</a:t>
            </a:r>
          </a:p>
        </p:txBody>
      </p:sp>
      <p:sp>
        <p:nvSpPr>
          <p:cNvPr id="23" name="td-0-1">
            <a:extLst xmlns:a="http://schemas.openxmlformats.org/drawingml/2006/main">
              <a:ext uri="{FF2B5EF4-FFF2-40B4-BE49-F238E27FC236}">
                <a16:creationId xmlns:a16="http://schemas.microsoft.com/office/drawing/2014/main" id="{A4D1FD20-A29E-4A25-BA5B-9CD0EEBE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05050"/>
            <a:ext cx="152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4" name="td-text-0-1">
            <a:extLst xmlns:a="http://schemas.openxmlformats.org/drawingml/2006/main">
              <a:ext uri="{FF2B5EF4-FFF2-40B4-BE49-F238E27FC236}">
                <a16:creationId xmlns:a16="http://schemas.microsoft.com/office/drawing/2014/main" id="{5AF5373D-3901-4F4C-B51A-FCD5BAD5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2887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6F"/>
                </a:solidFill>
              </a:defRPr>
            </a:pPr>
            <a:r>
              <a:rPr sz="975" b="0">
                <a:solidFill>
                  <a:srgbClr val="69766F"/>
                </a:solidFill>
              </a:rPr>
              <a:t>—</a:t>
            </a:r>
          </a:p>
        </p:txBody>
      </p:sp>
      <p:sp>
        <p:nvSpPr>
          <p:cNvPr id="25" name="td-0-2">
            <a:extLst xmlns:a="http://schemas.openxmlformats.org/drawingml/2006/main">
              <a:ext uri="{FF2B5EF4-FFF2-40B4-BE49-F238E27FC236}">
                <a16:creationId xmlns:a16="http://schemas.microsoft.com/office/drawing/2014/main" id="{604392CA-9FBE-43A8-8B8B-4F270C69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05050"/>
            <a:ext cx="152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6" name="td-text-0-2">
            <a:extLst xmlns:a="http://schemas.openxmlformats.org/drawingml/2006/main">
              <a:ext uri="{FF2B5EF4-FFF2-40B4-BE49-F238E27FC236}">
                <a16:creationId xmlns:a16="http://schemas.microsoft.com/office/drawing/2014/main" id="{918711E2-A223-4D5A-955F-D5B2D7E2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2887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6F"/>
                </a:solidFill>
              </a:defRPr>
            </a:pPr>
            <a:r>
              <a:rPr sz="975" b="0">
                <a:solidFill>
                  <a:srgbClr val="69766F"/>
                </a:solidFill>
              </a:rPr>
              <a:t>—</a:t>
            </a:r>
          </a:p>
        </p:txBody>
      </p:sp>
      <p:sp>
        <p:nvSpPr>
          <p:cNvPr id="27" name="td-0-3">
            <a:extLst xmlns:a="http://schemas.openxmlformats.org/drawingml/2006/main">
              <a:ext uri="{FF2B5EF4-FFF2-40B4-BE49-F238E27FC236}">
                <a16:creationId xmlns:a16="http://schemas.microsoft.com/office/drawing/2014/main" id="{4DF33A7B-FD99-486F-BEE4-9AF6C785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05050"/>
            <a:ext cx="152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8" name="td-text-0-3">
            <a:extLst xmlns:a="http://schemas.openxmlformats.org/drawingml/2006/main">
              <a:ext uri="{FF2B5EF4-FFF2-40B4-BE49-F238E27FC236}">
                <a16:creationId xmlns:a16="http://schemas.microsoft.com/office/drawing/2014/main" id="{138A20D0-F0AC-4B52-913E-5A599382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2887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6F"/>
                </a:solidFill>
              </a:defRPr>
            </a:pPr>
            <a:r>
              <a:rPr sz="975" b="0">
                <a:solidFill>
                  <a:srgbClr val="69766F"/>
                </a:solidFill>
              </a:rPr>
              <a:t>—</a:t>
            </a:r>
          </a:p>
        </p:txBody>
      </p:sp>
      <p:sp>
        <p:nvSpPr>
          <p:cNvPr id="29" name="td-0-4">
            <a:extLst xmlns:a="http://schemas.openxmlformats.org/drawingml/2006/main">
              <a:ext uri="{FF2B5EF4-FFF2-40B4-BE49-F238E27FC236}">
                <a16:creationId xmlns:a16="http://schemas.microsoft.com/office/drawing/2014/main" id="{4DB4F0A7-8CB0-419F-8155-6F7AE92B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4095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30" name="td-text-0-4">
            <a:extLst xmlns:a="http://schemas.openxmlformats.org/drawingml/2006/main">
              <a:ext uri="{FF2B5EF4-FFF2-40B4-BE49-F238E27FC236}">
                <a16:creationId xmlns:a16="http://schemas.microsoft.com/office/drawing/2014/main" id="{5FB6620F-52A3-4728-93AF-76AAC71A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288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6F"/>
                </a:solidFill>
              </a:defRPr>
            </a:pPr>
            <a:r>
              <a:rPr sz="975" b="0">
                <a:solidFill>
                  <a:srgbClr val="69766F"/>
                </a:solidFill>
              </a:rPr>
              <a:t>填写统计口径与来源</a:t>
            </a:r>
          </a:p>
        </p:txBody>
      </p:sp>
      <p:sp>
        <p:nvSpPr>
          <p:cNvPr id="31" name="td-1-0">
            <a:extLst xmlns:a="http://schemas.openxmlformats.org/drawingml/2006/main">
              <a:ext uri="{FF2B5EF4-FFF2-40B4-BE49-F238E27FC236}">
                <a16:creationId xmlns:a16="http://schemas.microsoft.com/office/drawing/2014/main" id="{024EC879-91EA-4CF2-A613-781569F8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19425"/>
            <a:ext cx="2381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32" name="td-text-1-0">
            <a:extLst xmlns:a="http://schemas.openxmlformats.org/drawingml/2006/main">
              <a:ext uri="{FF2B5EF4-FFF2-40B4-BE49-F238E27FC236}">
                <a16:creationId xmlns:a16="http://schemas.microsoft.com/office/drawing/2014/main" id="{B40056AA-3B72-4410-9913-5068E247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A24"/>
                </a:solidFill>
              </a:defRPr>
            </a:pPr>
            <a:r>
              <a:rPr sz="1050" b="1">
                <a:solidFill>
                  <a:srgbClr val="162A24"/>
                </a:solidFill>
              </a:rPr>
              <a:t>核心指标 B</a:t>
            </a:r>
          </a:p>
        </p:txBody>
      </p:sp>
      <p:sp>
        <p:nvSpPr>
          <p:cNvPr id="33" name="td-1-1">
            <a:extLst xmlns:a="http://schemas.openxmlformats.org/drawingml/2006/main">
              <a:ext uri="{FF2B5EF4-FFF2-40B4-BE49-F238E27FC236}">
                <a16:creationId xmlns:a16="http://schemas.microsoft.com/office/drawing/2014/main" id="{44D5E13A-2B5D-4F1E-BD39-62ED98CC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19425"/>
            <a:ext cx="152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34" name="td-text-1-1">
            <a:extLst xmlns:a="http://schemas.openxmlformats.org/drawingml/2006/main">
              <a:ext uri="{FF2B5EF4-FFF2-40B4-BE49-F238E27FC236}">
                <a16:creationId xmlns:a16="http://schemas.microsoft.com/office/drawing/2014/main" id="{84BC938A-073B-473C-8988-4DAFBA4A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432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6F"/>
                </a:solidFill>
              </a:defRPr>
            </a:pPr>
            <a:r>
              <a:rPr sz="975" b="0">
                <a:solidFill>
                  <a:srgbClr val="69766F"/>
                </a:solidFill>
              </a:rPr>
              <a:t>—</a:t>
            </a:r>
          </a:p>
        </p:txBody>
      </p:sp>
      <p:sp>
        <p:nvSpPr>
          <p:cNvPr id="35" name="td-1-2">
            <a:extLst xmlns:a="http://schemas.openxmlformats.org/drawingml/2006/main">
              <a:ext uri="{FF2B5EF4-FFF2-40B4-BE49-F238E27FC236}">
                <a16:creationId xmlns:a16="http://schemas.microsoft.com/office/drawing/2014/main" id="{B1795416-2BC6-495A-AE96-91BDA6A4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19425"/>
            <a:ext cx="152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36" name="td-text-1-2">
            <a:extLst xmlns:a="http://schemas.openxmlformats.org/drawingml/2006/main">
              <a:ext uri="{FF2B5EF4-FFF2-40B4-BE49-F238E27FC236}">
                <a16:creationId xmlns:a16="http://schemas.microsoft.com/office/drawing/2014/main" id="{D510513A-48D8-4EBF-B5E4-C74CFE0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432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6F"/>
                </a:solidFill>
              </a:defRPr>
            </a:pPr>
            <a:r>
              <a:rPr sz="975" b="0">
                <a:solidFill>
                  <a:srgbClr val="69766F"/>
                </a:solidFill>
              </a:rPr>
              <a:t>—</a:t>
            </a:r>
          </a:p>
        </p:txBody>
      </p:sp>
      <p:sp>
        <p:nvSpPr>
          <p:cNvPr id="37" name="td-1-3">
            <a:extLst xmlns:a="http://schemas.openxmlformats.org/drawingml/2006/main">
              <a:ext uri="{FF2B5EF4-FFF2-40B4-BE49-F238E27FC236}">
                <a16:creationId xmlns:a16="http://schemas.microsoft.com/office/drawing/2014/main" id="{B7325EF2-E89B-40EE-A88D-56194436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19425"/>
            <a:ext cx="152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38" name="td-text-1-3">
            <a:extLst xmlns:a="http://schemas.openxmlformats.org/drawingml/2006/main">
              <a:ext uri="{FF2B5EF4-FFF2-40B4-BE49-F238E27FC236}">
                <a16:creationId xmlns:a16="http://schemas.microsoft.com/office/drawing/2014/main" id="{A07FCDE8-3A37-4634-8AF6-CE5AA4D7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432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6F"/>
                </a:solidFill>
              </a:defRPr>
            </a:pPr>
            <a:r>
              <a:rPr sz="975" b="0">
                <a:solidFill>
                  <a:srgbClr val="69766F"/>
                </a:solidFill>
              </a:rPr>
              <a:t>—</a:t>
            </a:r>
          </a:p>
        </p:txBody>
      </p:sp>
      <p:sp>
        <p:nvSpPr>
          <p:cNvPr id="39" name="td-1-4">
            <a:extLst xmlns:a="http://schemas.openxmlformats.org/drawingml/2006/main">
              <a:ext uri="{FF2B5EF4-FFF2-40B4-BE49-F238E27FC236}">
                <a16:creationId xmlns:a16="http://schemas.microsoft.com/office/drawing/2014/main" id="{06D8E1D2-98F3-4D61-ACB7-EE0470EE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19425"/>
            <a:ext cx="4095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40" name="td-text-1-4">
            <a:extLst xmlns:a="http://schemas.openxmlformats.org/drawingml/2006/main">
              <a:ext uri="{FF2B5EF4-FFF2-40B4-BE49-F238E27FC236}">
                <a16:creationId xmlns:a16="http://schemas.microsoft.com/office/drawing/2014/main" id="{52072196-27F8-4A5A-9471-485A12BF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432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6F"/>
                </a:solidFill>
              </a:defRPr>
            </a:pPr>
            <a:r>
              <a:rPr sz="975" b="0">
                <a:solidFill>
                  <a:srgbClr val="69766F"/>
                </a:solidFill>
              </a:rPr>
              <a:t>填写统计口径与来源</a:t>
            </a:r>
          </a:p>
        </p:txBody>
      </p:sp>
      <p:sp>
        <p:nvSpPr>
          <p:cNvPr id="41" name="td-2-0">
            <a:extLst xmlns:a="http://schemas.openxmlformats.org/drawingml/2006/main">
              <a:ext uri="{FF2B5EF4-FFF2-40B4-BE49-F238E27FC236}">
                <a16:creationId xmlns:a16="http://schemas.microsoft.com/office/drawing/2014/main" id="{C016C591-E0CA-4B33-B083-45682048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2381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42" name="td-text-2-0">
            <a:extLst xmlns:a="http://schemas.openxmlformats.org/drawingml/2006/main">
              <a:ext uri="{FF2B5EF4-FFF2-40B4-BE49-F238E27FC236}">
                <a16:creationId xmlns:a16="http://schemas.microsoft.com/office/drawing/2014/main" id="{48A4EA39-2867-4AEA-B9AD-1EC5814F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A24"/>
                </a:solidFill>
              </a:defRPr>
            </a:pPr>
            <a:r>
              <a:rPr sz="1050" b="1">
                <a:solidFill>
                  <a:srgbClr val="162A24"/>
                </a:solidFill>
              </a:rPr>
              <a:t>核心指标 C</a:t>
            </a:r>
          </a:p>
        </p:txBody>
      </p:sp>
      <p:sp>
        <p:nvSpPr>
          <p:cNvPr id="43" name="td-2-1">
            <a:extLst xmlns:a="http://schemas.openxmlformats.org/drawingml/2006/main">
              <a:ext uri="{FF2B5EF4-FFF2-40B4-BE49-F238E27FC236}">
                <a16:creationId xmlns:a16="http://schemas.microsoft.com/office/drawing/2014/main" id="{78E6429A-35C0-44BF-8AAB-79F6D920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33800"/>
            <a:ext cx="152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44" name="td-text-2-1">
            <a:extLst xmlns:a="http://schemas.openxmlformats.org/drawingml/2006/main">
              <a:ext uri="{FF2B5EF4-FFF2-40B4-BE49-F238E27FC236}">
                <a16:creationId xmlns:a16="http://schemas.microsoft.com/office/drawing/2014/main" id="{512206BE-0283-4B7C-B642-6EE2DCD8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576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6F"/>
                </a:solidFill>
              </a:defRPr>
            </a:pPr>
            <a:r>
              <a:rPr sz="975" b="0">
                <a:solidFill>
                  <a:srgbClr val="69766F"/>
                </a:solidFill>
              </a:rPr>
              <a:t>—</a:t>
            </a:r>
          </a:p>
        </p:txBody>
      </p:sp>
      <p:sp>
        <p:nvSpPr>
          <p:cNvPr id="45" name="td-2-2">
            <a:extLst xmlns:a="http://schemas.openxmlformats.org/drawingml/2006/main">
              <a:ext uri="{FF2B5EF4-FFF2-40B4-BE49-F238E27FC236}">
                <a16:creationId xmlns:a16="http://schemas.microsoft.com/office/drawing/2014/main" id="{0C97CD0E-1228-4181-BF09-9DBB90F6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152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46" name="td-text-2-2">
            <a:extLst xmlns:a="http://schemas.openxmlformats.org/drawingml/2006/main">
              <a:ext uri="{FF2B5EF4-FFF2-40B4-BE49-F238E27FC236}">
                <a16:creationId xmlns:a16="http://schemas.microsoft.com/office/drawing/2014/main" id="{E5E73AE8-EF44-4C75-A617-47AA0996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576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6F"/>
                </a:solidFill>
              </a:defRPr>
            </a:pPr>
            <a:r>
              <a:rPr sz="975" b="0">
                <a:solidFill>
                  <a:srgbClr val="69766F"/>
                </a:solidFill>
              </a:rPr>
              <a:t>—</a:t>
            </a:r>
          </a:p>
        </p:txBody>
      </p:sp>
      <p:sp>
        <p:nvSpPr>
          <p:cNvPr id="47" name="td-2-3">
            <a:extLst xmlns:a="http://schemas.openxmlformats.org/drawingml/2006/main">
              <a:ext uri="{FF2B5EF4-FFF2-40B4-BE49-F238E27FC236}">
                <a16:creationId xmlns:a16="http://schemas.microsoft.com/office/drawing/2014/main" id="{35BA619D-59C9-4454-940F-99141B85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33800"/>
            <a:ext cx="152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48" name="td-text-2-3">
            <a:extLst xmlns:a="http://schemas.openxmlformats.org/drawingml/2006/main">
              <a:ext uri="{FF2B5EF4-FFF2-40B4-BE49-F238E27FC236}">
                <a16:creationId xmlns:a16="http://schemas.microsoft.com/office/drawing/2014/main" id="{4010D1BC-3915-4449-89B5-636B8DF8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6F"/>
                </a:solidFill>
              </a:defRPr>
            </a:pPr>
            <a:r>
              <a:rPr sz="975" b="0">
                <a:solidFill>
                  <a:srgbClr val="69766F"/>
                </a:solidFill>
              </a:rPr>
              <a:t>—</a:t>
            </a:r>
          </a:p>
        </p:txBody>
      </p:sp>
      <p:sp>
        <p:nvSpPr>
          <p:cNvPr id="49" name="td-2-4">
            <a:extLst xmlns:a="http://schemas.openxmlformats.org/drawingml/2006/main">
              <a:ext uri="{FF2B5EF4-FFF2-40B4-BE49-F238E27FC236}">
                <a16:creationId xmlns:a16="http://schemas.microsoft.com/office/drawing/2014/main" id="{17735A85-0910-441D-95A7-0DFB0765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4095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50" name="td-text-2-4">
            <a:extLst xmlns:a="http://schemas.openxmlformats.org/drawingml/2006/main">
              <a:ext uri="{FF2B5EF4-FFF2-40B4-BE49-F238E27FC236}">
                <a16:creationId xmlns:a16="http://schemas.microsoft.com/office/drawing/2014/main" id="{712F8750-3A10-4081-9F33-BC1B6A05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576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6F"/>
                </a:solidFill>
              </a:defRPr>
            </a:pPr>
            <a:r>
              <a:rPr sz="975" b="0">
                <a:solidFill>
                  <a:srgbClr val="69766F"/>
                </a:solidFill>
              </a:rPr>
              <a:t>填写统计口径与来源</a:t>
            </a:r>
          </a:p>
        </p:txBody>
      </p:sp>
      <p:sp>
        <p:nvSpPr>
          <p:cNvPr id="51" name="td-3-0">
            <a:extLst xmlns:a="http://schemas.openxmlformats.org/drawingml/2006/main">
              <a:ext uri="{FF2B5EF4-FFF2-40B4-BE49-F238E27FC236}">
                <a16:creationId xmlns:a16="http://schemas.microsoft.com/office/drawing/2014/main" id="{CE338022-B72C-4A3E-A308-A7CC778D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2381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52" name="td-text-3-0">
            <a:extLst xmlns:a="http://schemas.openxmlformats.org/drawingml/2006/main">
              <a:ext uri="{FF2B5EF4-FFF2-40B4-BE49-F238E27FC236}">
                <a16:creationId xmlns:a16="http://schemas.microsoft.com/office/drawing/2014/main" id="{A1B75320-979E-4D26-855C-1F0088DD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A24"/>
                </a:solidFill>
              </a:defRPr>
            </a:pPr>
            <a:r>
              <a:rPr sz="1050" b="1">
                <a:solidFill>
                  <a:srgbClr val="162A24"/>
                </a:solidFill>
              </a:rPr>
              <a:t>核心指标 D</a:t>
            </a:r>
          </a:p>
        </p:txBody>
      </p:sp>
      <p:sp>
        <p:nvSpPr>
          <p:cNvPr id="53" name="td-3-1">
            <a:extLst xmlns:a="http://schemas.openxmlformats.org/drawingml/2006/main">
              <a:ext uri="{FF2B5EF4-FFF2-40B4-BE49-F238E27FC236}">
                <a16:creationId xmlns:a16="http://schemas.microsoft.com/office/drawing/2014/main" id="{68FFB893-B6C1-4211-A4B8-08108E61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48175"/>
            <a:ext cx="152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54" name="td-text-3-1">
            <a:extLst xmlns:a="http://schemas.openxmlformats.org/drawingml/2006/main">
              <a:ext uri="{FF2B5EF4-FFF2-40B4-BE49-F238E27FC236}">
                <a16:creationId xmlns:a16="http://schemas.microsoft.com/office/drawing/2014/main" id="{6228A7F7-0CE3-4A2D-A8A3-9C7C0C2F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5720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6F"/>
                </a:solidFill>
              </a:defRPr>
            </a:pPr>
            <a:r>
              <a:rPr sz="975" b="0">
                <a:solidFill>
                  <a:srgbClr val="69766F"/>
                </a:solidFill>
              </a:rPr>
              <a:t>—</a:t>
            </a:r>
          </a:p>
        </p:txBody>
      </p:sp>
      <p:sp>
        <p:nvSpPr>
          <p:cNvPr id="55" name="td-3-2">
            <a:extLst xmlns:a="http://schemas.openxmlformats.org/drawingml/2006/main">
              <a:ext uri="{FF2B5EF4-FFF2-40B4-BE49-F238E27FC236}">
                <a16:creationId xmlns:a16="http://schemas.microsoft.com/office/drawing/2014/main" id="{17AE36D3-163F-4D4F-A7AC-1D48E95C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48175"/>
            <a:ext cx="152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56" name="td-text-3-2">
            <a:extLst xmlns:a="http://schemas.openxmlformats.org/drawingml/2006/main">
              <a:ext uri="{FF2B5EF4-FFF2-40B4-BE49-F238E27FC236}">
                <a16:creationId xmlns:a16="http://schemas.microsoft.com/office/drawing/2014/main" id="{64AE6096-0A16-44C7-AAB0-90F1C9A3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5720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6F"/>
                </a:solidFill>
              </a:defRPr>
            </a:pPr>
            <a:r>
              <a:rPr sz="975" b="0">
                <a:solidFill>
                  <a:srgbClr val="69766F"/>
                </a:solidFill>
              </a:rPr>
              <a:t>—</a:t>
            </a:r>
          </a:p>
        </p:txBody>
      </p:sp>
      <p:sp>
        <p:nvSpPr>
          <p:cNvPr id="57" name="td-3-3">
            <a:extLst xmlns:a="http://schemas.openxmlformats.org/drawingml/2006/main">
              <a:ext uri="{FF2B5EF4-FFF2-40B4-BE49-F238E27FC236}">
                <a16:creationId xmlns:a16="http://schemas.microsoft.com/office/drawing/2014/main" id="{52EF8621-4A0B-4994-9B6B-60B00377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48175"/>
            <a:ext cx="152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58" name="td-text-3-3">
            <a:extLst xmlns:a="http://schemas.openxmlformats.org/drawingml/2006/main">
              <a:ext uri="{FF2B5EF4-FFF2-40B4-BE49-F238E27FC236}">
                <a16:creationId xmlns:a16="http://schemas.microsoft.com/office/drawing/2014/main" id="{50DC8E0A-9225-4D62-8E2C-FA43F669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720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6F"/>
                </a:solidFill>
              </a:defRPr>
            </a:pPr>
            <a:r>
              <a:rPr sz="975" b="0">
                <a:solidFill>
                  <a:srgbClr val="69766F"/>
                </a:solidFill>
              </a:rPr>
              <a:t>—</a:t>
            </a:r>
          </a:p>
        </p:txBody>
      </p:sp>
      <p:sp>
        <p:nvSpPr>
          <p:cNvPr id="59" name="td-3-4">
            <a:extLst xmlns:a="http://schemas.openxmlformats.org/drawingml/2006/main">
              <a:ext uri="{FF2B5EF4-FFF2-40B4-BE49-F238E27FC236}">
                <a16:creationId xmlns:a16="http://schemas.microsoft.com/office/drawing/2014/main" id="{EE95C0C3-7B40-48D2-A3B1-1C563647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48175"/>
            <a:ext cx="4095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60" name="td-text-3-4">
            <a:extLst xmlns:a="http://schemas.openxmlformats.org/drawingml/2006/main">
              <a:ext uri="{FF2B5EF4-FFF2-40B4-BE49-F238E27FC236}">
                <a16:creationId xmlns:a16="http://schemas.microsoft.com/office/drawing/2014/main" id="{C401C163-EFDA-4E9E-B652-4B8A1D69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720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6F"/>
                </a:solidFill>
              </a:defRPr>
            </a:pPr>
            <a:r>
              <a:rPr sz="975" b="0">
                <a:solidFill>
                  <a:srgbClr val="69766F"/>
                </a:solidFill>
              </a:rPr>
              <a:t>填写统计口径与来源</a:t>
            </a:r>
          </a:p>
        </p:txBody>
      </p:sp>
    </p:spTree>
    <p:extLst>
      <p:ext uri="{BB962C8B-B14F-4D97-AF65-F5344CB8AC3E}">
        <p14:creationId xmlns:p14="http://schemas.microsoft.com/office/powerpoint/2010/main" val="854107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ule-60-45">
            <a:extLst xmlns:a="http://schemas.openxmlformats.org/drawingml/2006/main">
              <a:ext uri="{FF2B5EF4-FFF2-40B4-BE49-F238E27FC236}">
                <a16:creationId xmlns:a16="http://schemas.microsoft.com/office/drawing/2014/main" id="{C811AF27-D036-4F77-946E-10829FAC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accent">
            <a:extLst xmlns:a="http://schemas.openxmlformats.org/drawingml/2006/main">
              <a:ext uri="{FF2B5EF4-FFF2-40B4-BE49-F238E27FC236}">
                <a16:creationId xmlns:a16="http://schemas.microsoft.com/office/drawing/2014/main" id="{EF10BA4B-13F3-4687-B2A4-C131A3A8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7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hapter">
            <a:extLst xmlns:a="http://schemas.openxmlformats.org/drawingml/2006/main">
              <a:ext uri="{FF2B5EF4-FFF2-40B4-BE49-F238E27FC236}">
                <a16:creationId xmlns:a16="http://schemas.microsoft.com/office/drawing/2014/main" id="{B09E863F-ABCD-4A82-B0DF-7016D974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C7866"/>
                </a:solidFill>
              </a:defRPr>
            </a:pPr>
            <a:r>
              <a:rPr sz="900" b="1">
                <a:solidFill>
                  <a:srgbClr val="1C7866"/>
                </a:solidFill>
              </a:rPr>
              <a:t>数据与趋势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DB831B6-4A8A-4E05-870B-FB348128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71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66F"/>
                </a:solidFill>
              </a:defRPr>
            </a:pPr>
            <a:r>
              <a:rPr sz="825" b="1">
                <a:solidFill>
                  <a:srgbClr val="69766F"/>
                </a:solidFill>
              </a:rPr>
              <a:t>11</a:t>
            </a:r>
          </a:p>
        </p:txBody>
      </p:sp>
      <p:sp>
        <p:nvSpPr>
          <p:cNvPr id="5" name="rule-60-674">
            <a:extLst xmlns:a="http://schemas.openxmlformats.org/drawingml/2006/main">
              <a:ext uri="{FF2B5EF4-FFF2-40B4-BE49-F238E27FC236}">
                <a16:creationId xmlns:a16="http://schemas.microsoft.com/office/drawing/2014/main" id="{574D39E5-4071-4CAA-88A3-6FA27C6A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C42B68F8-7C51-4CB5-A428-85AC9356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B879"/>
                </a:solidFill>
              </a:defRPr>
            </a:pPr>
            <a:r>
              <a:rPr sz="1200" b="1">
                <a:solidFill>
                  <a:srgbClr val="42B879"/>
                </a:solidFill>
              </a:rPr>
              <a:t>mint</a:t>
            </a:r>
          </a:p>
        </p:txBody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60D0D552-33D7-474C-B309-03349910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77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来源：组件母版示例，生成材料时替换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61118A1-342C-4BAB-AF6B-777334E3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11 / 15</a:t>
            </a:r>
          </a:p>
        </p:txBody>
      </p:sp>
      <p:sp>
        <p:nvSpPr>
          <p:cNvPr id="9" name="page-title">
            <a:extLst xmlns:a="http://schemas.openxmlformats.org/drawingml/2006/main">
              <a:ext uri="{FF2B5EF4-FFF2-40B4-BE49-F238E27FC236}">
                <a16:creationId xmlns:a16="http://schemas.microsoft.com/office/drawing/2014/main" id="{CD771452-01DA-4A2F-9BBF-E2A3499E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A24"/>
                </a:solidFill>
              </a:defRPr>
            </a:pPr>
            <a:r>
              <a:rPr sz="2250" b="1">
                <a:solidFill>
                  <a:srgbClr val="162A24"/>
                </a:solidFill>
              </a:rPr>
              <a:t>类别对比用柱状图，连续时间用折线图</a:t>
            </a:r>
          </a:p>
        </p:txBody>
      </p:sp>
      <p:sp>
        <p:nvSpPr>
          <p:cNvPr id="10" name="page-lead">
            <a:extLst xmlns:a="http://schemas.openxmlformats.org/drawingml/2006/main">
              <a:ext uri="{FF2B5EF4-FFF2-40B4-BE49-F238E27FC236}">
                <a16:creationId xmlns:a16="http://schemas.microsoft.com/office/drawing/2014/main" id="{785E45F1-6DEF-425E-80D4-6EB1497C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图表必须包含真实数值、单位、期间、统计对象和来源。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4953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30e67c5127473d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286500" y="1905000"/>
          <a:ext xmlns:a="http://schemas.openxmlformats.org/drawingml/2006/main" cx="4953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697a646c8648b0"/>
          </a:graphicData>
        </a:graphic>
      </p:graphicFrame>
      <p:sp>
        <p:nvSpPr>
          <p:cNvPr id="13" name="chart-note">
            <a:extLst xmlns:a="http://schemas.openxmlformats.org/drawingml/2006/main">
              <a:ext uri="{FF2B5EF4-FFF2-40B4-BE49-F238E27FC236}">
                <a16:creationId xmlns:a16="http://schemas.microsoft.com/office/drawing/2014/main" id="{97215E14-A513-4A5C-B5F9-E0ECB483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9766F"/>
                </a:solidFill>
              </a:defRPr>
            </a:pPr>
            <a:r>
              <a:rPr sz="825" b="0">
                <a:solidFill>
                  <a:srgbClr val="69766F"/>
                </a:solidFill>
              </a:rPr>
              <a:t>单位：示例单位   ·   期间：示例期间   ·   统计对象：示例对象   ·   生成时必须替换数据与来源</a:t>
            </a:r>
          </a:p>
        </p:txBody>
      </p:sp>
    </p:spTree>
    <p:extLst>
      <p:ext uri="{BB962C8B-B14F-4D97-AF65-F5344CB8AC3E}">
        <p14:creationId xmlns:p14="http://schemas.microsoft.com/office/powerpoint/2010/main" val="13703864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ule-60-45">
            <a:extLst xmlns:a="http://schemas.openxmlformats.org/drawingml/2006/main">
              <a:ext uri="{FF2B5EF4-FFF2-40B4-BE49-F238E27FC236}">
                <a16:creationId xmlns:a16="http://schemas.microsoft.com/office/drawing/2014/main" id="{82DADF74-69AE-484B-BCB0-1F588625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accent">
            <a:extLst xmlns:a="http://schemas.openxmlformats.org/drawingml/2006/main">
              <a:ext uri="{FF2B5EF4-FFF2-40B4-BE49-F238E27FC236}">
                <a16:creationId xmlns:a16="http://schemas.microsoft.com/office/drawing/2014/main" id="{FBDD64A4-4252-4DF1-B76D-D83DCF6A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7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hapter">
            <a:extLst xmlns:a="http://schemas.openxmlformats.org/drawingml/2006/main">
              <a:ext uri="{FF2B5EF4-FFF2-40B4-BE49-F238E27FC236}">
                <a16:creationId xmlns:a16="http://schemas.microsoft.com/office/drawing/2014/main" id="{F3EB29F9-AFB2-4D3A-95FF-686F8F07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C7866"/>
                </a:solidFill>
              </a:defRPr>
            </a:pPr>
            <a:r>
              <a:rPr sz="900" b="1">
                <a:solidFill>
                  <a:srgbClr val="1C7866"/>
                </a:solidFill>
              </a:rPr>
              <a:t>风险与行动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A949BA-3F42-40F1-B05B-ABB58B88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71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66F"/>
                </a:solidFill>
              </a:defRPr>
            </a:pPr>
            <a:r>
              <a:rPr sz="825" b="1">
                <a:solidFill>
                  <a:srgbClr val="69766F"/>
                </a:solidFill>
              </a:rPr>
              <a:t>12</a:t>
            </a:r>
          </a:p>
        </p:txBody>
      </p:sp>
      <p:sp>
        <p:nvSpPr>
          <p:cNvPr id="5" name="rule-60-674">
            <a:extLst xmlns:a="http://schemas.openxmlformats.org/drawingml/2006/main">
              <a:ext uri="{FF2B5EF4-FFF2-40B4-BE49-F238E27FC236}">
                <a16:creationId xmlns:a16="http://schemas.microsoft.com/office/drawing/2014/main" id="{F8CCBAC4-9652-4382-9483-36183938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E225BD35-05EE-40C8-BA6D-16C03225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B879"/>
                </a:solidFill>
              </a:defRPr>
            </a:pPr>
            <a:r>
              <a:rPr sz="1200" b="1">
                <a:solidFill>
                  <a:srgbClr val="42B879"/>
                </a:solidFill>
              </a:rPr>
              <a:t>mint</a:t>
            </a:r>
          </a:p>
        </p:txBody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760D1E8A-A527-4898-905D-3B799FA8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77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来源：组件母版示例，生成材料时替换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1A08C69-85D8-4AE8-8E20-00C5FD60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12 / 15</a:t>
            </a:r>
          </a:p>
        </p:txBody>
      </p:sp>
      <p:sp>
        <p:nvSpPr>
          <p:cNvPr id="9" name="page-title">
            <a:extLst xmlns:a="http://schemas.openxmlformats.org/drawingml/2006/main">
              <a:ext uri="{FF2B5EF4-FFF2-40B4-BE49-F238E27FC236}">
                <a16:creationId xmlns:a16="http://schemas.microsoft.com/office/drawing/2014/main" id="{26B42495-38DB-4BD2-9383-EE122703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A24"/>
                </a:solidFill>
              </a:defRPr>
            </a:pPr>
            <a:r>
              <a:rPr sz="2250" b="1">
                <a:solidFill>
                  <a:srgbClr val="162A24"/>
                </a:solidFill>
              </a:rPr>
              <a:t>风险必须对应行动、Owner 与验证节点</a:t>
            </a:r>
          </a:p>
        </p:txBody>
      </p:sp>
      <p:sp>
        <p:nvSpPr>
          <p:cNvPr id="10" name="page-lead">
            <a:extLst xmlns:a="http://schemas.openxmlformats.org/drawingml/2006/main">
              <a:ext uri="{FF2B5EF4-FFF2-40B4-BE49-F238E27FC236}">
                <a16:creationId xmlns:a16="http://schemas.microsoft.com/office/drawing/2014/main" id="{B3DF584F-7827-456A-AC74-FF43C907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风险不是背景说明，而是需要被管理的事项。</a:t>
            </a:r>
          </a:p>
        </p:txBody>
      </p:sp>
      <p:sp>
        <p:nvSpPr>
          <p:cNvPr id="11" name="risk-head-0">
            <a:extLst xmlns:a="http://schemas.openxmlformats.org/drawingml/2006/main">
              <a:ext uri="{FF2B5EF4-FFF2-40B4-BE49-F238E27FC236}">
                <a16:creationId xmlns:a16="http://schemas.microsoft.com/office/drawing/2014/main" id="{12368659-8A0C-4726-A3BE-5CC547A2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7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isk-head-text-0">
            <a:extLst xmlns:a="http://schemas.openxmlformats.org/drawingml/2006/main">
              <a:ext uri="{FF2B5EF4-FFF2-40B4-BE49-F238E27FC236}">
                <a16:creationId xmlns:a16="http://schemas.microsoft.com/office/drawing/2014/main" id="{C91C922E-3950-4255-AF7A-74B911F9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DF8"/>
                </a:solidFill>
              </a:defRPr>
            </a:pPr>
            <a:r>
              <a:rPr sz="975" b="1">
                <a:solidFill>
                  <a:srgbClr val="FFFDF8"/>
                </a:solidFill>
              </a:rPr>
              <a:t>风险</a:t>
            </a:r>
          </a:p>
        </p:txBody>
      </p:sp>
      <p:sp>
        <p:nvSpPr>
          <p:cNvPr id="13" name="risk-head-1">
            <a:extLst xmlns:a="http://schemas.openxmlformats.org/drawingml/2006/main">
              <a:ext uri="{FF2B5EF4-FFF2-40B4-BE49-F238E27FC236}">
                <a16:creationId xmlns:a16="http://schemas.microsoft.com/office/drawing/2014/main" id="{E175A776-D061-43F5-B91A-42C69BBD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isk-head-text-1">
            <a:extLst xmlns:a="http://schemas.openxmlformats.org/drawingml/2006/main">
              <a:ext uri="{FF2B5EF4-FFF2-40B4-BE49-F238E27FC236}">
                <a16:creationId xmlns:a16="http://schemas.microsoft.com/office/drawing/2014/main" id="{BBAD0519-4C0D-4EF1-8462-97B8BE29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8595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DF8"/>
                </a:solidFill>
              </a:defRPr>
            </a:pPr>
            <a:r>
              <a:rPr sz="975" b="1">
                <a:solidFill>
                  <a:srgbClr val="FFFDF8"/>
                </a:solidFill>
              </a:rPr>
              <a:t>影响</a:t>
            </a:r>
          </a:p>
        </p:txBody>
      </p:sp>
      <p:sp>
        <p:nvSpPr>
          <p:cNvPr id="15" name="risk-head-2">
            <a:extLst xmlns:a="http://schemas.openxmlformats.org/drawingml/2006/main">
              <a:ext uri="{FF2B5EF4-FFF2-40B4-BE49-F238E27FC236}">
                <a16:creationId xmlns:a16="http://schemas.microsoft.com/office/drawing/2014/main" id="{98A4D25C-6552-4FF1-8EC1-276FAA71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isk-head-text-2">
            <a:extLst xmlns:a="http://schemas.openxmlformats.org/drawingml/2006/main">
              <a:ext uri="{FF2B5EF4-FFF2-40B4-BE49-F238E27FC236}">
                <a16:creationId xmlns:a16="http://schemas.microsoft.com/office/drawing/2014/main" id="{784B6107-6799-4883-9977-476F8071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DF8"/>
                </a:solidFill>
              </a:defRPr>
            </a:pPr>
            <a:r>
              <a:rPr sz="975" b="1">
                <a:solidFill>
                  <a:srgbClr val="FFFDF8"/>
                </a:solidFill>
              </a:rPr>
              <a:t>行动</a:t>
            </a:r>
          </a:p>
        </p:txBody>
      </p:sp>
      <p:sp>
        <p:nvSpPr>
          <p:cNvPr id="17" name="risk-head-3">
            <a:extLst xmlns:a="http://schemas.openxmlformats.org/drawingml/2006/main">
              <a:ext uri="{FF2B5EF4-FFF2-40B4-BE49-F238E27FC236}">
                <a16:creationId xmlns:a16="http://schemas.microsoft.com/office/drawing/2014/main" id="{4E16BE85-CC01-4B40-98D3-5FDBAF6F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isk-head-text-3">
            <a:extLst xmlns:a="http://schemas.openxmlformats.org/drawingml/2006/main">
              <a:ext uri="{FF2B5EF4-FFF2-40B4-BE49-F238E27FC236}">
                <a16:creationId xmlns:a16="http://schemas.microsoft.com/office/drawing/2014/main" id="{461D46B2-BBD2-43B1-86F3-2BFF8F15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DF8"/>
                </a:solidFill>
              </a:defRPr>
            </a:pPr>
            <a:r>
              <a:rPr sz="975" b="1">
                <a:solidFill>
                  <a:srgbClr val="FFFDF8"/>
                </a:solidFill>
              </a:rPr>
              <a:t>Owner / 时间</a:t>
            </a:r>
          </a:p>
        </p:txBody>
      </p:sp>
      <p:sp>
        <p:nvSpPr>
          <p:cNvPr id="19" name="risk-0-0">
            <a:extLst xmlns:a="http://schemas.openxmlformats.org/drawingml/2006/main">
              <a:ext uri="{FF2B5EF4-FFF2-40B4-BE49-F238E27FC236}">
                <a16:creationId xmlns:a16="http://schemas.microsoft.com/office/drawing/2014/main" id="{7560475C-8AAE-47C4-9B26-BC0DBF44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0" name="risk-text-0-0">
            <a:extLst xmlns:a="http://schemas.openxmlformats.org/drawingml/2006/main">
              <a:ext uri="{FF2B5EF4-FFF2-40B4-BE49-F238E27FC236}">
                <a16:creationId xmlns:a16="http://schemas.microsoft.com/office/drawing/2014/main" id="{8D9987FD-F680-4E39-B085-47698868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A24"/>
                </a:solidFill>
              </a:defRPr>
            </a:pPr>
            <a:r>
              <a:rPr sz="1050" b="1">
                <a:solidFill>
                  <a:srgbClr val="162A24"/>
                </a:solidFill>
              </a:rPr>
              <a:t>填写已确认风险</a:t>
            </a:r>
          </a:p>
        </p:txBody>
      </p:sp>
      <p:sp>
        <p:nvSpPr>
          <p:cNvPr id="21" name="risk-0-1">
            <a:extLst xmlns:a="http://schemas.openxmlformats.org/drawingml/2006/main">
              <a:ext uri="{FF2B5EF4-FFF2-40B4-BE49-F238E27FC236}">
                <a16:creationId xmlns:a16="http://schemas.microsoft.com/office/drawing/2014/main" id="{3DCC4147-1E7A-4273-9A56-9F43B72D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2" name="risk-text-0-1">
            <a:extLst xmlns:a="http://schemas.openxmlformats.org/drawingml/2006/main">
              <a:ext uri="{FF2B5EF4-FFF2-40B4-BE49-F238E27FC236}">
                <a16:creationId xmlns:a16="http://schemas.microsoft.com/office/drawing/2014/main" id="{A2670E35-9D85-4854-9DC6-9F3242A4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43175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说明可能影响</a:t>
            </a:r>
          </a:p>
        </p:txBody>
      </p:sp>
      <p:sp>
        <p:nvSpPr>
          <p:cNvPr id="23" name="risk-0-2">
            <a:extLst xmlns:a="http://schemas.openxmlformats.org/drawingml/2006/main">
              <a:ext uri="{FF2B5EF4-FFF2-40B4-BE49-F238E27FC236}">
                <a16:creationId xmlns:a16="http://schemas.microsoft.com/office/drawing/2014/main" id="{1F0AEADF-8BC6-4678-9A2B-D0CB0AD1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4" name="risk-text-0-2">
            <a:extLst xmlns:a="http://schemas.openxmlformats.org/drawingml/2006/main">
              <a:ext uri="{FF2B5EF4-FFF2-40B4-BE49-F238E27FC236}">
                <a16:creationId xmlns:a16="http://schemas.microsoft.com/office/drawing/2014/main" id="{E3067F7E-91CF-4A09-B307-A691A449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43175"/>
            <a:ext cx="2514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填写应对动作</a:t>
            </a:r>
          </a:p>
        </p:txBody>
      </p:sp>
      <p:sp>
        <p:nvSpPr>
          <p:cNvPr id="25" name="risk-0-3">
            <a:extLst xmlns:a="http://schemas.openxmlformats.org/drawingml/2006/main">
              <a:ext uri="{FF2B5EF4-FFF2-40B4-BE49-F238E27FC236}">
                <a16:creationId xmlns:a16="http://schemas.microsoft.com/office/drawing/2014/main" id="{0DA37E00-9CD4-4F1A-A127-E0931E6B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0505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6" name="risk-text-0-3">
            <a:extLst xmlns:a="http://schemas.openxmlformats.org/drawingml/2006/main">
              <a:ext uri="{FF2B5EF4-FFF2-40B4-BE49-F238E27FC236}">
                <a16:creationId xmlns:a16="http://schemas.microsoft.com/office/drawing/2014/main" id="{FAAAC689-C88F-485B-A06C-5CCB3398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43175"/>
            <a:ext cx="2228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Owner · 时间</a:t>
            </a:r>
          </a:p>
        </p:txBody>
      </p:sp>
      <p:sp>
        <p:nvSpPr>
          <p:cNvPr id="27" name="risk-1-0">
            <a:extLst xmlns:a="http://schemas.openxmlformats.org/drawingml/2006/main">
              <a:ext uri="{FF2B5EF4-FFF2-40B4-BE49-F238E27FC236}">
                <a16:creationId xmlns:a16="http://schemas.microsoft.com/office/drawing/2014/main" id="{64958417-930E-43CD-A1D6-29BEB9DD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8" name="risk-text-1-0">
            <a:extLst xmlns:a="http://schemas.openxmlformats.org/drawingml/2006/main">
              <a:ext uri="{FF2B5EF4-FFF2-40B4-BE49-F238E27FC236}">
                <a16:creationId xmlns:a16="http://schemas.microsoft.com/office/drawing/2014/main" id="{4705FA50-AAE9-4CD3-B5C3-0E077644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A24"/>
                </a:solidFill>
              </a:defRPr>
            </a:pPr>
            <a:r>
              <a:rPr sz="1050" b="1">
                <a:solidFill>
                  <a:srgbClr val="162A24"/>
                </a:solidFill>
              </a:rPr>
              <a:t>填写已确认风险</a:t>
            </a:r>
          </a:p>
        </p:txBody>
      </p:sp>
      <p:sp>
        <p:nvSpPr>
          <p:cNvPr id="29" name="risk-1-1">
            <a:extLst xmlns:a="http://schemas.openxmlformats.org/drawingml/2006/main">
              <a:ext uri="{FF2B5EF4-FFF2-40B4-BE49-F238E27FC236}">
                <a16:creationId xmlns:a16="http://schemas.microsoft.com/office/drawing/2014/main" id="{43576CB5-12EB-4FF2-9C6B-4FBDB3A8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5280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30" name="risk-text-1-1">
            <a:extLst xmlns:a="http://schemas.openxmlformats.org/drawingml/2006/main">
              <a:ext uri="{FF2B5EF4-FFF2-40B4-BE49-F238E27FC236}">
                <a16:creationId xmlns:a16="http://schemas.microsoft.com/office/drawing/2014/main" id="{AD912BE7-8B05-4A7A-9D19-099A0735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90925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说明可能影响</a:t>
            </a:r>
          </a:p>
        </p:txBody>
      </p:sp>
      <p:sp>
        <p:nvSpPr>
          <p:cNvPr id="31" name="risk-1-2">
            <a:extLst xmlns:a="http://schemas.openxmlformats.org/drawingml/2006/main">
              <a:ext uri="{FF2B5EF4-FFF2-40B4-BE49-F238E27FC236}">
                <a16:creationId xmlns:a16="http://schemas.microsoft.com/office/drawing/2014/main" id="{04AFB70D-960D-4B0C-9872-4E8E107B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32" name="risk-text-1-2">
            <a:extLst xmlns:a="http://schemas.openxmlformats.org/drawingml/2006/main">
              <a:ext uri="{FF2B5EF4-FFF2-40B4-BE49-F238E27FC236}">
                <a16:creationId xmlns:a16="http://schemas.microsoft.com/office/drawing/2014/main" id="{576C5B06-DA53-483A-9B80-1262AC3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90925"/>
            <a:ext cx="2514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填写应对动作</a:t>
            </a:r>
          </a:p>
        </p:txBody>
      </p:sp>
      <p:sp>
        <p:nvSpPr>
          <p:cNvPr id="33" name="risk-1-3">
            <a:extLst xmlns:a="http://schemas.openxmlformats.org/drawingml/2006/main">
              <a:ext uri="{FF2B5EF4-FFF2-40B4-BE49-F238E27FC236}">
                <a16:creationId xmlns:a16="http://schemas.microsoft.com/office/drawing/2014/main" id="{34B95B5A-B3BD-4555-ABB7-155BCA4D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34" name="risk-text-1-3">
            <a:extLst xmlns:a="http://schemas.openxmlformats.org/drawingml/2006/main">
              <a:ext uri="{FF2B5EF4-FFF2-40B4-BE49-F238E27FC236}">
                <a16:creationId xmlns:a16="http://schemas.microsoft.com/office/drawing/2014/main" id="{C177DA74-368D-47F9-996B-C68A3330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90925"/>
            <a:ext cx="2228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Owner · 时间</a:t>
            </a:r>
          </a:p>
        </p:txBody>
      </p:sp>
      <p:sp>
        <p:nvSpPr>
          <p:cNvPr id="35" name="risk-2-0">
            <a:extLst xmlns:a="http://schemas.openxmlformats.org/drawingml/2006/main">
              <a:ext uri="{FF2B5EF4-FFF2-40B4-BE49-F238E27FC236}">
                <a16:creationId xmlns:a16="http://schemas.microsoft.com/office/drawing/2014/main" id="{EAD6896D-7782-44CC-B2FB-83C5AAD4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36" name="risk-text-2-0">
            <a:extLst xmlns:a="http://schemas.openxmlformats.org/drawingml/2006/main">
              <a:ext uri="{FF2B5EF4-FFF2-40B4-BE49-F238E27FC236}">
                <a16:creationId xmlns:a16="http://schemas.microsoft.com/office/drawing/2014/main" id="{A6DE6F56-9D15-4D93-B218-FBA6FEA2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2A24"/>
                </a:solidFill>
              </a:defRPr>
            </a:pPr>
            <a:r>
              <a:rPr sz="1050" b="1">
                <a:solidFill>
                  <a:srgbClr val="162A24"/>
                </a:solidFill>
              </a:rPr>
              <a:t>填写已确认风险</a:t>
            </a:r>
          </a:p>
        </p:txBody>
      </p:sp>
      <p:sp>
        <p:nvSpPr>
          <p:cNvPr id="37" name="risk-2-1">
            <a:extLst xmlns:a="http://schemas.openxmlformats.org/drawingml/2006/main">
              <a:ext uri="{FF2B5EF4-FFF2-40B4-BE49-F238E27FC236}">
                <a16:creationId xmlns:a16="http://schemas.microsoft.com/office/drawing/2014/main" id="{CDB98777-4587-4BBA-AE8A-181AD0F8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00550"/>
            <a:ext cx="2952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38" name="risk-text-2-1">
            <a:extLst xmlns:a="http://schemas.openxmlformats.org/drawingml/2006/main">
              <a:ext uri="{FF2B5EF4-FFF2-40B4-BE49-F238E27FC236}">
                <a16:creationId xmlns:a16="http://schemas.microsoft.com/office/drawing/2014/main" id="{E2E4C926-5069-465D-9DF8-BC9C4E37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38675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说明可能影响</a:t>
            </a:r>
          </a:p>
        </p:txBody>
      </p:sp>
      <p:sp>
        <p:nvSpPr>
          <p:cNvPr id="39" name="risk-2-2">
            <a:extLst xmlns:a="http://schemas.openxmlformats.org/drawingml/2006/main">
              <a:ext uri="{FF2B5EF4-FFF2-40B4-BE49-F238E27FC236}">
                <a16:creationId xmlns:a16="http://schemas.microsoft.com/office/drawing/2014/main" id="{582052C3-EFCE-4579-8B8B-9EEE095C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40" name="risk-text-2-2">
            <a:extLst xmlns:a="http://schemas.openxmlformats.org/drawingml/2006/main">
              <a:ext uri="{FF2B5EF4-FFF2-40B4-BE49-F238E27FC236}">
                <a16:creationId xmlns:a16="http://schemas.microsoft.com/office/drawing/2014/main" id="{B3F86AA6-EC66-447A-8AAE-F093A5FE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38675"/>
            <a:ext cx="2514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填写应对动作</a:t>
            </a:r>
          </a:p>
        </p:txBody>
      </p:sp>
      <p:sp>
        <p:nvSpPr>
          <p:cNvPr id="41" name="risk-2-3">
            <a:extLst xmlns:a="http://schemas.openxmlformats.org/drawingml/2006/main">
              <a:ext uri="{FF2B5EF4-FFF2-40B4-BE49-F238E27FC236}">
                <a16:creationId xmlns:a16="http://schemas.microsoft.com/office/drawing/2014/main" id="{6BCC50F8-3C91-4494-B79B-3ADEB83D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0055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42" name="risk-text-2-3">
            <a:extLst xmlns:a="http://schemas.openxmlformats.org/drawingml/2006/main">
              <a:ext uri="{FF2B5EF4-FFF2-40B4-BE49-F238E27FC236}">
                <a16:creationId xmlns:a16="http://schemas.microsoft.com/office/drawing/2014/main" id="{15F0F8D9-B33D-4F48-B825-993B6163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38675"/>
            <a:ext cx="2228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Owner · 时间</a:t>
            </a:r>
          </a:p>
        </p:txBody>
      </p:sp>
    </p:spTree>
    <p:extLst>
      <p:ext uri="{BB962C8B-B14F-4D97-AF65-F5344CB8AC3E}">
        <p14:creationId xmlns:p14="http://schemas.microsoft.com/office/powerpoint/2010/main" val="11273006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ule-60-45">
            <a:extLst xmlns:a="http://schemas.openxmlformats.org/drawingml/2006/main">
              <a:ext uri="{FF2B5EF4-FFF2-40B4-BE49-F238E27FC236}">
                <a16:creationId xmlns:a16="http://schemas.microsoft.com/office/drawing/2014/main" id="{4539BF5F-401D-458E-B93C-35F133C1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accent">
            <a:extLst xmlns:a="http://schemas.openxmlformats.org/drawingml/2006/main">
              <a:ext uri="{FF2B5EF4-FFF2-40B4-BE49-F238E27FC236}">
                <a16:creationId xmlns:a16="http://schemas.microsoft.com/office/drawing/2014/main" id="{33538871-DE8C-46AF-9A69-4C7816F3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7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hapter">
            <a:extLst xmlns:a="http://schemas.openxmlformats.org/drawingml/2006/main">
              <a:ext uri="{FF2B5EF4-FFF2-40B4-BE49-F238E27FC236}">
                <a16:creationId xmlns:a16="http://schemas.microsoft.com/office/drawing/2014/main" id="{59C546B2-2C1C-4098-BF5B-4E8753A1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C7866"/>
                </a:solidFill>
              </a:defRPr>
            </a:pPr>
            <a:r>
              <a:rPr sz="900" b="1">
                <a:solidFill>
                  <a:srgbClr val="1C7866"/>
                </a:solidFill>
              </a:rPr>
              <a:t>决策与下一步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A69AD19-DE01-43B4-AE6C-064BF2FD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71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66F"/>
                </a:solidFill>
              </a:defRPr>
            </a:pPr>
            <a:r>
              <a:rPr sz="825" b="1">
                <a:solidFill>
                  <a:srgbClr val="69766F"/>
                </a:solidFill>
              </a:rPr>
              <a:t>13</a:t>
            </a:r>
          </a:p>
        </p:txBody>
      </p:sp>
      <p:sp>
        <p:nvSpPr>
          <p:cNvPr id="5" name="rule-60-674">
            <a:extLst xmlns:a="http://schemas.openxmlformats.org/drawingml/2006/main">
              <a:ext uri="{FF2B5EF4-FFF2-40B4-BE49-F238E27FC236}">
                <a16:creationId xmlns:a16="http://schemas.microsoft.com/office/drawing/2014/main" id="{C5A7EA51-D7AC-4CA8-B582-A49D4C92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993C6780-345F-4815-A4DB-D7207E98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B879"/>
                </a:solidFill>
              </a:defRPr>
            </a:pPr>
            <a:r>
              <a:rPr sz="1200" b="1">
                <a:solidFill>
                  <a:srgbClr val="42B879"/>
                </a:solidFill>
              </a:rPr>
              <a:t>mint</a:t>
            </a:r>
          </a:p>
        </p:txBody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7E4BF128-97E3-43AE-83EF-07735FF6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4770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来源：组件母版示例，生成材料时替换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D2A3A64-7536-4DBE-9558-06130D5F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9766F"/>
                </a:solidFill>
              </a:defRPr>
            </a:pPr>
            <a:r>
              <a:rPr sz="675" b="0">
                <a:solidFill>
                  <a:srgbClr val="69766F"/>
                </a:solidFill>
              </a:rPr>
              <a:t>13 / 15</a:t>
            </a:r>
          </a:p>
        </p:txBody>
      </p:sp>
      <p:sp>
        <p:nvSpPr>
          <p:cNvPr id="9" name="page-title">
            <a:extLst xmlns:a="http://schemas.openxmlformats.org/drawingml/2006/main">
              <a:ext uri="{FF2B5EF4-FFF2-40B4-BE49-F238E27FC236}">
                <a16:creationId xmlns:a16="http://schemas.microsoft.com/office/drawing/2014/main" id="{98B883C5-95BF-42B2-89EB-826288C7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A24"/>
                </a:solidFill>
              </a:defRPr>
            </a:pPr>
            <a:r>
              <a:rPr sz="2250" b="1">
                <a:solidFill>
                  <a:srgbClr val="162A24"/>
                </a:solidFill>
              </a:rPr>
              <a:t>管理层只需回答一个决策问题</a:t>
            </a:r>
          </a:p>
        </p:txBody>
      </p:sp>
      <p:sp>
        <p:nvSpPr>
          <p:cNvPr id="10" name="page-lead">
            <a:extLst xmlns:a="http://schemas.openxmlformats.org/drawingml/2006/main">
              <a:ext uri="{FF2B5EF4-FFF2-40B4-BE49-F238E27FC236}">
                <a16:creationId xmlns:a16="http://schemas.microsoft.com/office/drawing/2014/main" id="{E45EDDA9-D663-482E-8880-524A0B3E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66F"/>
                </a:solidFill>
              </a:defRPr>
            </a:pPr>
            <a:r>
              <a:rPr sz="1050" b="0">
                <a:solidFill>
                  <a:srgbClr val="69766F"/>
                </a:solidFill>
              </a:rPr>
              <a:t>行动项比背景信息更醒目。</a:t>
            </a:r>
          </a:p>
        </p:txBody>
      </p:sp>
      <p:sp>
        <p:nvSpPr>
          <p:cNvPr id="11" name="decision-main">
            <a:extLst xmlns:a="http://schemas.openxmlformats.org/drawingml/2006/main">
              <a:ext uri="{FF2B5EF4-FFF2-40B4-BE49-F238E27FC236}">
                <a16:creationId xmlns:a16="http://schemas.microsoft.com/office/drawing/2014/main" id="{A6291A4B-5DE8-4362-87DD-61ED87AE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bel-95-220">
            <a:extLst xmlns:a="http://schemas.openxmlformats.org/drawingml/2006/main">
              <a:ext uri="{FF2B5EF4-FFF2-40B4-BE49-F238E27FC236}">
                <a16:creationId xmlns:a16="http://schemas.microsoft.com/office/drawing/2014/main" id="{5DF12B13-E1F8-4389-A7B7-6D956DB6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CCDB2"/>
                </a:solidFill>
              </a:defRPr>
            </a:pPr>
            <a:r>
              <a:rPr sz="750" b="1">
                <a:solidFill>
                  <a:srgbClr val="8CCDB2"/>
                </a:solidFill>
              </a:rPr>
              <a:t>DECISION</a:t>
            </a:r>
          </a:p>
        </p:txBody>
      </p:sp>
      <p:sp>
        <p:nvSpPr>
          <p:cNvPr id="13" name="decision-copy">
            <a:extLst xmlns:a="http://schemas.openxmlformats.org/drawingml/2006/main">
              <a:ext uri="{FF2B5EF4-FFF2-40B4-BE49-F238E27FC236}">
                <a16:creationId xmlns:a16="http://schemas.microsoft.com/office/drawing/2014/main" id="{CB8144BB-897B-420A-88BE-4F5F4D24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DF8"/>
                </a:solidFill>
              </a:defRPr>
            </a:pPr>
            <a:r>
              <a:rPr sz="2175" b="1">
                <a:solidFill>
                  <a:srgbClr val="FFFDF8"/>
                </a:solidFill>
              </a:rPr>
              <a:t>是否批准进入下一阶段，并以明确的事实和结果标准复盘？</a:t>
            </a:r>
          </a:p>
        </p:txBody>
      </p:sp>
      <p:sp>
        <p:nvSpPr>
          <p:cNvPr id="14" name="decision-reason">
            <a:extLst xmlns:a="http://schemas.openxmlformats.org/drawingml/2006/main">
              <a:ext uri="{FF2B5EF4-FFF2-40B4-BE49-F238E27FC236}">
                <a16:creationId xmlns:a16="http://schemas.microsoft.com/office/drawing/2014/main" id="{696A6280-6DF1-44B2-9208-DC5E8BF3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CE5"/>
                </a:solidFill>
              </a:defRPr>
            </a:pPr>
            <a:r>
              <a:rPr sz="1050" b="0">
                <a:solidFill>
                  <a:srgbClr val="DCECE5"/>
                </a:solidFill>
              </a:rPr>
              <a:t>依据 01｜填写关键证据</a:t>
            </a:r>
          </a:p>
          <a:p xmlns:a="http://schemas.openxmlformats.org/drawingml/2006/main">
            <a:pPr algn="l">
              <a:defRPr sz="1050" b="0">
                <a:solidFill>
                  <a:srgbClr val="DCECE5"/>
                </a:solidFill>
              </a:defRPr>
            </a:pPr>
            <a:r>
              <a:rPr sz="1050" b="0">
                <a:solidFill>
                  <a:srgbClr val="DCECE5"/>
                </a:solidFill>
              </a:rPr>
              <a:t>依据 02｜填写风险边界</a:t>
            </a:r>
          </a:p>
        </p:txBody>
      </p:sp>
      <p:sp>
        <p:nvSpPr>
          <p:cNvPr id="15" name="decision-action-0-bg">
            <a:extLst xmlns:a="http://schemas.openxmlformats.org/drawingml/2006/main">
              <a:ext uri="{FF2B5EF4-FFF2-40B4-BE49-F238E27FC236}">
                <a16:creationId xmlns:a16="http://schemas.microsoft.com/office/drawing/2014/main" id="{7A9C8C4B-2B8F-4D74-8BCB-E2894ABB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447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16" name="decision-action-0-accent">
            <a:extLst xmlns:a="http://schemas.openxmlformats.org/drawingml/2006/main">
              <a:ext uri="{FF2B5EF4-FFF2-40B4-BE49-F238E27FC236}">
                <a16:creationId xmlns:a16="http://schemas.microsoft.com/office/drawing/2014/main" id="{CD0E17B1-82D5-4061-B957-05AB751A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ecision-action-0-title">
            <a:extLst xmlns:a="http://schemas.openxmlformats.org/drawingml/2006/main">
              <a:ext uri="{FF2B5EF4-FFF2-40B4-BE49-F238E27FC236}">
                <a16:creationId xmlns:a16="http://schemas.microsoft.com/office/drawing/2014/main" id="{8E15E5C0-CB56-4063-8C2C-8670A31D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621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A24"/>
                </a:solidFill>
              </a:defRPr>
            </a:pPr>
            <a:r>
              <a:rPr sz="1350" b="1">
                <a:solidFill>
                  <a:srgbClr val="162A24"/>
                </a:solidFill>
              </a:rPr>
              <a:t>确认范围</a:t>
            </a:r>
          </a:p>
        </p:txBody>
      </p:sp>
      <p:sp>
        <p:nvSpPr>
          <p:cNvPr id="18" name="decision-action-0-detail">
            <a:extLst xmlns:a="http://schemas.openxmlformats.org/drawingml/2006/main">
              <a:ext uri="{FF2B5EF4-FFF2-40B4-BE49-F238E27FC236}">
                <a16:creationId xmlns:a16="http://schemas.microsoft.com/office/drawing/2014/main" id="{6379C47E-60A1-4309-A8D5-6DD0A607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24100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填写动作、责任人和时间</a:t>
            </a:r>
          </a:p>
        </p:txBody>
      </p:sp>
      <p:sp>
        <p:nvSpPr>
          <p:cNvPr id="19" name="decision-action-1-bg">
            <a:extLst xmlns:a="http://schemas.openxmlformats.org/drawingml/2006/main">
              <a:ext uri="{FF2B5EF4-FFF2-40B4-BE49-F238E27FC236}">
                <a16:creationId xmlns:a16="http://schemas.microsoft.com/office/drawing/2014/main" id="{46E4C5EB-F176-4795-8206-D6EAB95C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447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0" name="decision-action-1-accent">
            <a:extLst xmlns:a="http://schemas.openxmlformats.org/drawingml/2006/main">
              <a:ext uri="{FF2B5EF4-FFF2-40B4-BE49-F238E27FC236}">
                <a16:creationId xmlns:a16="http://schemas.microsoft.com/office/drawing/2014/main" id="{7266FAA1-AA20-4121-956C-40769B0A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E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ecision-action-1-title">
            <a:extLst xmlns:a="http://schemas.openxmlformats.org/drawingml/2006/main">
              <a:ext uri="{FF2B5EF4-FFF2-40B4-BE49-F238E27FC236}">
                <a16:creationId xmlns:a16="http://schemas.microsoft.com/office/drawing/2014/main" id="{46F1F938-F203-40EA-B329-DF4D2DA5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0040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A24"/>
                </a:solidFill>
              </a:defRPr>
            </a:pPr>
            <a:r>
              <a:rPr sz="1350" b="1">
                <a:solidFill>
                  <a:srgbClr val="162A24"/>
                </a:solidFill>
              </a:rPr>
              <a:t>落实 Owner</a:t>
            </a:r>
          </a:p>
        </p:txBody>
      </p:sp>
      <p:sp>
        <p:nvSpPr>
          <p:cNvPr id="22" name="decision-action-1-detail">
            <a:extLst xmlns:a="http://schemas.openxmlformats.org/drawingml/2006/main">
              <a:ext uri="{FF2B5EF4-FFF2-40B4-BE49-F238E27FC236}">
                <a16:creationId xmlns:a16="http://schemas.microsoft.com/office/drawing/2014/main" id="{EE706D20-7FBB-482C-AF58-57D8C887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62350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填写动作、责任人和时间</a:t>
            </a:r>
          </a:p>
        </p:txBody>
      </p:sp>
      <p:sp>
        <p:nvSpPr>
          <p:cNvPr id="23" name="decision-action-2-bg">
            <a:extLst xmlns:a="http://schemas.openxmlformats.org/drawingml/2006/main">
              <a:ext uri="{FF2B5EF4-FFF2-40B4-BE49-F238E27FC236}">
                <a16:creationId xmlns:a16="http://schemas.microsoft.com/office/drawing/2014/main" id="{DE689EC0-250F-4AFD-8B35-38124D5F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4476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BD3CE"/>
            </a:solidFill>
            <a:prstDash val="solid"/>
          </a:ln>
        </p:spPr>
      </p:sp>
      <p:sp>
        <p:nvSpPr>
          <p:cNvPr id="24" name="decision-action-2-accent">
            <a:extLst xmlns:a="http://schemas.openxmlformats.org/drawingml/2006/main">
              <a:ext uri="{FF2B5EF4-FFF2-40B4-BE49-F238E27FC236}">
                <a16:creationId xmlns:a16="http://schemas.microsoft.com/office/drawing/2014/main" id="{9FA610EB-22F0-4764-B778-396E1780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79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ecision-action-2-title">
            <a:extLst xmlns:a="http://schemas.openxmlformats.org/drawingml/2006/main">
              <a:ext uri="{FF2B5EF4-FFF2-40B4-BE49-F238E27FC236}">
                <a16:creationId xmlns:a16="http://schemas.microsoft.com/office/drawing/2014/main" id="{D41DF0F8-E0D6-450F-9D89-962556D0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386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A24"/>
                </a:solidFill>
              </a:defRPr>
            </a:pPr>
            <a:r>
              <a:rPr sz="1350" b="1">
                <a:solidFill>
                  <a:srgbClr val="162A24"/>
                </a:solidFill>
              </a:rPr>
              <a:t>设定验证节点</a:t>
            </a:r>
          </a:p>
        </p:txBody>
      </p:sp>
      <p:sp>
        <p:nvSpPr>
          <p:cNvPr id="26" name="decision-action-2-detail">
            <a:extLst xmlns:a="http://schemas.openxmlformats.org/drawingml/2006/main">
              <a:ext uri="{FF2B5EF4-FFF2-40B4-BE49-F238E27FC236}">
                <a16:creationId xmlns:a16="http://schemas.microsoft.com/office/drawing/2014/main" id="{FC7D6D23-C9EE-4802-880B-E1A91E86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800600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66F"/>
                </a:solidFill>
              </a:defRPr>
            </a:pPr>
            <a:r>
              <a:rPr sz="900" b="0">
                <a:solidFill>
                  <a:srgbClr val="69766F"/>
                </a:solidFill>
              </a:rPr>
              <a:t>填写动作、责任人和时间</a:t>
            </a:r>
          </a:p>
        </p:txBody>
      </p:sp>
    </p:spTree>
    <p:extLst>
      <p:ext uri="{BB962C8B-B14F-4D97-AF65-F5344CB8AC3E}">
        <p14:creationId xmlns:p14="http://schemas.microsoft.com/office/powerpoint/2010/main" val="963702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C78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104A7661-5191-4940-939A-D86A18CC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250" b="0">
                <a:solidFill>
                  <a:srgbClr val="FFFDF8"/>
                </a:solidFill>
              </a:defRPr>
            </a:pPr>
            <a:r>
              <a:rPr sz="5250" b="0">
                <a:solidFill>
                  <a:srgbClr val="FFFDF8"/>
                </a:solidFill>
              </a:rPr>
              <a:t>01</a:t>
            </a:r>
          </a:p>
        </p:txBody>
      </p:sp>
      <p:sp>
        <p:nvSpPr>
          <p:cNvPr id="2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9FEF8B2D-B8B5-4D37-884B-7BB09BB2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DF8"/>
                </a:solidFill>
              </a:defRPr>
            </a:pPr>
            <a:r>
              <a:rPr sz="2550" b="1">
                <a:solidFill>
                  <a:srgbClr val="FFFDF8"/>
                </a:solidFill>
              </a:rPr>
              <a:t>战略与目标</a:t>
            </a:r>
          </a:p>
        </p:txBody>
      </p:sp>
      <p:sp>
        <p:nvSpPr>
          <p:cNvPr id="3" name="section-en">
            <a:extLst xmlns:a="http://schemas.openxmlformats.org/drawingml/2006/main">
              <a:ext uri="{FF2B5EF4-FFF2-40B4-BE49-F238E27FC236}">
                <a16:creationId xmlns:a16="http://schemas.microsoft.com/office/drawing/2014/main" id="{6FD1EF7D-3A3A-4848-A278-CEEC7992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CCDB2"/>
                </a:solidFill>
              </a:defRPr>
            </a:pPr>
            <a:r>
              <a:rPr sz="1125" b="1">
                <a:solidFill>
                  <a:srgbClr val="8CCDB2"/>
                </a:solidFill>
              </a:rPr>
              <a:t>STRATEGY &amp; DIRECTION</a:t>
            </a:r>
          </a:p>
        </p:txBody>
      </p:sp>
      <p:sp>
        <p:nvSpPr>
          <p:cNvPr id="4" name="rule-70-630">
            <a:extLst xmlns:a="http://schemas.openxmlformats.org/drawingml/2006/main">
              <a:ext uri="{FF2B5EF4-FFF2-40B4-BE49-F238E27FC236}">
                <a16:creationId xmlns:a16="http://schemas.microsoft.com/office/drawing/2014/main" id="{8F995CD6-82F9-4380-989F-6930BE3F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2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-brand">
            <a:extLst xmlns:a="http://schemas.openxmlformats.org/drawingml/2006/main">
              <a:ext uri="{FF2B5EF4-FFF2-40B4-BE49-F238E27FC236}">
                <a16:creationId xmlns:a16="http://schemas.microsoft.com/office/drawing/2014/main" id="{3541A59D-63F3-4DD7-8BAA-852B1165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DF8"/>
                </a:solidFill>
              </a:defRPr>
            </a:pPr>
            <a:r>
              <a:rPr sz="1200" b="1">
                <a:solidFill>
                  <a:srgbClr val="FFFDF8"/>
                </a:solidFill>
              </a:rPr>
              <a:t>mint</a:t>
            </a:r>
          </a:p>
        </p:txBody>
      </p:sp>
    </p:spTree>
    <p:extLst>
      <p:ext uri="{BB962C8B-B14F-4D97-AF65-F5344CB8AC3E}">
        <p14:creationId xmlns:p14="http://schemas.microsoft.com/office/powerpoint/2010/main" val="9915443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ing-brand">
            <a:extLst xmlns:a="http://schemas.openxmlformats.org/drawingml/2006/main">
              <a:ext uri="{FF2B5EF4-FFF2-40B4-BE49-F238E27FC236}">
                <a16:creationId xmlns:a16="http://schemas.microsoft.com/office/drawing/2014/main" id="{6BDF605B-61BA-459B-82F1-1FCCE97E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2B879"/>
                </a:solidFill>
              </a:defRPr>
            </a:pPr>
            <a:r>
              <a:rPr sz="1800" b="1">
                <a:solidFill>
                  <a:srgbClr val="42B879"/>
                </a:solidFill>
              </a:rPr>
              <a:t>Mint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1A256088-6F83-4572-9A79-B0E39700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C7866"/>
                </a:solidFill>
              </a:defRPr>
            </a:pPr>
            <a:r>
              <a:rPr sz="3450" b="1">
                <a:solidFill>
                  <a:srgbClr val="1C7866"/>
                </a:solidFill>
              </a:rPr>
              <a:t>谢谢</a:t>
            </a:r>
          </a:p>
        </p:txBody>
      </p:sp>
      <p:sp>
        <p:nvSpPr>
          <p:cNvPr id="3" name="closing-en">
            <a:extLst xmlns:a="http://schemas.openxmlformats.org/drawingml/2006/main">
              <a:ext uri="{FF2B5EF4-FFF2-40B4-BE49-F238E27FC236}">
                <a16:creationId xmlns:a16="http://schemas.microsoft.com/office/drawing/2014/main" id="{9A1F98C4-1D85-4113-AB88-38C2D608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C794D"/>
                </a:solidFill>
              </a:defRPr>
            </a:pPr>
            <a:r>
              <a:rPr sz="1200" b="1">
                <a:solidFill>
                  <a:srgbClr val="BC794D"/>
                </a:solidFill>
              </a:rPr>
              <a:t>THANK YOU</a:t>
            </a:r>
          </a:p>
        </p:txBody>
      </p:sp>
      <p:sp>
        <p:nvSpPr>
          <p:cNvPr id="4" name="closing-wave-0">
            <a:extLst xmlns:a="http://schemas.openxmlformats.org/drawingml/2006/main">
              <a:ext uri="{FF2B5EF4-FFF2-40B4-BE49-F238E27FC236}">
                <a16:creationId xmlns:a16="http://schemas.microsoft.com/office/drawing/2014/main" id="{8DC9343A-E033-4427-9D6D-218A18B8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43000"/>
            <a:ext cx="4095750" cy="409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CDB2"/>
            </a:solidFill>
            <a:prstDash val="solid"/>
          </a:ln>
        </p:spPr>
      </p:sp>
      <p:sp>
        <p:nvSpPr>
          <p:cNvPr id="5" name="closing-wave-1">
            <a:extLst xmlns:a="http://schemas.openxmlformats.org/drawingml/2006/main">
              <a:ext uri="{FF2B5EF4-FFF2-40B4-BE49-F238E27FC236}">
                <a16:creationId xmlns:a16="http://schemas.microsoft.com/office/drawing/2014/main" id="{6D60EB7D-6C88-4639-81A2-2939FE69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19250"/>
            <a:ext cx="3762375" cy="37623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794D"/>
            </a:solidFill>
            <a:prstDash val="solid"/>
          </a:ln>
        </p:spPr>
      </p:sp>
      <p:sp>
        <p:nvSpPr>
          <p:cNvPr id="6" name="closing-wave-2">
            <a:extLst xmlns:a="http://schemas.openxmlformats.org/drawingml/2006/main">
              <a:ext uri="{FF2B5EF4-FFF2-40B4-BE49-F238E27FC236}">
                <a16:creationId xmlns:a16="http://schemas.microsoft.com/office/drawing/2014/main" id="{EF964B6F-B968-40A3-9D29-CC24200A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3429000" cy="3429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47E89"/>
            </a:solidFill>
            <a:prstDash val="solid"/>
          </a:ln>
        </p:spPr>
      </p:sp>
      <p:sp>
        <p:nvSpPr>
          <p:cNvPr id="7" name="closing-wave-3">
            <a:extLst xmlns:a="http://schemas.openxmlformats.org/drawingml/2006/main">
              <a:ext uri="{FF2B5EF4-FFF2-40B4-BE49-F238E27FC236}">
                <a16:creationId xmlns:a16="http://schemas.microsoft.com/office/drawing/2014/main" id="{FB796F25-DBE7-4E43-A087-D1F465AF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3095625" cy="309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453A"/>
          </a:solidFill>
          <a:ln xmlns:a="http://schemas.openxmlformats.org/drawingml/2006/main" w="9525">
            <a:solidFill>
              <a:srgbClr val="0E453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07266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2026-08-13T07:52:59.7520000Z</dcterms:created>
  <dcterms:modified xsi:type="dcterms:W3CDTF">2026-08-13T07:52:59.7520000Z</dcterms:modified>
</coreProperties>
</file>