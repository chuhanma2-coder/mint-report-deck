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8f1daad28b461d" /><Relationship Type="http://schemas.openxmlformats.org/officeDocument/2006/relationships/extended-properties" Target="/docProps/app.xml" Id="R1fa07e172e6449e3" /><Relationship Type="http://schemas.openxmlformats.org/officeDocument/2006/relationships/officeDocument" Target="/ppt/presentation.xml" Id="Rb7826dd3baeb4d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64933b427c443f"/>
    <p:sldMasterId xmlns:r="http://schemas.openxmlformats.org/officeDocument/2006/relationships" id="2147483650" r:id="R20430abb242d465a"/>
  </p:sldMasterIdLst>
  <p:notesMasterIdLst>
    <p:notesMasterId xmlns:r="http://schemas.openxmlformats.org/officeDocument/2006/relationships" r:id="Rff1454ad58634d7f"/>
  </p:notesMasterIdLst>
  <p:sldIdLst>
    <p:sldId xmlns:r="http://schemas.openxmlformats.org/officeDocument/2006/relationships" id="256" r:id="R3dbfff76ef98413b"/>
    <p:sldId xmlns:r="http://schemas.openxmlformats.org/officeDocument/2006/relationships" id="257" r:id="Rfe1a9f4311084b11"/>
    <p:sldId xmlns:r="http://schemas.openxmlformats.org/officeDocument/2006/relationships" id="258" r:id="R41c9c47481154070"/>
    <p:sldId xmlns:r="http://schemas.openxmlformats.org/officeDocument/2006/relationships" id="259" r:id="R7561512730db4314"/>
    <p:sldId xmlns:r="http://schemas.openxmlformats.org/officeDocument/2006/relationships" id="260" r:id="R79569057269741d5"/>
    <p:sldId xmlns:r="http://schemas.openxmlformats.org/officeDocument/2006/relationships" id="261" r:id="Rd4ef9610cfc64895"/>
    <p:sldId xmlns:r="http://schemas.openxmlformats.org/officeDocument/2006/relationships" id="262" r:id="Re3c4191a0898405d"/>
    <p:sldId xmlns:r="http://schemas.openxmlformats.org/officeDocument/2006/relationships" id="263" r:id="R7093bfec587c4b19"/>
    <p:sldId xmlns:r="http://schemas.openxmlformats.org/officeDocument/2006/relationships" id="264" r:id="R42f8cbf058d84bae"/>
    <p:sldId xmlns:r="http://schemas.openxmlformats.org/officeDocument/2006/relationships" id="265" r:id="Ra32535bb7e26409c"/>
    <p:sldId xmlns:r="http://schemas.openxmlformats.org/officeDocument/2006/relationships" id="266" r:id="R2ad9db9725074b43"/>
    <p:sldId xmlns:r="http://schemas.openxmlformats.org/officeDocument/2006/relationships" id="267" r:id="Ra3ce60bd6b5c4750"/>
    <p:sldId xmlns:r="http://schemas.openxmlformats.org/officeDocument/2006/relationships" id="268" r:id="Rf766befff7374536"/>
    <p:sldId xmlns:r="http://schemas.openxmlformats.org/officeDocument/2006/relationships" id="269" r:id="Re015c1586f84467e"/>
    <p:sldId xmlns:r="http://schemas.openxmlformats.org/officeDocument/2006/relationships" id="270" r:id="R51295d67a3ec4764"/>
    <p:sldId xmlns:r="http://schemas.openxmlformats.org/officeDocument/2006/relationships" id="271" r:id="Ra39b0066f63147ee"/>
    <p:sldId xmlns:r="http://schemas.openxmlformats.org/officeDocument/2006/relationships" id="272" r:id="Re888c9ea35934558"/>
    <p:sldId xmlns:r="http://schemas.openxmlformats.org/officeDocument/2006/relationships" id="273" r:id="R4075aaae88a747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68f77d84414374" /><Relationship Type="http://schemas.openxmlformats.org/officeDocument/2006/relationships/slideMaster" Target="/ppt/slideMasters/slideMaster1.xml" Id="Rb164933b427c443f" /><Relationship Type="http://schemas.openxmlformats.org/officeDocument/2006/relationships/slideMaster" Target="/ppt/slideMasters/slideMaster2.xml" Id="R20430abb242d465a" /><Relationship Type="http://schemas.openxmlformats.org/officeDocument/2006/relationships/notesMaster" Target="/ppt/notesMasters/notesMaster1.xml" Id="Rff1454ad58634d7f" /><Relationship Type="http://schemas.openxmlformats.org/officeDocument/2006/relationships/presProps" Target="/ppt/presProps.xml" Id="R7711949ac72441ad" /><Relationship Type="http://schemas.openxmlformats.org/officeDocument/2006/relationships/tableStyles" Target="/ppt/tableStyles.xml" Id="R3d14e13aeac04ee2" /><Relationship Type="http://schemas.openxmlformats.org/officeDocument/2006/relationships/slide" Target="/ppt/slides/slide1.xml" Id="R3dbfff76ef98413b" /><Relationship Type="http://schemas.openxmlformats.org/officeDocument/2006/relationships/slide" Target="/ppt/slides/slide2.xml" Id="Rfe1a9f4311084b11" /><Relationship Type="http://schemas.openxmlformats.org/officeDocument/2006/relationships/slide" Target="/ppt/slides/slide3.xml" Id="R41c9c47481154070" /><Relationship Type="http://schemas.openxmlformats.org/officeDocument/2006/relationships/slide" Target="/ppt/slides/slide4.xml" Id="R7561512730db4314" /><Relationship Type="http://schemas.openxmlformats.org/officeDocument/2006/relationships/slide" Target="/ppt/slides/slide5.xml" Id="R79569057269741d5" /><Relationship Type="http://schemas.openxmlformats.org/officeDocument/2006/relationships/slide" Target="/ppt/slides/slide6.xml" Id="Rd4ef9610cfc64895" /><Relationship Type="http://schemas.openxmlformats.org/officeDocument/2006/relationships/slide" Target="/ppt/slides/slide7.xml" Id="Re3c4191a0898405d" /><Relationship Type="http://schemas.openxmlformats.org/officeDocument/2006/relationships/slide" Target="/ppt/slides/slide8.xml" Id="R7093bfec587c4b19" /><Relationship Type="http://schemas.openxmlformats.org/officeDocument/2006/relationships/slide" Target="/ppt/slides/slide9.xml" Id="R42f8cbf058d84bae" /><Relationship Type="http://schemas.openxmlformats.org/officeDocument/2006/relationships/slide" Target="/ppt/slides/slide10.xml" Id="Ra32535bb7e26409c" /><Relationship Type="http://schemas.openxmlformats.org/officeDocument/2006/relationships/slide" Target="/ppt/slides/slide11.xml" Id="R2ad9db9725074b43" /><Relationship Type="http://schemas.openxmlformats.org/officeDocument/2006/relationships/slide" Target="/ppt/slides/slide12.xml" Id="Ra3ce60bd6b5c4750" /><Relationship Type="http://schemas.openxmlformats.org/officeDocument/2006/relationships/slide" Target="/ppt/slides/slide13.xml" Id="Rf766befff7374536" /><Relationship Type="http://schemas.openxmlformats.org/officeDocument/2006/relationships/slide" Target="/ppt/slides/slide14.xml" Id="Re015c1586f84467e" /><Relationship Type="http://schemas.openxmlformats.org/officeDocument/2006/relationships/slide" Target="/ppt/slides/slide15.xml" Id="R51295d67a3ec4764" /><Relationship Type="http://schemas.openxmlformats.org/officeDocument/2006/relationships/slide" Target="/ppt/slides/slide16.xml" Id="Ra39b0066f63147ee" /><Relationship Type="http://schemas.openxmlformats.org/officeDocument/2006/relationships/slide" Target="/ppt/slides/slide17.xml" Id="Re888c9ea35934558" /><Relationship Type="http://schemas.openxmlformats.org/officeDocument/2006/relationships/slide" Target="/ppt/slides/slide18.xml" Id="R4075aaae88a747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c0ec9880ebf140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99fb134fb14072" /><Relationship Type="http://schemas.openxmlformats.org/officeDocument/2006/relationships/notesMaster" Target="/ppt/notesMasters/notesMaster1.xml" Id="Rd121fad8f78245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aca24823744b84" /><Relationship Type="http://schemas.openxmlformats.org/officeDocument/2006/relationships/notesMaster" Target="/ppt/notesMasters/notesMaster1.xml" Id="R711442df01da40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c023e8667a48f1" /><Relationship Type="http://schemas.openxmlformats.org/officeDocument/2006/relationships/notesMaster" Target="/ppt/notesMasters/notesMaster1.xml" Id="Rbd32f4a0a7ec4c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849619084240c8" /><Relationship Type="http://schemas.openxmlformats.org/officeDocument/2006/relationships/notesMaster" Target="/ppt/notesMasters/notesMaster1.xml" Id="R32b16b9964af45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b20429014c437c" /><Relationship Type="http://schemas.openxmlformats.org/officeDocument/2006/relationships/notesMaster" Target="/ppt/notesMasters/notesMaster1.xml" Id="R984ab2267d8b43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5d2557810d4f19" /><Relationship Type="http://schemas.openxmlformats.org/officeDocument/2006/relationships/notesMaster" Target="/ppt/notesMasters/notesMaster1.xml" Id="R1f7e2cf5ad2341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2477363d7d40e4" /><Relationship Type="http://schemas.openxmlformats.org/officeDocument/2006/relationships/notesMaster" Target="/ppt/notesMasters/notesMaster1.xml" Id="R6b0a3114d8be46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30ca393ed64f74" /><Relationship Type="http://schemas.openxmlformats.org/officeDocument/2006/relationships/notesMaster" Target="/ppt/notesMasters/notesMaster1.xml" Id="Rf43a8f25248245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aff46581f64870" /><Relationship Type="http://schemas.openxmlformats.org/officeDocument/2006/relationships/notesMaster" Target="/ppt/notesMasters/notesMaster1.xml" Id="Rd6853924f32445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ef3440f60846c4" /><Relationship Type="http://schemas.openxmlformats.org/officeDocument/2006/relationships/notesMaster" Target="/ppt/notesMasters/notesMaster1.xml" Id="R585f6b29bc634c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aec951b81c44e7" /><Relationship Type="http://schemas.openxmlformats.org/officeDocument/2006/relationships/notesMaster" Target="/ppt/notesMasters/notesMaster1.xml" Id="R7c17fa9d8e4d4c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60319a293c4b31" /><Relationship Type="http://schemas.openxmlformats.org/officeDocument/2006/relationships/notesMaster" Target="/ppt/notesMasters/notesMaster1.xml" Id="Rabefeebda8b0415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c622d6727d462a" /><Relationship Type="http://schemas.openxmlformats.org/officeDocument/2006/relationships/notesMaster" Target="/ppt/notesMasters/notesMaster1.xml" Id="R2898036a7ee9492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0a1f168fe924118" /><Relationship Type="http://schemas.openxmlformats.org/officeDocument/2006/relationships/notesMaster" Target="/ppt/notesMasters/notesMaster1.xml" Id="Ra3fb958ea8e745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a695b3389644b4" /><Relationship Type="http://schemas.openxmlformats.org/officeDocument/2006/relationships/notesMaster" Target="/ppt/notesMasters/notesMaster1.xml" Id="R45bb112c534640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78eede9fd64274" /><Relationship Type="http://schemas.openxmlformats.org/officeDocument/2006/relationships/notesMaster" Target="/ppt/notesMasters/notesMaster1.xml" Id="Rb569f7cf2a5c42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f8d938380ca453b" /><Relationship Type="http://schemas.openxmlformats.org/officeDocument/2006/relationships/notesMaster" Target="/ppt/notesMasters/notesMaster1.xml" Id="Ra07ca6757b9144b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1acfe29b2694b99" /><Relationship Type="http://schemas.openxmlformats.org/officeDocument/2006/relationships/notesMaster" Target="/ppt/notesMasters/notesMaster1.xml" Id="R1d199315d7c842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b1b86cd163403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7af6ea088024a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caba424fcd146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bad40fc7ade45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430737170c34b8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ffbaea9316f4ba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e8a01803db441b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d6c4e9eda61419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b4f102883e14c9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08a9bd39863427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9bc7c7ae44b499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e32f80bcee44dd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5a2e244f9cb49e0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a3d637a9b6f42f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b87a9d5fe9943d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88656d9fdb343b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0b0b9e869f9430c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dab6c2fac424d79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ecbcb231a6648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Mint · 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0C588439-E6BF-400B-AFA1-53B37568ED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封面标题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Mint · 管理层总览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287212EB-97DF-471D-AC5C-067E1CC7AA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管理层总览标题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Mint · 三层合作架构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DB24FC6E-0F3A-49D0-98E1-AB2AB1408B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三层合作架构标题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Mint · 双轨路线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5E90EF40-783A-432A-827E-68031EBE6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双轨路线图标题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Mint · 横向流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A59D9E9D-432A-4629-A834-850C28E6F3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横向流程标题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Mint · 时间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D16D2610-A155-476C-99E5-F9D92F374A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时间轴标题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>
  <p:cSld name="Mint · 角色泳道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B2E21B38-E315-4985-ACB3-6902EF746B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角色泳道标题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>
  <p:cSld name="Mint · 方案对比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002CA5DF-ABF1-442A-B38C-92773B011F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方案对比标题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>
  <p:cSld name="Mint · 二维矩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F02158CC-9E9A-43EA-AF6D-74E5A9494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二维矩阵标题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>
  <p:cSld name="Mint · KPI 与精确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B64D8E95-6412-43F3-ABDC-591CB738A3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KPI 与精确表格标题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>
  <p:cSld name="Mint · 数据图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6E6CC211-F538-40AF-90A1-005354E976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数据图表标题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>
  <p:cSld name="Mint · 风险行动 Ow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F160F547-C2DF-4076-89EC-BF8FEAE33A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风险行动 Owner标题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>
  <p:cSld name="Mint · 管理层决策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8125C7E4-B07A-4E55-89D0-3276A2E418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管理层决策标题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>
  <p:cSld name="Mint · 能力链路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0572ED7B-698D-4892-9ECC-99EAA947DE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能力链路标题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>
  <p:cSld name="Mint · 风险聚焦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EA22199D-C22A-4BC4-B656-5733E2EEAF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风险聚焦标题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>
  <p:cSld name="Mint · 资金决策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E1025233-0DC2-466E-8FA5-4F4936C896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资金决策标题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>
  <p:cSld name="Mint · 章节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8834652F-FB24-43F1-B2FE-64F84E6711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章节页标题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>
  <p:cSld name="Mint · 结尾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84C3E027-0A74-403C-AEF0-CDF84A3DCF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结尾页标题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3b45fdb8c84bb7" /><Relationship Type="http://schemas.openxmlformats.org/officeDocument/2006/relationships/slideLayout" Target="/ppt/slideLayouts/slideLayout1.xml" Id="Rf94b1099bc794870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f082c9d9ccb640ba" /><Relationship Type="http://schemas.openxmlformats.org/officeDocument/2006/relationships/slideLayout" Target="/ppt/slideLayouts/slideLayout2.xml" Id="R3f6e89b7fab246cc" /><Relationship Type="http://schemas.openxmlformats.org/officeDocument/2006/relationships/slideLayout" Target="/ppt/slideLayouts/slideLayout3.xml" Id="Rd0baa5b359eb4e27" /><Relationship Type="http://schemas.openxmlformats.org/officeDocument/2006/relationships/slideLayout" Target="/ppt/slideLayouts/slideLayout4.xml" Id="R079eba36541745ca" /><Relationship Type="http://schemas.openxmlformats.org/officeDocument/2006/relationships/slideLayout" Target="/ppt/slideLayouts/slideLayout5.xml" Id="Rd50e1108809b47fa" /><Relationship Type="http://schemas.openxmlformats.org/officeDocument/2006/relationships/slideLayout" Target="/ppt/slideLayouts/slideLayout6.xml" Id="R5d1e961149134a5c" /><Relationship Type="http://schemas.openxmlformats.org/officeDocument/2006/relationships/slideLayout" Target="/ppt/slideLayouts/slideLayout7.xml" Id="Rad2582c3554a4167" /><Relationship Type="http://schemas.openxmlformats.org/officeDocument/2006/relationships/slideLayout" Target="/ppt/slideLayouts/slideLayout8.xml" Id="Rcbf2c3a731d14290" /><Relationship Type="http://schemas.openxmlformats.org/officeDocument/2006/relationships/slideLayout" Target="/ppt/slideLayouts/slideLayout9.xml" Id="Rabaada37e9f04de9" /><Relationship Type="http://schemas.openxmlformats.org/officeDocument/2006/relationships/slideLayout" Target="/ppt/slideLayouts/slideLayout10.xml" Id="R9f3df0090a794a33" /><Relationship Type="http://schemas.openxmlformats.org/officeDocument/2006/relationships/slideLayout" Target="/ppt/slideLayouts/slideLayout11.xml" Id="R6d13b13aa77349d6" /><Relationship Type="http://schemas.openxmlformats.org/officeDocument/2006/relationships/slideLayout" Target="/ppt/slideLayouts/slideLayout12.xml" Id="R3ee6b822089f44f9" /><Relationship Type="http://schemas.openxmlformats.org/officeDocument/2006/relationships/slideLayout" Target="/ppt/slideLayouts/slideLayout13.xml" Id="R830b39c4f0344c16" /><Relationship Type="http://schemas.openxmlformats.org/officeDocument/2006/relationships/slideLayout" Target="/ppt/slideLayouts/slideLayout14.xml" Id="Rd71acfe0a2d4419d" /><Relationship Type="http://schemas.openxmlformats.org/officeDocument/2006/relationships/slideLayout" Target="/ppt/slideLayouts/slideLayout15.xml" Id="R5f476d1be0a04024" /><Relationship Type="http://schemas.openxmlformats.org/officeDocument/2006/relationships/slideLayout" Target="/ppt/slideLayouts/slideLayout16.xml" Id="R023a2c1dbe364642" /><Relationship Type="http://schemas.openxmlformats.org/officeDocument/2006/relationships/slideLayout" Target="/ppt/slideLayouts/slideLayout17.xml" Id="Ra1764a903ccc4ecd" /><Relationship Type="http://schemas.openxmlformats.org/officeDocument/2006/relationships/slideLayout" Target="/ppt/slideLayouts/slideLayout18.xml" Id="R9d4125e3a50444ca" /><Relationship Type="http://schemas.openxmlformats.org/officeDocument/2006/relationships/slideLayout" Target="/ppt/slideLayouts/slideLayout19.xml" Id="R7809815c1cd94b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4b1099bc7948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int Formal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3f6e89b7fab246cc"/>
    <p:sldLayoutId xmlns:r="http://schemas.openxmlformats.org/officeDocument/2006/relationships" id="2147483652" r:id="Rd0baa5b359eb4e27"/>
    <p:sldLayoutId xmlns:r="http://schemas.openxmlformats.org/officeDocument/2006/relationships" id="2147483653" r:id="R079eba36541745ca"/>
    <p:sldLayoutId xmlns:r="http://schemas.openxmlformats.org/officeDocument/2006/relationships" id="2147483654" r:id="Rd50e1108809b47fa"/>
    <p:sldLayoutId xmlns:r="http://schemas.openxmlformats.org/officeDocument/2006/relationships" id="2147483655" r:id="R5d1e961149134a5c"/>
    <p:sldLayoutId xmlns:r="http://schemas.openxmlformats.org/officeDocument/2006/relationships" id="2147483656" r:id="Rad2582c3554a4167"/>
    <p:sldLayoutId xmlns:r="http://schemas.openxmlformats.org/officeDocument/2006/relationships" id="2147483657" r:id="Rcbf2c3a731d14290"/>
    <p:sldLayoutId xmlns:r="http://schemas.openxmlformats.org/officeDocument/2006/relationships" id="2147483658" r:id="Rabaada37e9f04de9"/>
    <p:sldLayoutId xmlns:r="http://schemas.openxmlformats.org/officeDocument/2006/relationships" id="2147483659" r:id="R9f3df0090a794a33"/>
    <p:sldLayoutId xmlns:r="http://schemas.openxmlformats.org/officeDocument/2006/relationships" id="2147483660" r:id="R6d13b13aa77349d6"/>
    <p:sldLayoutId xmlns:r="http://schemas.openxmlformats.org/officeDocument/2006/relationships" id="2147483661" r:id="R3ee6b822089f44f9"/>
    <p:sldLayoutId xmlns:r="http://schemas.openxmlformats.org/officeDocument/2006/relationships" id="2147483662" r:id="R830b39c4f0344c16"/>
    <p:sldLayoutId xmlns:r="http://schemas.openxmlformats.org/officeDocument/2006/relationships" id="2147483663" r:id="Rd71acfe0a2d4419d"/>
    <p:sldLayoutId xmlns:r="http://schemas.openxmlformats.org/officeDocument/2006/relationships" id="2147483664" r:id="R5f476d1be0a04024"/>
    <p:sldLayoutId xmlns:r="http://schemas.openxmlformats.org/officeDocument/2006/relationships" id="2147483665" r:id="R023a2c1dbe364642"/>
    <p:sldLayoutId xmlns:r="http://schemas.openxmlformats.org/officeDocument/2006/relationships" id="2147483666" r:id="Ra1764a903ccc4ecd"/>
    <p:sldLayoutId xmlns:r="http://schemas.openxmlformats.org/officeDocument/2006/relationships" id="2147483667" r:id="R9d4125e3a50444ca"/>
    <p:sldLayoutId xmlns:r="http://schemas.openxmlformats.org/officeDocument/2006/relationships" id="2147483668" r:id="R7809815c1cd94b14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aeaa747849415d" /><Relationship Type="http://schemas.openxmlformats.org/officeDocument/2006/relationships/notesSlide" Target="/ppt/notesSlides/notesSlide1.xml" Id="R58058e118e6a45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84721012d4421a" /><Relationship Type="http://schemas.openxmlformats.org/officeDocument/2006/relationships/notesSlide" Target="/ppt/notesSlides/notesSlide2.xml" Id="R7e78d5851f514c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53d06a9d52f4036" /><Relationship Type="http://schemas.openxmlformats.org/officeDocument/2006/relationships/notesSlide" Target="/ppt/notesSlides/notesSlide3.xml" Id="Ra6f08bbc3fbd45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63bd78840de4ead" /><Relationship Type="http://schemas.openxmlformats.org/officeDocument/2006/relationships/notesSlide" Target="/ppt/notesSlides/notesSlide4.xml" Id="Rbd0bce716d0a4a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235c6f9cc64f16" /><Relationship Type="http://schemas.openxmlformats.org/officeDocument/2006/relationships/notesSlide" Target="/ppt/notesSlides/notesSlide5.xml" Id="Re800693ff2cb49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990c3b15a74b07" /><Relationship Type="http://schemas.openxmlformats.org/officeDocument/2006/relationships/notesSlide" Target="/ppt/notesSlides/notesSlide6.xml" Id="R1047e8c70d5f49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9c2fc2bee144919" /><Relationship Type="http://schemas.openxmlformats.org/officeDocument/2006/relationships/notesSlide" Target="/ppt/notesSlides/notesSlide7.xml" Id="R8e46f5725a7f43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2b6310c399244889" /><Relationship Type="http://schemas.openxmlformats.org/officeDocument/2006/relationships/notesSlide" Target="/ppt/notesSlides/notesSlide8.xml" Id="R6406592130b346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79fcf347d1174493" /><Relationship Type="http://schemas.openxmlformats.org/officeDocument/2006/relationships/notesSlide" Target="/ppt/notesSlides/notesSlide9.xml" Id="Raef1ddf8cdc640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c2c0506c6fe4f53" /><Relationship Type="http://schemas.openxmlformats.org/officeDocument/2006/relationships/notesSlide" Target="/ppt/notesSlides/notesSlide10.xml" Id="Rf010ad4cf7434e9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ed02199959d4a33" /><Relationship Type="http://schemas.openxmlformats.org/officeDocument/2006/relationships/chart" Target="/ppt/slides/charts/chart1.xml" Id="R6c2bb07c54104123" /><Relationship Type="http://schemas.openxmlformats.org/officeDocument/2006/relationships/chart" Target="/ppt/slides/charts/chart2.xml" Id="R3d476b33a8e3445b" /><Relationship Type="http://schemas.openxmlformats.org/officeDocument/2006/relationships/notesSlide" Target="/ppt/notesSlides/notesSlide11.xml" Id="Ra97f5765318546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bbb7119a3c1a48ba" /><Relationship Type="http://schemas.openxmlformats.org/officeDocument/2006/relationships/notesSlide" Target="/ppt/notesSlides/notesSlide12.xml" Id="Rcac82445030f41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5903703543434a3f" /><Relationship Type="http://schemas.openxmlformats.org/officeDocument/2006/relationships/notesSlide" Target="/ppt/notesSlides/notesSlide13.xml" Id="R498ecf1623bb4f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1942e584adb04990" /><Relationship Type="http://schemas.openxmlformats.org/officeDocument/2006/relationships/notesSlide" Target="/ppt/notesSlides/notesSlide14.xml" Id="R7c3a240423694ce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020e28e6ac7448d1" /><Relationship Type="http://schemas.openxmlformats.org/officeDocument/2006/relationships/notesSlide" Target="/ppt/notesSlides/notesSlide15.xml" Id="R1afd7eee47fe45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062cf4d2a0649c2" /><Relationship Type="http://schemas.openxmlformats.org/officeDocument/2006/relationships/notesSlide" Target="/ppt/notesSlides/notesSlide16.xml" Id="Rf5d848fe303949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a89bee0b8183482d" /><Relationship Type="http://schemas.openxmlformats.org/officeDocument/2006/relationships/notesSlide" Target="/ppt/notesSlides/notesSlide17.xml" Id="R18fe5336fbe84a2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578f7a8ac3884361" /><Relationship Type="http://schemas.openxmlformats.org/officeDocument/2006/relationships/notesSlide" Target="/ppt/notesSlides/notesSlide18.xml" Id="R8deb06ce13684c2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本期</c:v>
          </c:tx>
          <c:spPr>
            <a:solidFill xmlns:a="http://schemas.openxmlformats.org/drawingml/2006/main">
              <a:srgbClr val="1C7866"/>
            </a:solidFill>
          </c:spPr>
          <c:cat>
            <c:strLit>
              <c:ptCount val="4"/>
              <c:pt idx="0">
                <c:v>类别 A</c:v>
              </c:pt>
              <c:pt idx="1">
                <c:v>类别 B</c:v>
              </c:pt>
              <c:pt idx="2">
                <c:v>类别 C</c:v>
              </c:pt>
              <c:pt idx="3">
                <c:v>类别 D</c:v>
              </c:pt>
            </c:strLit>
          </c:cat>
          <c:val>
            <c:numLit>
              <c:formatCode>General</c:formatCode>
              <c:ptCount val="4"/>
              <c:pt idx="0">
                <c:v>42</c:v>
              </c:pt>
              <c:pt idx="1">
                <c:v>58</c:v>
              </c:pt>
              <c:pt idx="2">
                <c:v>73</c:v>
              </c:pt>
              <c:pt idx="3">
                <c:v>65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3C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实际</c:v>
          </c:tx>
          <c:spPr>
            <a:ln xmlns:a="http://schemas.openxmlformats.org/drawingml/2006/main" w="28575">
              <a:solidFill>
                <a:srgbClr val="547E89"/>
              </a:solidFill>
            </a:ln>
          </c:spPr>
          <c:marker>
            <c:symbol val="none"/>
          </c:marker>
          <c:cat>
            <c:strLit>
              <c:ptCount val="5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</c:strLit>
          </c:cat>
          <c:val>
            <c:numLit>
              <c:formatCode>General</c:formatCode>
              <c:ptCount val="5"/>
              <c:pt idx="0">
                <c:v>35</c:v>
              </c:pt>
              <c:pt idx="1">
                <c:v>42</c:v>
              </c:pt>
              <c:pt idx="2">
                <c:v>48</c:v>
              </c:pt>
              <c:pt idx="3">
                <c:v>57</c:v>
              </c:pt>
              <c:pt idx="4">
                <c:v>63</c:v>
              </c:pt>
            </c:numLit>
          </c:val>
        </c:ser>
        <c:ser>
          <c:idx val="1"/>
          <c:order val="1"/>
          <c:tx>
            <c:v>目标</c:v>
          </c:tx>
          <c:spPr>
            <a:ln xmlns:a="http://schemas.openxmlformats.org/drawingml/2006/main" w="19050">
              <a:solidFill>
                <a:srgbClr val="BC794D"/>
              </a:solidFill>
            </a:ln>
          </c:spPr>
          <c:marker>
            <c:symbol val="none"/>
          </c:marker>
          <c:cat>
            <c:strLit>
              <c:ptCount val="5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44</c:v>
              </c:pt>
              <c:pt idx="2">
                <c:v>50</c:v>
              </c:pt>
              <c:pt idx="3">
                <c:v>56</c:v>
              </c:pt>
              <c:pt idx="4">
                <c:v>62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3C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45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light-panel">
            <a:extLst xmlns:a="http://schemas.openxmlformats.org/drawingml/2006/main">
              <a:ext uri="{FF2B5EF4-FFF2-40B4-BE49-F238E27FC236}">
                <a16:creationId xmlns:a16="http://schemas.microsoft.com/office/drawing/2014/main" id="{4FB8E102-1F2B-45BC-9F00-7CBA6199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5360180-D474-4C92-9ED2-F9A1F2FB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CDB2"/>
                </a:solidFill>
              </a:defRPr>
            </a:pPr>
            <a:r>
              <a:rPr sz="975" b="1">
                <a:solidFill>
                  <a:srgbClr val="8CCDB2"/>
                </a:solidFill>
              </a:rPr>
              <a:t>MINT · REPORT SYSTEM V0.3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E69F5C0-B87A-42D0-86AA-AF81F752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DF8"/>
                </a:solidFill>
              </a:defRPr>
            </a:pPr>
            <a:r>
              <a:rPr sz="3150" b="1">
                <a:solidFill>
                  <a:srgbClr val="FFFDF8"/>
                </a:solidFill>
              </a:rPr>
              <a:t>Mint 汇报组件母版库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218BF75-F1C8-42D7-AE5C-3087F3D6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ECE5"/>
                </a:solidFill>
              </a:defRPr>
            </a:pPr>
            <a:r>
              <a:rPr sz="1500" b="0">
                <a:solidFill>
                  <a:srgbClr val="DCECE5"/>
                </a:solidFill>
              </a:rPr>
              <a:t>从事实和逻辑出发，生成可编辑 PPTX 与互动 HTML</a:t>
            </a:r>
          </a:p>
        </p:txBody>
      </p:sp>
      <p:sp>
        <p:nvSpPr>
          <p:cNvPr id="5" name="rule-70-585">
            <a:extLst xmlns:a="http://schemas.openxmlformats.org/drawingml/2006/main">
              <a:ext uri="{FF2B5EF4-FFF2-40B4-BE49-F238E27FC236}">
                <a16:creationId xmlns:a16="http://schemas.microsoft.com/office/drawing/2014/main" id="{7CA54C70-1C5A-45AB-B4CD-59947125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6B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6130EB8A-44E2-458B-BC9E-9CDE49B8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6262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CCDB2"/>
                </a:solidFill>
              </a:defRPr>
            </a:pPr>
            <a:r>
              <a:rPr sz="900" b="1">
                <a:solidFill>
                  <a:srgbClr val="8CCDB2"/>
                </a:solidFill>
              </a:rPr>
              <a:t>16:9  ·  中文管理层材料  ·  2026.08</a:t>
            </a:r>
          </a:p>
        </p:txBody>
      </p:sp>
      <p:sp>
        <p:nvSpPr>
          <p:cNvPr id="7" name="arc-0">
            <a:extLst xmlns:a="http://schemas.openxmlformats.org/drawingml/2006/main">
              <a:ext uri="{FF2B5EF4-FFF2-40B4-BE49-F238E27FC236}">
                <a16:creationId xmlns:a16="http://schemas.microsoft.com/office/drawing/2014/main" id="{DFA736AF-992C-4DE0-BFD1-2E99506D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CCDB2"/>
            </a:solidFill>
            <a:prstDash val="solid"/>
          </a:ln>
        </p:spPr>
      </p:sp>
      <p:sp>
        <p:nvSpPr>
          <p:cNvPr id="8" name="arc-1">
            <a:extLst xmlns:a="http://schemas.openxmlformats.org/drawingml/2006/main">
              <a:ext uri="{FF2B5EF4-FFF2-40B4-BE49-F238E27FC236}">
                <a16:creationId xmlns:a16="http://schemas.microsoft.com/office/drawing/2014/main" id="{CE9C025A-A788-48C8-9B7E-CCA7518F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85950"/>
            <a:ext cx="2686050" cy="2686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9" name="arc-2">
            <a:extLst xmlns:a="http://schemas.openxmlformats.org/drawingml/2006/main">
              <a:ext uri="{FF2B5EF4-FFF2-40B4-BE49-F238E27FC236}">
                <a16:creationId xmlns:a16="http://schemas.microsoft.com/office/drawing/2014/main" id="{75DE574B-F742-44D8-9B6C-E1F74E89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43150"/>
            <a:ext cx="2514600" cy="2514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47E89"/>
            </a:solidFill>
            <a:prstDash val="solid"/>
          </a:ln>
        </p:spPr>
      </p:sp>
      <p:sp>
        <p:nvSpPr>
          <p:cNvPr id="10" name="arc-3">
            <a:extLst xmlns:a="http://schemas.openxmlformats.org/drawingml/2006/main">
              <a:ext uri="{FF2B5EF4-FFF2-40B4-BE49-F238E27FC236}">
                <a16:creationId xmlns:a16="http://schemas.microsoft.com/office/drawing/2014/main" id="{CB93A2AC-262A-4F42-B73A-E5C8BD3E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0035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ver-mark">
            <a:extLst xmlns:a="http://schemas.openxmlformats.org/drawingml/2006/main">
              <a:ext uri="{FF2B5EF4-FFF2-40B4-BE49-F238E27FC236}">
                <a16:creationId xmlns:a16="http://schemas.microsoft.com/office/drawing/2014/main" id="{7BE6E6A9-F717-4B51-BB40-7C67E4FC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133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FFFDF8"/>
                </a:solidFill>
              </a:defRPr>
            </a:pPr>
            <a:r>
              <a:rPr sz="4500" b="1">
                <a:solidFill>
                  <a:srgbClr val="FFFDF8"/>
                </a:solidFill>
              </a:rPr>
              <a:t>M</a:t>
            </a:r>
          </a:p>
        </p:txBody>
      </p:sp>
      <p:sp>
        <p:nvSpPr>
          <p:cNvPr id="1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A5337B93-ADDE-4706-9129-69F76513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2388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42B879"/>
                </a:solidFill>
              </a:defRPr>
            </a:pPr>
            <a:r>
              <a:rPr sz="1350" b="1">
                <a:solidFill>
                  <a:srgbClr val="42B879"/>
                </a:solidFill>
              </a:rPr>
              <a:t>mint</a:t>
            </a:r>
          </a:p>
        </p:txBody>
      </p:sp>
    </p:spTree>
    <p:extLst>
      <p:ext uri="{BB962C8B-B14F-4D97-AF65-F5344CB8AC3E}">
        <p14:creationId xmlns:p14="http://schemas.microsoft.com/office/powerpoint/2010/main" val="9996007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ule-60-45">
            <a:extLst xmlns:a="http://schemas.openxmlformats.org/drawingml/2006/main">
              <a:ext uri="{FF2B5EF4-FFF2-40B4-BE49-F238E27FC236}">
                <a16:creationId xmlns:a16="http://schemas.microsoft.com/office/drawing/2014/main" id="{1C1F0F96-6B7B-4857-B2C3-9B0B0B83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DFCD6311-071B-4F45-AE3E-A6998801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B0D09D80-75A4-4CDC-8CD6-244E2B92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管理层总览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C58A04-2CDA-4252-860A-40F8AAB2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02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85752627-6958-419D-857D-BBE7EB21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C3536ABF-C026-42AA-A570-A94460D8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90EA2B7F-593F-47D4-8C83-07A09425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7C0A191-453A-4886-BEC5-C9819DB7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02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B4A2C5FF-CCAF-4313-9A14-1CE03BFC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一个页面回答：判断、证据、风险与行动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8BD8B389-A23A-4375-9C48-C8FB27B2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用于复杂材料的管理层首屏，不把内容拆成低密度卡片。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79052089-700E-4F3C-9935-CD70B5AC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762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88-210">
            <a:extLst xmlns:a="http://schemas.openxmlformats.org/drawingml/2006/main">
              <a:ext uri="{FF2B5EF4-FFF2-40B4-BE49-F238E27FC236}">
                <a16:creationId xmlns:a16="http://schemas.microsoft.com/office/drawing/2014/main" id="{D9E08A99-A608-4CEB-9D4D-2645003B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CDB2"/>
                </a:solidFill>
              </a:defRPr>
            </a:pPr>
            <a:r>
              <a:rPr sz="750" b="1">
                <a:solidFill>
                  <a:srgbClr val="8CCDB2"/>
                </a:solidFill>
              </a:rPr>
              <a:t>核心判断</a:t>
            </a:r>
          </a:p>
        </p:txBody>
      </p:sp>
      <p:sp>
        <p:nvSpPr>
          <p:cNvPr id="13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EB3FA0EF-48A5-4449-8699-D2BFA14F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DF8"/>
                </a:solidFill>
              </a:defRPr>
            </a:pPr>
            <a:r>
              <a:rPr sz="2025" b="1">
                <a:solidFill>
                  <a:srgbClr val="FFFDF8"/>
                </a:solidFill>
              </a:rPr>
              <a:t>在事实边界内形成一条可推动决策的管理层判断</a:t>
            </a:r>
          </a:p>
        </p:txBody>
      </p:sp>
      <p:sp>
        <p:nvSpPr>
          <p:cNvPr id="14" name="evidence-bg">
            <a:extLst xmlns:a="http://schemas.openxmlformats.org/drawingml/2006/main">
              <a:ext uri="{FF2B5EF4-FFF2-40B4-BE49-F238E27FC236}">
                <a16:creationId xmlns:a16="http://schemas.microsoft.com/office/drawing/2014/main" id="{00C3239B-AE34-4590-A87F-B1FFEA25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2857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5" name="evidence-accent">
            <a:extLst xmlns:a="http://schemas.openxmlformats.org/drawingml/2006/main">
              <a:ext uri="{FF2B5EF4-FFF2-40B4-BE49-F238E27FC236}">
                <a16:creationId xmlns:a16="http://schemas.microsoft.com/office/drawing/2014/main" id="{802E9842-C2FD-43FE-948A-80792181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476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AF73E255-3E87-471A-970C-F304A4AE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621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证据</a:t>
            </a:r>
          </a:p>
        </p:txBody>
      </p:sp>
      <p:sp>
        <p:nvSpPr>
          <p:cNvPr id="17" name="evidence-detail">
            <a:extLst xmlns:a="http://schemas.openxmlformats.org/drawingml/2006/main">
              <a:ext uri="{FF2B5EF4-FFF2-40B4-BE49-F238E27FC236}">
                <a16:creationId xmlns:a16="http://schemas.microsoft.com/office/drawing/2014/main" id="{E5DA6C5B-6A31-4A06-9F7F-8D03BD07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24100"/>
            <a:ext cx="243840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列出支撑判断的事实、数字与来源，不混入假设。</a:t>
            </a:r>
          </a:p>
        </p:txBody>
      </p:sp>
      <p:sp>
        <p:nvSpPr>
          <p:cNvPr id="18" name="risk-bg">
            <a:extLst xmlns:a="http://schemas.openxmlformats.org/drawingml/2006/main">
              <a:ext uri="{FF2B5EF4-FFF2-40B4-BE49-F238E27FC236}">
                <a16:creationId xmlns:a16="http://schemas.microsoft.com/office/drawing/2014/main" id="{2C03A23C-6765-4835-B3A2-56ECDE8B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857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9" name="risk-accent">
            <a:extLst xmlns:a="http://schemas.openxmlformats.org/drawingml/2006/main">
              <a:ext uri="{FF2B5EF4-FFF2-40B4-BE49-F238E27FC236}">
                <a16:creationId xmlns:a16="http://schemas.microsoft.com/office/drawing/2014/main" id="{FDA29901-D20B-45CC-86C2-D8B441DD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476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isk-title">
            <a:extLst xmlns:a="http://schemas.openxmlformats.org/drawingml/2006/main">
              <a:ext uri="{FF2B5EF4-FFF2-40B4-BE49-F238E27FC236}">
                <a16:creationId xmlns:a16="http://schemas.microsoft.com/office/drawing/2014/main" id="{0F79D5C6-986C-48D6-9356-FD727462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621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风险</a:t>
            </a:r>
          </a:p>
        </p:txBody>
      </p:sp>
      <p:sp>
        <p:nvSpPr>
          <p:cNvPr id="21" name="risk-detail">
            <a:extLst xmlns:a="http://schemas.openxmlformats.org/drawingml/2006/main">
              <a:ext uri="{FF2B5EF4-FFF2-40B4-BE49-F238E27FC236}">
                <a16:creationId xmlns:a16="http://schemas.microsoft.com/office/drawing/2014/main" id="{20587FC8-EAC4-4015-941F-D1521EFF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24100"/>
            <a:ext cx="243840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只显示需要管理层看见的限制和影响。</a:t>
            </a:r>
          </a:p>
        </p:txBody>
      </p:sp>
      <p:sp>
        <p:nvSpPr>
          <p:cNvPr id="22" name="action-bg">
            <a:extLst xmlns:a="http://schemas.openxmlformats.org/drawingml/2006/main">
              <a:ext uri="{FF2B5EF4-FFF2-40B4-BE49-F238E27FC236}">
                <a16:creationId xmlns:a16="http://schemas.microsoft.com/office/drawing/2014/main" id="{7BCC0DBD-D5E3-4C4B-A6E1-74EB819E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1104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3" name="action-accent">
            <a:extLst xmlns:a="http://schemas.openxmlformats.org/drawingml/2006/main">
              <a:ext uri="{FF2B5EF4-FFF2-40B4-BE49-F238E27FC236}">
                <a16:creationId xmlns:a16="http://schemas.microsoft.com/office/drawing/2014/main" id="{22A88391-5B83-4398-A411-837F7A91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3D016D16-2F31-42E4-A801-CB854951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002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下一步行动</a:t>
            </a:r>
          </a:p>
        </p:txBody>
      </p:sp>
      <p:sp>
        <p:nvSpPr>
          <p:cNvPr id="25" name="action-detail">
            <a:extLst xmlns:a="http://schemas.openxmlformats.org/drawingml/2006/main">
              <a:ext uri="{FF2B5EF4-FFF2-40B4-BE49-F238E27FC236}">
                <a16:creationId xmlns:a16="http://schemas.microsoft.com/office/drawing/2014/main" id="{11760892-E2E1-41BC-BF05-C28BF96C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71975"/>
            <a:ext cx="1062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动作一：明确 Owner 与时间    ·    动作二：补齐关键证据    ·    动作三：形成可验证交付</a:t>
            </a:r>
          </a:p>
        </p:txBody>
      </p:sp>
    </p:spTree>
    <p:extLst>
      <p:ext uri="{BB962C8B-B14F-4D97-AF65-F5344CB8AC3E}">
        <p14:creationId xmlns:p14="http://schemas.microsoft.com/office/powerpoint/2010/main" val="896505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rule-60-45">
            <a:extLst xmlns:a="http://schemas.openxmlformats.org/drawingml/2006/main">
              <a:ext uri="{FF2B5EF4-FFF2-40B4-BE49-F238E27FC236}">
                <a16:creationId xmlns:a16="http://schemas.microsoft.com/office/drawing/2014/main" id="{5D0C7CC3-61AE-4285-A024-B78C6C56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F2B009C9-66BA-46C0-A884-E527FC52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F25AF7A7-0C71-4422-AAED-E40E2128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合作架构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F6C286-64EF-433F-A817-6BE321CA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03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1BC31A68-24CA-49E4-BDE5-2C9DD9C9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654D330B-711B-429F-B3BF-73C7DA57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0784A574-1986-4735-954D-57E03385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602B71F-2B63-4C1B-B8FB-FDCDE0DB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03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BF2E353-E36B-4B90-BD79-B1FE154A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合作由客户入口、能力协同与银行承接三层组成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BA55713A-6340-45DA-B72A-326F83C7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只展示来源提供的主体和关系，不为填版式补写产出。</a:t>
            </a:r>
          </a:p>
        </p:txBody>
      </p:sp>
      <p:sp>
        <p:nvSpPr>
          <p:cNvPr id="11" name="layer-0">
            <a:extLst xmlns:a="http://schemas.openxmlformats.org/drawingml/2006/main">
              <a:ext uri="{FF2B5EF4-FFF2-40B4-BE49-F238E27FC236}">
                <a16:creationId xmlns:a16="http://schemas.microsoft.com/office/drawing/2014/main" id="{AA1CDE80-3785-42D2-9739-FE598222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11049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layer-accent-0">
            <a:extLst xmlns:a="http://schemas.openxmlformats.org/drawingml/2006/main">
              <a:ext uri="{FF2B5EF4-FFF2-40B4-BE49-F238E27FC236}">
                <a16:creationId xmlns:a16="http://schemas.microsoft.com/office/drawing/2014/main" id="{AC2A6FB7-7656-4A31-A56D-AAA1547E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yer-no-0">
            <a:extLst xmlns:a="http://schemas.openxmlformats.org/drawingml/2006/main">
              <a:ext uri="{FF2B5EF4-FFF2-40B4-BE49-F238E27FC236}">
                <a16:creationId xmlns:a16="http://schemas.microsoft.com/office/drawing/2014/main" id="{C9F0C5C5-BEE7-46D4-85ED-1574B15F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288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4" name="layer-name-0">
            <a:extLst xmlns:a="http://schemas.openxmlformats.org/drawingml/2006/main">
              <a:ext uri="{FF2B5EF4-FFF2-40B4-BE49-F238E27FC236}">
                <a16:creationId xmlns:a16="http://schemas.microsoft.com/office/drawing/2014/main" id="{9E971550-8D97-43ED-A193-67D5ACBB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00250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前台</a:t>
            </a:r>
          </a:p>
        </p:txBody>
      </p:sp>
      <p:sp>
        <p:nvSpPr>
          <p:cNvPr id="15" name="layer-role-0">
            <a:extLst xmlns:a="http://schemas.openxmlformats.org/drawingml/2006/main">
              <a:ext uri="{FF2B5EF4-FFF2-40B4-BE49-F238E27FC236}">
                <a16:creationId xmlns:a16="http://schemas.microsoft.com/office/drawing/2014/main" id="{523E837D-901D-446E-AF3D-54041ADF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客户入口</a:t>
            </a:r>
          </a:p>
        </p:txBody>
      </p:sp>
      <p:sp>
        <p:nvSpPr>
          <p:cNvPr id="16" name="entity-a-0-bg">
            <a:extLst xmlns:a="http://schemas.openxmlformats.org/drawingml/2006/main">
              <a:ext uri="{FF2B5EF4-FFF2-40B4-BE49-F238E27FC236}">
                <a16:creationId xmlns:a16="http://schemas.microsoft.com/office/drawing/2014/main" id="{90076E4E-4EB7-44F0-B61F-CC9058A6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9775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entity-a-0-accent">
            <a:extLst xmlns:a="http://schemas.openxmlformats.org/drawingml/2006/main">
              <a:ext uri="{FF2B5EF4-FFF2-40B4-BE49-F238E27FC236}">
                <a16:creationId xmlns:a16="http://schemas.microsoft.com/office/drawing/2014/main" id="{F34363EA-52C5-44B1-8EAA-69293D91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977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ntity-a-0-title">
            <a:extLst xmlns:a="http://schemas.openxmlformats.org/drawingml/2006/main">
              <a:ext uri="{FF2B5EF4-FFF2-40B4-BE49-F238E27FC236}">
                <a16:creationId xmlns:a16="http://schemas.microsoft.com/office/drawing/2014/main" id="{185DB473-FD56-4C48-B23B-4E481221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62175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M-PESA</a:t>
            </a:r>
          </a:p>
        </p:txBody>
      </p:sp>
      <p:sp>
        <p:nvSpPr>
          <p:cNvPr id="19" name="entity-a-0-detail">
            <a:extLst xmlns:a="http://schemas.openxmlformats.org/drawingml/2006/main">
              <a:ext uri="{FF2B5EF4-FFF2-40B4-BE49-F238E27FC236}">
                <a16:creationId xmlns:a16="http://schemas.microsoft.com/office/drawing/2014/main" id="{2F04F965-3451-456B-9001-0C0D1F18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24125"/>
            <a:ext cx="3390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移动支付入口</a:t>
            </a:r>
          </a:p>
        </p:txBody>
      </p:sp>
      <p:sp>
        <p:nvSpPr>
          <p:cNvPr id="20" name="entity-b-0-bg">
            <a:extLst xmlns:a="http://schemas.openxmlformats.org/drawingml/2006/main">
              <a:ext uri="{FF2B5EF4-FFF2-40B4-BE49-F238E27FC236}">
                <a16:creationId xmlns:a16="http://schemas.microsoft.com/office/drawing/2014/main" id="{573267DD-6ACA-430F-B41A-0701B515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09775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1" name="entity-b-0-accent">
            <a:extLst xmlns:a="http://schemas.openxmlformats.org/drawingml/2006/main">
              <a:ext uri="{FF2B5EF4-FFF2-40B4-BE49-F238E27FC236}">
                <a16:creationId xmlns:a16="http://schemas.microsoft.com/office/drawing/2014/main" id="{517D2BF1-1B2A-4C6D-8118-04BCA650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0977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ntity-b-0-title">
            <a:extLst xmlns:a="http://schemas.openxmlformats.org/drawingml/2006/main">
              <a:ext uri="{FF2B5EF4-FFF2-40B4-BE49-F238E27FC236}">
                <a16:creationId xmlns:a16="http://schemas.microsoft.com/office/drawing/2014/main" id="{E429A058-458E-43A0-82D0-7E320192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62175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Mint APP</a:t>
            </a:r>
          </a:p>
        </p:txBody>
      </p:sp>
      <p:sp>
        <p:nvSpPr>
          <p:cNvPr id="23" name="entity-b-0-detail">
            <a:extLst xmlns:a="http://schemas.openxmlformats.org/drawingml/2006/main">
              <a:ext uri="{FF2B5EF4-FFF2-40B4-BE49-F238E27FC236}">
                <a16:creationId xmlns:a16="http://schemas.microsoft.com/office/drawing/2014/main" id="{12AB9973-52C8-47EF-85D8-F3D88FA5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24125"/>
            <a:ext cx="3867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Mint 用户入口</a:t>
            </a:r>
          </a:p>
        </p:txBody>
      </p:sp>
      <p:sp>
        <p:nvSpPr>
          <p:cNvPr id="24" name="layer-1">
            <a:extLst xmlns:a="http://schemas.openxmlformats.org/drawingml/2006/main">
              <a:ext uri="{FF2B5EF4-FFF2-40B4-BE49-F238E27FC236}">
                <a16:creationId xmlns:a16="http://schemas.microsoft.com/office/drawing/2014/main" id="{53AE9DA8-1F88-4D4C-9F17-52416729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5" name="layer-accent-1">
            <a:extLst xmlns:a="http://schemas.openxmlformats.org/drawingml/2006/main">
              <a:ext uri="{FF2B5EF4-FFF2-40B4-BE49-F238E27FC236}">
                <a16:creationId xmlns:a16="http://schemas.microsoft.com/office/drawing/2014/main" id="{520D909F-3C42-40B0-8A2C-70011DD1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layer-no-1">
            <a:extLst xmlns:a="http://schemas.openxmlformats.org/drawingml/2006/main">
              <a:ext uri="{FF2B5EF4-FFF2-40B4-BE49-F238E27FC236}">
                <a16:creationId xmlns:a16="http://schemas.microsoft.com/office/drawing/2014/main" id="{98283908-5581-4D8C-9687-DD0F3BB7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02</a:t>
            </a:r>
          </a:p>
        </p:txBody>
      </p:sp>
      <p:sp>
        <p:nvSpPr>
          <p:cNvPr id="27" name="layer-name-1">
            <a:extLst xmlns:a="http://schemas.openxmlformats.org/drawingml/2006/main">
              <a:ext uri="{FF2B5EF4-FFF2-40B4-BE49-F238E27FC236}">
                <a16:creationId xmlns:a16="http://schemas.microsoft.com/office/drawing/2014/main" id="{3512EBD1-0C23-44D2-BB90-0ED0AD9D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6707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中台</a:t>
            </a:r>
          </a:p>
        </p:txBody>
      </p:sp>
      <p:sp>
        <p:nvSpPr>
          <p:cNvPr id="28" name="layer-role-1">
            <a:extLst xmlns:a="http://schemas.openxmlformats.org/drawingml/2006/main">
              <a:ext uri="{FF2B5EF4-FFF2-40B4-BE49-F238E27FC236}">
                <a16:creationId xmlns:a16="http://schemas.microsoft.com/office/drawing/2014/main" id="{65165FD9-4209-4181-8FF1-916E7DA8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480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流量与风险能力</a:t>
            </a:r>
          </a:p>
        </p:txBody>
      </p:sp>
      <p:sp>
        <p:nvSpPr>
          <p:cNvPr id="29" name="entity-a-1-bg">
            <a:extLst xmlns:a="http://schemas.openxmlformats.org/drawingml/2006/main">
              <a:ext uri="{FF2B5EF4-FFF2-40B4-BE49-F238E27FC236}">
                <a16:creationId xmlns:a16="http://schemas.microsoft.com/office/drawing/2014/main" id="{95E012EA-80FA-4511-98F4-6258F3B4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7660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entity-a-1-accent">
            <a:extLst xmlns:a="http://schemas.openxmlformats.org/drawingml/2006/main">
              <a:ext uri="{FF2B5EF4-FFF2-40B4-BE49-F238E27FC236}">
                <a16:creationId xmlns:a16="http://schemas.microsoft.com/office/drawing/2014/main" id="{CEDA045B-51B0-4CC9-9001-F9A9891B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766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entity-a-1-title">
            <a:extLst xmlns:a="http://schemas.openxmlformats.org/drawingml/2006/main">
              <a:ext uri="{FF2B5EF4-FFF2-40B4-BE49-F238E27FC236}">
                <a16:creationId xmlns:a16="http://schemas.microsoft.com/office/drawing/2014/main" id="{96804BD6-0D9D-47FB-B546-978C8B51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290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M-PESA / Transsion</a:t>
            </a:r>
          </a:p>
        </p:txBody>
      </p:sp>
      <p:sp>
        <p:nvSpPr>
          <p:cNvPr id="32" name="entity-a-1-detail">
            <a:extLst xmlns:a="http://schemas.openxmlformats.org/drawingml/2006/main">
              <a:ext uri="{FF2B5EF4-FFF2-40B4-BE49-F238E27FC236}">
                <a16:creationId xmlns:a16="http://schemas.microsoft.com/office/drawing/2014/main" id="{3E7AA4E0-1C86-4DAA-B0D3-416C0B58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90950"/>
            <a:ext cx="3390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提供流量</a:t>
            </a:r>
          </a:p>
        </p:txBody>
      </p:sp>
      <p:sp>
        <p:nvSpPr>
          <p:cNvPr id="33" name="entity-b-1-bg">
            <a:extLst xmlns:a="http://schemas.openxmlformats.org/drawingml/2006/main">
              <a:ext uri="{FF2B5EF4-FFF2-40B4-BE49-F238E27FC236}">
                <a16:creationId xmlns:a16="http://schemas.microsoft.com/office/drawing/2014/main" id="{6C5FC9FA-6524-451B-903B-A33BFD7C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4" name="entity-b-1-accent">
            <a:extLst xmlns:a="http://schemas.openxmlformats.org/drawingml/2006/main">
              <a:ext uri="{FF2B5EF4-FFF2-40B4-BE49-F238E27FC236}">
                <a16:creationId xmlns:a16="http://schemas.microsoft.com/office/drawing/2014/main" id="{80F126D2-43D4-4E3D-8005-2E2C6571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entity-b-1-title">
            <a:extLst xmlns:a="http://schemas.openxmlformats.org/drawingml/2006/main">
              <a:ext uri="{FF2B5EF4-FFF2-40B4-BE49-F238E27FC236}">
                <a16:creationId xmlns:a16="http://schemas.microsoft.com/office/drawing/2014/main" id="{7BC73A26-3A39-459D-BF59-187C2C65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29000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微众</a:t>
            </a:r>
          </a:p>
        </p:txBody>
      </p:sp>
      <p:sp>
        <p:nvSpPr>
          <p:cNvPr id="36" name="entity-b-1-detail">
            <a:extLst xmlns:a="http://schemas.openxmlformats.org/drawingml/2006/main">
              <a:ext uri="{FF2B5EF4-FFF2-40B4-BE49-F238E27FC236}">
                <a16:creationId xmlns:a16="http://schemas.microsoft.com/office/drawing/2014/main" id="{653F088B-696C-4682-90B5-DDFFDD10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90950"/>
            <a:ext cx="3867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提供风险能力</a:t>
            </a:r>
          </a:p>
        </p:txBody>
      </p:sp>
      <p:sp>
        <p:nvSpPr>
          <p:cNvPr id="37" name="layer-2">
            <a:extLst xmlns:a="http://schemas.openxmlformats.org/drawingml/2006/main">
              <a:ext uri="{FF2B5EF4-FFF2-40B4-BE49-F238E27FC236}">
                <a16:creationId xmlns:a16="http://schemas.microsoft.com/office/drawing/2014/main" id="{353E3DA6-6BEE-462A-8716-1C6464E7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91025"/>
            <a:ext cx="11049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8" name="layer-accent-2">
            <a:extLst xmlns:a="http://schemas.openxmlformats.org/drawingml/2006/main">
              <a:ext uri="{FF2B5EF4-FFF2-40B4-BE49-F238E27FC236}">
                <a16:creationId xmlns:a16="http://schemas.microsoft.com/office/drawing/2014/main" id="{BDE1BEBA-B827-457B-86CF-6ECDD795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9102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layer-no-2">
            <a:extLst xmlns:a="http://schemas.openxmlformats.org/drawingml/2006/main">
              <a:ext uri="{FF2B5EF4-FFF2-40B4-BE49-F238E27FC236}">
                <a16:creationId xmlns:a16="http://schemas.microsoft.com/office/drawing/2014/main" id="{C5158C3A-4482-4BCE-BACD-E479E977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624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47E89"/>
                </a:solidFill>
              </a:defRPr>
            </a:pPr>
            <a:r>
              <a:rPr sz="975" b="1">
                <a:solidFill>
                  <a:srgbClr val="547E89"/>
                </a:solidFill>
              </a:rPr>
              <a:t>03</a:t>
            </a:r>
          </a:p>
        </p:txBody>
      </p:sp>
      <p:sp>
        <p:nvSpPr>
          <p:cNvPr id="40" name="layer-name-2">
            <a:extLst xmlns:a="http://schemas.openxmlformats.org/drawingml/2006/main">
              <a:ext uri="{FF2B5EF4-FFF2-40B4-BE49-F238E27FC236}">
                <a16:creationId xmlns:a16="http://schemas.microsoft.com/office/drawing/2014/main" id="{A4D51C81-39DA-4849-B53F-89511B85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后台</a:t>
            </a:r>
          </a:p>
        </p:txBody>
      </p:sp>
      <p:sp>
        <p:nvSpPr>
          <p:cNvPr id="41" name="layer-role-2">
            <a:extLst xmlns:a="http://schemas.openxmlformats.org/drawingml/2006/main">
              <a:ext uri="{FF2B5EF4-FFF2-40B4-BE49-F238E27FC236}">
                <a16:creationId xmlns:a16="http://schemas.microsoft.com/office/drawing/2014/main" id="{811CFAE9-A24E-47E8-BD9D-6616DDCC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149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银行服务承接</a:t>
            </a:r>
          </a:p>
        </p:txBody>
      </p:sp>
      <p:sp>
        <p:nvSpPr>
          <p:cNvPr id="42" name="entity-a-2-bg">
            <a:extLst xmlns:a="http://schemas.openxmlformats.org/drawingml/2006/main">
              <a:ext uri="{FF2B5EF4-FFF2-40B4-BE49-F238E27FC236}">
                <a16:creationId xmlns:a16="http://schemas.microsoft.com/office/drawing/2014/main" id="{5C27294F-0DFC-4678-B933-BC2CCC7D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43425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3" name="entity-a-2-accent">
            <a:extLst xmlns:a="http://schemas.openxmlformats.org/drawingml/2006/main">
              <a:ext uri="{FF2B5EF4-FFF2-40B4-BE49-F238E27FC236}">
                <a16:creationId xmlns:a16="http://schemas.microsoft.com/office/drawing/2014/main" id="{DB6D58B2-1E4D-46AD-BE70-DCF973D6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4342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entity-a-2-title">
            <a:extLst xmlns:a="http://schemas.openxmlformats.org/drawingml/2006/main">
              <a:ext uri="{FF2B5EF4-FFF2-40B4-BE49-F238E27FC236}">
                <a16:creationId xmlns:a16="http://schemas.microsoft.com/office/drawing/2014/main" id="{F9844166-93F8-4B69-9866-84A09961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695825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传音银行</a:t>
            </a:r>
          </a:p>
        </p:txBody>
      </p:sp>
      <p:sp>
        <p:nvSpPr>
          <p:cNvPr id="45" name="entity-a-2-detail">
            <a:extLst xmlns:a="http://schemas.openxmlformats.org/drawingml/2006/main">
              <a:ext uri="{FF2B5EF4-FFF2-40B4-BE49-F238E27FC236}">
                <a16:creationId xmlns:a16="http://schemas.microsoft.com/office/drawing/2014/main" id="{EB076434-A37C-44E1-B5AB-D4FA98EE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057775"/>
            <a:ext cx="3390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银行机构</a:t>
            </a:r>
          </a:p>
        </p:txBody>
      </p:sp>
      <p:sp>
        <p:nvSpPr>
          <p:cNvPr id="46" name="entity-b-2-bg">
            <a:extLst xmlns:a="http://schemas.openxmlformats.org/drawingml/2006/main">
              <a:ext uri="{FF2B5EF4-FFF2-40B4-BE49-F238E27FC236}">
                <a16:creationId xmlns:a16="http://schemas.microsoft.com/office/drawing/2014/main" id="{5D6ECB9D-E100-4BEE-B077-57AB1026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43425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7" name="entity-b-2-accent">
            <a:extLst xmlns:a="http://schemas.openxmlformats.org/drawingml/2006/main">
              <a:ext uri="{FF2B5EF4-FFF2-40B4-BE49-F238E27FC236}">
                <a16:creationId xmlns:a16="http://schemas.microsoft.com/office/drawing/2014/main" id="{5D25FF55-FF2F-4BEA-8A27-71CA4D9C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4342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entity-b-2-title">
            <a:extLst xmlns:a="http://schemas.openxmlformats.org/drawingml/2006/main">
              <a:ext uri="{FF2B5EF4-FFF2-40B4-BE49-F238E27FC236}">
                <a16:creationId xmlns:a16="http://schemas.microsoft.com/office/drawing/2014/main" id="{C9FA344D-AB4F-45E4-B4CF-673ABA52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695825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其他 Mint 接入银行</a:t>
            </a:r>
          </a:p>
        </p:txBody>
      </p:sp>
      <p:sp>
        <p:nvSpPr>
          <p:cNvPr id="49" name="entity-b-2-detail">
            <a:extLst xmlns:a="http://schemas.openxmlformats.org/drawingml/2006/main">
              <a:ext uri="{FF2B5EF4-FFF2-40B4-BE49-F238E27FC236}">
                <a16:creationId xmlns:a16="http://schemas.microsoft.com/office/drawing/2014/main" id="{E02E880F-32C4-4CC5-9597-60697F43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57775"/>
            <a:ext cx="3867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银行机构</a:t>
            </a:r>
          </a:p>
        </p:txBody>
      </p:sp>
    </p:spTree>
    <p:extLst>
      <p:ext uri="{BB962C8B-B14F-4D97-AF65-F5344CB8AC3E}">
        <p14:creationId xmlns:p14="http://schemas.microsoft.com/office/powerpoint/2010/main" val="5351864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rule-60-45">
            <a:extLst xmlns:a="http://schemas.openxmlformats.org/drawingml/2006/main">
              <a:ext uri="{FF2B5EF4-FFF2-40B4-BE49-F238E27FC236}">
                <a16:creationId xmlns:a16="http://schemas.microsoft.com/office/drawing/2014/main" id="{B4850FF6-175E-47BA-93D7-8D855C01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EF903F5D-69CA-41D0-9B21-C0C548A7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EDC0424F-0CF0-47CD-AC4F-ABB9E4F7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战略与牌照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3B6B5A-E6B4-4DFF-BA62-015C0920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04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75D652A9-3C00-45D5-9C4D-D397160D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A3E1F087-4E3D-4F07-BFDA-5E45E080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20643B36-60A2-43D6-A477-A1E8EEB7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2486B1D-D1F4-4B8A-9175-EE1554A1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04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96D6785D-883C-4C22-AC64-00002973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业务演进与牌照升级并行推进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219481D4-83B4-46FB-82DD-007931C4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两条路径分别表达，底部集中管理层动作。</a:t>
            </a:r>
          </a:p>
        </p:txBody>
      </p:sp>
      <p:sp>
        <p:nvSpPr>
          <p:cNvPr id="11" name="track-0">
            <a:extLst xmlns:a="http://schemas.openxmlformats.org/drawingml/2006/main">
              <a:ext uri="{FF2B5EF4-FFF2-40B4-BE49-F238E27FC236}">
                <a16:creationId xmlns:a16="http://schemas.microsoft.com/office/drawing/2014/main" id="{7908B5B2-A1C5-449E-9EFE-95E7D232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1104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track-accent-0">
            <a:extLst xmlns:a="http://schemas.openxmlformats.org/drawingml/2006/main">
              <a:ext uri="{FF2B5EF4-FFF2-40B4-BE49-F238E27FC236}">
                <a16:creationId xmlns:a16="http://schemas.microsoft.com/office/drawing/2014/main" id="{8545395B-2864-43DB-BB9C-95D88648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rack-label-0">
            <a:extLst xmlns:a="http://schemas.openxmlformats.org/drawingml/2006/main">
              <a:ext uri="{FF2B5EF4-FFF2-40B4-BE49-F238E27FC236}">
                <a16:creationId xmlns:a16="http://schemas.microsoft.com/office/drawing/2014/main" id="{9FF24EAA-70D8-4841-9225-14A93720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5262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C794D"/>
                </a:solidFill>
              </a:defRPr>
            </a:pPr>
            <a:r>
              <a:rPr sz="750" b="1">
                <a:solidFill>
                  <a:srgbClr val="BC794D"/>
                </a:solidFill>
              </a:rPr>
              <a:t>路径 01</a:t>
            </a:r>
          </a:p>
        </p:txBody>
      </p:sp>
      <p:sp>
        <p:nvSpPr>
          <p:cNvPr id="14" name="track-name-0">
            <a:extLst xmlns:a="http://schemas.openxmlformats.org/drawingml/2006/main">
              <a:ext uri="{FF2B5EF4-FFF2-40B4-BE49-F238E27FC236}">
                <a16:creationId xmlns:a16="http://schemas.microsoft.com/office/drawing/2014/main" id="{86487FE3-0F5E-4319-9D41-DADBCE2D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098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业务路径</a:t>
            </a:r>
          </a:p>
        </p:txBody>
      </p:sp>
      <p:sp>
        <p:nvSpPr>
          <p:cNvPr id="15" name="track-summary-0">
            <a:extLst xmlns:a="http://schemas.openxmlformats.org/drawingml/2006/main">
              <a:ext uri="{FF2B5EF4-FFF2-40B4-BE49-F238E27FC236}">
                <a16:creationId xmlns:a16="http://schemas.microsoft.com/office/drawing/2014/main" id="{0C3EDAE8-58AD-4CA7-960C-6A5D46FD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00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先生态，后现金</a:t>
            </a:r>
          </a:p>
        </p:txBody>
      </p:sp>
      <p:sp>
        <p:nvSpPr>
          <p:cNvPr id="16" name="track-0-0-stage">
            <a:extLst xmlns:a="http://schemas.openxmlformats.org/drawingml/2006/main">
              <a:ext uri="{FF2B5EF4-FFF2-40B4-BE49-F238E27FC236}">
                <a16:creationId xmlns:a16="http://schemas.microsoft.com/office/drawing/2014/main" id="{D5570081-7D62-4588-B68D-39F4CEEC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起点</a:t>
            </a:r>
          </a:p>
        </p:txBody>
      </p:sp>
      <p:sp>
        <p:nvSpPr>
          <p:cNvPr id="17" name="track-0-0-title">
            <a:extLst xmlns:a="http://schemas.openxmlformats.org/drawingml/2006/main">
              <a:ext uri="{FF2B5EF4-FFF2-40B4-BE49-F238E27FC236}">
                <a16:creationId xmlns:a16="http://schemas.microsoft.com/office/drawing/2014/main" id="{E3C3BE4A-1E60-46C5-8890-20FAC3F4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核心企业生态</a:t>
            </a:r>
          </a:p>
        </p:txBody>
      </p:sp>
      <p:sp>
        <p:nvSpPr>
          <p:cNvPr id="18" name="track-0-0-detail">
            <a:extLst xmlns:a="http://schemas.openxmlformats.org/drawingml/2006/main">
              <a:ext uri="{FF2B5EF4-FFF2-40B4-BE49-F238E27FC236}">
                <a16:creationId xmlns:a16="http://schemas.microsoft.com/office/drawing/2014/main" id="{A3B471F7-C52F-486D-8E59-B311DAE9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19" name="track-0-0-arrow">
            <a:extLst xmlns:a="http://schemas.openxmlformats.org/drawingml/2006/main">
              <a:ext uri="{FF2B5EF4-FFF2-40B4-BE49-F238E27FC236}">
                <a16:creationId xmlns:a16="http://schemas.microsoft.com/office/drawing/2014/main" id="{CFFF86F8-64D7-4C13-8472-AF05D759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20" name="track-0-1-stage">
            <a:extLst xmlns:a="http://schemas.openxmlformats.org/drawingml/2006/main">
              <a:ext uri="{FF2B5EF4-FFF2-40B4-BE49-F238E27FC236}">
                <a16:creationId xmlns:a16="http://schemas.microsoft.com/office/drawing/2014/main" id="{87649061-4C79-40BA-91A5-EFEBA581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推进</a:t>
            </a:r>
          </a:p>
        </p:txBody>
      </p:sp>
      <p:sp>
        <p:nvSpPr>
          <p:cNvPr id="21" name="track-0-1-title">
            <a:extLst xmlns:a="http://schemas.openxmlformats.org/drawingml/2006/main">
              <a:ext uri="{FF2B5EF4-FFF2-40B4-BE49-F238E27FC236}">
                <a16:creationId xmlns:a16="http://schemas.microsoft.com/office/drawing/2014/main" id="{D4758BE2-B954-4847-A3C0-0A18B87D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首发产品</a:t>
            </a:r>
          </a:p>
        </p:txBody>
      </p:sp>
      <p:sp>
        <p:nvSpPr>
          <p:cNvPr id="22" name="track-0-1-detail">
            <a:extLst xmlns:a="http://schemas.openxmlformats.org/drawingml/2006/main">
              <a:ext uri="{FF2B5EF4-FFF2-40B4-BE49-F238E27FC236}">
                <a16:creationId xmlns:a16="http://schemas.microsoft.com/office/drawing/2014/main" id="{928133E8-EAFD-43EB-A4B0-B75EA29A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23" name="track-0-1-arrow">
            <a:extLst xmlns:a="http://schemas.openxmlformats.org/drawingml/2006/main">
              <a:ext uri="{FF2B5EF4-FFF2-40B4-BE49-F238E27FC236}">
                <a16:creationId xmlns:a16="http://schemas.microsoft.com/office/drawing/2014/main" id="{C90A0A86-206B-4DA3-B476-91B089C9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24" name="track-0-2-stage">
            <a:extLst xmlns:a="http://schemas.openxmlformats.org/drawingml/2006/main">
              <a:ext uri="{FF2B5EF4-FFF2-40B4-BE49-F238E27FC236}">
                <a16:creationId xmlns:a16="http://schemas.microsoft.com/office/drawing/2014/main" id="{920B3586-9E2A-4495-A8FF-2795F152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验证</a:t>
            </a:r>
          </a:p>
        </p:txBody>
      </p:sp>
      <p:sp>
        <p:nvSpPr>
          <p:cNvPr id="25" name="track-0-2-title">
            <a:extLst xmlns:a="http://schemas.openxmlformats.org/drawingml/2006/main">
              <a:ext uri="{FF2B5EF4-FFF2-40B4-BE49-F238E27FC236}">
                <a16:creationId xmlns:a16="http://schemas.microsoft.com/office/drawing/2014/main" id="{93A6E654-6B2C-4B01-847B-CB290776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积累数据</a:t>
            </a:r>
          </a:p>
        </p:txBody>
      </p:sp>
      <p:sp>
        <p:nvSpPr>
          <p:cNvPr id="26" name="track-0-2-detail">
            <a:extLst xmlns:a="http://schemas.openxmlformats.org/drawingml/2006/main">
              <a:ext uri="{FF2B5EF4-FFF2-40B4-BE49-F238E27FC236}">
                <a16:creationId xmlns:a16="http://schemas.microsoft.com/office/drawing/2014/main" id="{BBFCFA93-9151-46A0-87A0-CED44CF8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27" name="track-0-2-arrow">
            <a:extLst xmlns:a="http://schemas.openxmlformats.org/drawingml/2006/main">
              <a:ext uri="{FF2B5EF4-FFF2-40B4-BE49-F238E27FC236}">
                <a16:creationId xmlns:a16="http://schemas.microsoft.com/office/drawing/2014/main" id="{70E32C4B-5C5F-44C8-945F-7F0375F1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28" name="track-0-3-stage">
            <a:extLst xmlns:a="http://schemas.openxmlformats.org/drawingml/2006/main">
              <a:ext uri="{FF2B5EF4-FFF2-40B4-BE49-F238E27FC236}">
                <a16:creationId xmlns:a16="http://schemas.microsoft.com/office/drawing/2014/main" id="{E9659F70-0EA8-467A-9B4F-4EB8B0C4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目标</a:t>
            </a:r>
          </a:p>
        </p:txBody>
      </p:sp>
      <p:sp>
        <p:nvSpPr>
          <p:cNvPr id="29" name="track-0-3-title">
            <a:extLst xmlns:a="http://schemas.openxmlformats.org/drawingml/2006/main">
              <a:ext uri="{FF2B5EF4-FFF2-40B4-BE49-F238E27FC236}">
                <a16:creationId xmlns:a16="http://schemas.microsoft.com/office/drawing/2014/main" id="{25731470-8070-4B4E-9FC1-9474F8A7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扩展业务</a:t>
            </a:r>
          </a:p>
        </p:txBody>
      </p:sp>
      <p:sp>
        <p:nvSpPr>
          <p:cNvPr id="30" name="track-0-3-detail">
            <a:extLst xmlns:a="http://schemas.openxmlformats.org/drawingml/2006/main">
              <a:ext uri="{FF2B5EF4-FFF2-40B4-BE49-F238E27FC236}">
                <a16:creationId xmlns:a16="http://schemas.microsoft.com/office/drawing/2014/main" id="{A868DE45-BCA8-477D-909F-B770C83A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31" name="track-1">
            <a:extLst xmlns:a="http://schemas.openxmlformats.org/drawingml/2006/main">
              <a:ext uri="{FF2B5EF4-FFF2-40B4-BE49-F238E27FC236}">
                <a16:creationId xmlns:a16="http://schemas.microsoft.com/office/drawing/2014/main" id="{2C484239-0119-4AB3-964E-F8903465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2" name="track-accent-1">
            <a:extLst xmlns:a="http://schemas.openxmlformats.org/drawingml/2006/main">
              <a:ext uri="{FF2B5EF4-FFF2-40B4-BE49-F238E27FC236}">
                <a16:creationId xmlns:a16="http://schemas.microsoft.com/office/drawing/2014/main" id="{0244E65A-407A-4896-905E-23A1736E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rack-label-1">
            <a:extLst xmlns:a="http://schemas.openxmlformats.org/drawingml/2006/main">
              <a:ext uri="{FF2B5EF4-FFF2-40B4-BE49-F238E27FC236}">
                <a16:creationId xmlns:a16="http://schemas.microsoft.com/office/drawing/2014/main" id="{C7761925-3A6B-40C0-95D3-38C28D6D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6712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C794D"/>
                </a:solidFill>
              </a:defRPr>
            </a:pPr>
            <a:r>
              <a:rPr sz="750" b="1">
                <a:solidFill>
                  <a:srgbClr val="BC794D"/>
                </a:solidFill>
              </a:rPr>
              <a:t>路径 02</a:t>
            </a:r>
          </a:p>
        </p:txBody>
      </p:sp>
      <p:sp>
        <p:nvSpPr>
          <p:cNvPr id="34" name="track-name-1">
            <a:extLst xmlns:a="http://schemas.openxmlformats.org/drawingml/2006/main">
              <a:ext uri="{FF2B5EF4-FFF2-40B4-BE49-F238E27FC236}">
                <a16:creationId xmlns:a16="http://schemas.microsoft.com/office/drawing/2014/main" id="{91996132-68F7-4066-A4C7-36AEC717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243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牌照路径</a:t>
            </a:r>
          </a:p>
        </p:txBody>
      </p:sp>
      <p:sp>
        <p:nvSpPr>
          <p:cNvPr id="35" name="track-summary-1">
            <a:extLst xmlns:a="http://schemas.openxmlformats.org/drawingml/2006/main">
              <a:ext uri="{FF2B5EF4-FFF2-40B4-BE49-F238E27FC236}">
                <a16:creationId xmlns:a16="http://schemas.microsoft.com/office/drawing/2014/main" id="{014B1754-8714-4CAD-8BD4-64A2F971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148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DRB → 运营三年 → DFB</a:t>
            </a:r>
          </a:p>
        </p:txBody>
      </p:sp>
      <p:sp>
        <p:nvSpPr>
          <p:cNvPr id="36" name="track-1-0-stage">
            <a:extLst xmlns:a="http://schemas.openxmlformats.org/drawingml/2006/main">
              <a:ext uri="{FF2B5EF4-FFF2-40B4-BE49-F238E27FC236}">
                <a16:creationId xmlns:a16="http://schemas.microsoft.com/office/drawing/2014/main" id="{F70DD760-C1A7-4291-98A0-5F9E2296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起点</a:t>
            </a:r>
          </a:p>
        </p:txBody>
      </p:sp>
      <p:sp>
        <p:nvSpPr>
          <p:cNvPr id="37" name="track-1-0-title">
            <a:extLst xmlns:a="http://schemas.openxmlformats.org/drawingml/2006/main">
              <a:ext uri="{FF2B5EF4-FFF2-40B4-BE49-F238E27FC236}">
                <a16:creationId xmlns:a16="http://schemas.microsoft.com/office/drawing/2014/main" id="{B39DCA9D-A532-4B3A-BB75-228C94F7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核心企业生态</a:t>
            </a:r>
          </a:p>
        </p:txBody>
      </p:sp>
      <p:sp>
        <p:nvSpPr>
          <p:cNvPr id="38" name="track-1-0-detail">
            <a:extLst xmlns:a="http://schemas.openxmlformats.org/drawingml/2006/main">
              <a:ext uri="{FF2B5EF4-FFF2-40B4-BE49-F238E27FC236}">
                <a16:creationId xmlns:a16="http://schemas.microsoft.com/office/drawing/2014/main" id="{9A365ACE-96DD-4A9D-AD05-18538A5F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39" name="track-1-0-arrow">
            <a:extLst xmlns:a="http://schemas.openxmlformats.org/drawingml/2006/main">
              <a:ext uri="{FF2B5EF4-FFF2-40B4-BE49-F238E27FC236}">
                <a16:creationId xmlns:a16="http://schemas.microsoft.com/office/drawing/2014/main" id="{C1A5D24C-1147-4D33-A864-DF8B9E59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40" name="track-1-1-stage">
            <a:extLst xmlns:a="http://schemas.openxmlformats.org/drawingml/2006/main">
              <a:ext uri="{FF2B5EF4-FFF2-40B4-BE49-F238E27FC236}">
                <a16:creationId xmlns:a16="http://schemas.microsoft.com/office/drawing/2014/main" id="{F72C2370-E1DE-4FD6-8EDF-DA0DCBB4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推进</a:t>
            </a:r>
          </a:p>
        </p:txBody>
      </p:sp>
      <p:sp>
        <p:nvSpPr>
          <p:cNvPr id="41" name="track-1-1-title">
            <a:extLst xmlns:a="http://schemas.openxmlformats.org/drawingml/2006/main">
              <a:ext uri="{FF2B5EF4-FFF2-40B4-BE49-F238E27FC236}">
                <a16:creationId xmlns:a16="http://schemas.microsoft.com/office/drawing/2014/main" id="{1BC33B7E-37C6-41E2-B9A5-65B1C2C9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首发产品</a:t>
            </a:r>
          </a:p>
        </p:txBody>
      </p:sp>
      <p:sp>
        <p:nvSpPr>
          <p:cNvPr id="42" name="track-1-1-detail">
            <a:extLst xmlns:a="http://schemas.openxmlformats.org/drawingml/2006/main">
              <a:ext uri="{FF2B5EF4-FFF2-40B4-BE49-F238E27FC236}">
                <a16:creationId xmlns:a16="http://schemas.microsoft.com/office/drawing/2014/main" id="{E99E64EC-FE0C-4E19-A75D-0DC45671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43" name="track-1-1-arrow">
            <a:extLst xmlns:a="http://schemas.openxmlformats.org/drawingml/2006/main">
              <a:ext uri="{FF2B5EF4-FFF2-40B4-BE49-F238E27FC236}">
                <a16:creationId xmlns:a16="http://schemas.microsoft.com/office/drawing/2014/main" id="{F7E60A28-0685-4F01-A5C0-0500F966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0481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44" name="track-1-2-stage">
            <a:extLst xmlns:a="http://schemas.openxmlformats.org/drawingml/2006/main">
              <a:ext uri="{FF2B5EF4-FFF2-40B4-BE49-F238E27FC236}">
                <a16:creationId xmlns:a16="http://schemas.microsoft.com/office/drawing/2014/main" id="{766E3C17-8FCE-40AF-8113-25EC9F7B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验证</a:t>
            </a:r>
          </a:p>
        </p:txBody>
      </p:sp>
      <p:sp>
        <p:nvSpPr>
          <p:cNvPr id="45" name="track-1-2-title">
            <a:extLst xmlns:a="http://schemas.openxmlformats.org/drawingml/2006/main">
              <a:ext uri="{FF2B5EF4-FFF2-40B4-BE49-F238E27FC236}">
                <a16:creationId xmlns:a16="http://schemas.microsoft.com/office/drawing/2014/main" id="{2E1E543C-0E49-4030-A262-695C7F43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积累数据</a:t>
            </a:r>
          </a:p>
        </p:txBody>
      </p:sp>
      <p:sp>
        <p:nvSpPr>
          <p:cNvPr id="46" name="track-1-2-detail">
            <a:extLst xmlns:a="http://schemas.openxmlformats.org/drawingml/2006/main">
              <a:ext uri="{FF2B5EF4-FFF2-40B4-BE49-F238E27FC236}">
                <a16:creationId xmlns:a16="http://schemas.microsoft.com/office/drawing/2014/main" id="{BA46D2C0-9197-4A97-B627-FAFAD11F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47" name="track-1-2-arrow">
            <a:extLst xmlns:a="http://schemas.openxmlformats.org/drawingml/2006/main">
              <a:ext uri="{FF2B5EF4-FFF2-40B4-BE49-F238E27FC236}">
                <a16:creationId xmlns:a16="http://schemas.microsoft.com/office/drawing/2014/main" id="{2B730DA5-9C82-4058-9741-2AC684D7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481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48" name="track-1-3-stage">
            <a:extLst xmlns:a="http://schemas.openxmlformats.org/drawingml/2006/main">
              <a:ext uri="{FF2B5EF4-FFF2-40B4-BE49-F238E27FC236}">
                <a16:creationId xmlns:a16="http://schemas.microsoft.com/office/drawing/2014/main" id="{BC38DBAC-2144-467A-937C-9898E8A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目标</a:t>
            </a:r>
          </a:p>
        </p:txBody>
      </p:sp>
      <p:sp>
        <p:nvSpPr>
          <p:cNvPr id="49" name="track-1-3-title">
            <a:extLst xmlns:a="http://schemas.openxmlformats.org/drawingml/2006/main">
              <a:ext uri="{FF2B5EF4-FFF2-40B4-BE49-F238E27FC236}">
                <a16:creationId xmlns:a16="http://schemas.microsoft.com/office/drawing/2014/main" id="{16302C6A-D721-4062-8049-B25F28C6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扩展业务</a:t>
            </a:r>
          </a:p>
        </p:txBody>
      </p:sp>
      <p:sp>
        <p:nvSpPr>
          <p:cNvPr id="50" name="track-1-3-detail">
            <a:extLst xmlns:a="http://schemas.openxmlformats.org/drawingml/2006/main">
              <a:ext uri="{FF2B5EF4-FFF2-40B4-BE49-F238E27FC236}">
                <a16:creationId xmlns:a16="http://schemas.microsoft.com/office/drawing/2014/main" id="{EFA7E9CE-58C7-43FE-87FA-123A24B1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51" name="action-bg">
            <a:extLst xmlns:a="http://schemas.openxmlformats.org/drawingml/2006/main">
              <a:ext uri="{FF2B5EF4-FFF2-40B4-BE49-F238E27FC236}">
                <a16:creationId xmlns:a16="http://schemas.microsoft.com/office/drawing/2014/main" id="{C443177B-501A-4BBA-AAEB-20123DB8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38CAA976-28DA-4627-AD54-1C2E291A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DF8"/>
                </a:solidFill>
              </a:defRPr>
            </a:pPr>
            <a:r>
              <a:rPr sz="1725" b="1">
                <a:solidFill>
                  <a:srgbClr val="FFFDF8"/>
                </a:solidFill>
              </a:rPr>
              <a:t>下一步</a:t>
            </a:r>
          </a:p>
        </p:txBody>
      </p:sp>
      <p:sp>
        <p:nvSpPr>
          <p:cNvPr id="53" name="action-0">
            <a:extLst xmlns:a="http://schemas.openxmlformats.org/drawingml/2006/main">
              <a:ext uri="{FF2B5EF4-FFF2-40B4-BE49-F238E27FC236}">
                <a16:creationId xmlns:a16="http://schemas.microsoft.com/office/drawing/2014/main" id="{6B72818E-1FBC-4839-99AD-B0BCB23A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48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合作｜填写动作、Owner 与时间</a:t>
            </a:r>
          </a:p>
        </p:txBody>
      </p:sp>
      <p:sp>
        <p:nvSpPr>
          <p:cNvPr id="54" name="action-1">
            <a:extLst xmlns:a="http://schemas.openxmlformats.org/drawingml/2006/main">
              <a:ext uri="{FF2B5EF4-FFF2-40B4-BE49-F238E27FC236}">
                <a16:creationId xmlns:a16="http://schemas.microsoft.com/office/drawing/2014/main" id="{9A686D07-F814-45AB-84A3-61B517FE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48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资本｜填写动作、Owner 与时间</a:t>
            </a:r>
          </a:p>
        </p:txBody>
      </p:sp>
      <p:sp>
        <p:nvSpPr>
          <p:cNvPr id="55" name="action-2">
            <a:extLst xmlns:a="http://schemas.openxmlformats.org/drawingml/2006/main">
              <a:ext uri="{FF2B5EF4-FFF2-40B4-BE49-F238E27FC236}">
                <a16:creationId xmlns:a16="http://schemas.microsoft.com/office/drawing/2014/main" id="{DEFB1139-282C-4163-B17D-59166B21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48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申报｜填写动作、Owner 与时间</a:t>
            </a:r>
          </a:p>
        </p:txBody>
      </p:sp>
    </p:spTree>
    <p:extLst>
      <p:ext uri="{BB962C8B-B14F-4D97-AF65-F5344CB8AC3E}">
        <p14:creationId xmlns:p14="http://schemas.microsoft.com/office/powerpoint/2010/main" val="10473462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ule-60-45">
            <a:extLst xmlns:a="http://schemas.openxmlformats.org/drawingml/2006/main">
              <a:ext uri="{FF2B5EF4-FFF2-40B4-BE49-F238E27FC236}">
                <a16:creationId xmlns:a16="http://schemas.microsoft.com/office/drawing/2014/main" id="{A4680022-ED95-47DD-A882-9469AC5B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7C39BBA3-6096-4EE2-8438-6D647A8A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D77A418B-59CF-4D5E-B0F3-F59A8F52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流程与阶段门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D75D8A-E3FE-4814-BF37-A74C9613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05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A63AB329-2F70-4910-9FE9-B6EEA968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2E1A96B3-14DA-4722-8E45-2947B3DA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89740B80-A2D6-4061-BB0F-D05A4CC7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D217F89-F8C4-4393-A045-F5F31AFA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05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8AA05EFD-987E-47EA-9739-8FEFF9A2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输入经过有序处理，形成可验证输出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ABF96007-045B-4A15-A3C3-00F24BFC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仅当内容存在真实顺序时使用流程图。</a:t>
            </a:r>
          </a:p>
        </p:txBody>
      </p:sp>
      <p:sp>
        <p:nvSpPr>
          <p:cNvPr id="11" name="rule-95-390">
            <a:extLst xmlns:a="http://schemas.openxmlformats.org/drawingml/2006/main">
              <a:ext uri="{FF2B5EF4-FFF2-40B4-BE49-F238E27FC236}">
                <a16:creationId xmlns:a16="http://schemas.microsoft.com/office/drawing/2014/main" id="{E2D51C8F-00BF-4BB6-9056-5B7471FD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14750"/>
            <a:ext cx="1009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rocess-0">
            <a:extLst xmlns:a="http://schemas.openxmlformats.org/drawingml/2006/main">
              <a:ext uri="{FF2B5EF4-FFF2-40B4-BE49-F238E27FC236}">
                <a16:creationId xmlns:a16="http://schemas.microsoft.com/office/drawing/2014/main" id="{5A292C9B-488D-4B4F-B08B-EEB60977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13" name="process-no-0">
            <a:extLst xmlns:a="http://schemas.openxmlformats.org/drawingml/2006/main">
              <a:ext uri="{FF2B5EF4-FFF2-40B4-BE49-F238E27FC236}">
                <a16:creationId xmlns:a16="http://schemas.microsoft.com/office/drawing/2014/main" id="{4363F925-F116-416F-A29C-AC859462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4" name="process-title-0">
            <a:extLst xmlns:a="http://schemas.openxmlformats.org/drawingml/2006/main">
              <a:ext uri="{FF2B5EF4-FFF2-40B4-BE49-F238E27FC236}">
                <a16:creationId xmlns:a16="http://schemas.microsoft.com/office/drawing/2014/main" id="{17D2F973-D297-456B-87DE-B6C693F2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确认输入</a:t>
            </a:r>
          </a:p>
        </p:txBody>
      </p:sp>
      <p:sp>
        <p:nvSpPr>
          <p:cNvPr id="15" name="process-detail-0">
            <a:extLst xmlns:a="http://schemas.openxmlformats.org/drawingml/2006/main">
              <a:ext uri="{FF2B5EF4-FFF2-40B4-BE49-F238E27FC236}">
                <a16:creationId xmlns:a16="http://schemas.microsoft.com/office/drawing/2014/main" id="{5EB28FAA-8D5B-4879-B822-F29BFF6B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16" name="process-1">
            <a:extLst xmlns:a="http://schemas.openxmlformats.org/drawingml/2006/main">
              <a:ext uri="{FF2B5EF4-FFF2-40B4-BE49-F238E27FC236}">
                <a16:creationId xmlns:a16="http://schemas.microsoft.com/office/drawing/2014/main" id="{6087BF6A-8DB6-4FB2-A3D4-02386FE7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17" name="process-no-1">
            <a:extLst xmlns:a="http://schemas.openxmlformats.org/drawingml/2006/main">
              <a:ext uri="{FF2B5EF4-FFF2-40B4-BE49-F238E27FC236}">
                <a16:creationId xmlns:a16="http://schemas.microsoft.com/office/drawing/2014/main" id="{698E8B0C-EC3E-46D1-8D47-E4E0EC0E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02</a:t>
            </a:r>
          </a:p>
        </p:txBody>
      </p:sp>
      <p:sp>
        <p:nvSpPr>
          <p:cNvPr id="18" name="process-title-1">
            <a:extLst xmlns:a="http://schemas.openxmlformats.org/drawingml/2006/main">
              <a:ext uri="{FF2B5EF4-FFF2-40B4-BE49-F238E27FC236}">
                <a16:creationId xmlns:a16="http://schemas.microsoft.com/office/drawing/2014/main" id="{4C3097D0-9FB3-490B-91B4-07ED9FA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核对事实</a:t>
            </a:r>
          </a:p>
        </p:txBody>
      </p:sp>
      <p:sp>
        <p:nvSpPr>
          <p:cNvPr id="19" name="process-detail-1">
            <a:extLst xmlns:a="http://schemas.openxmlformats.org/drawingml/2006/main">
              <a:ext uri="{FF2B5EF4-FFF2-40B4-BE49-F238E27FC236}">
                <a16:creationId xmlns:a16="http://schemas.microsoft.com/office/drawing/2014/main" id="{F6CE7AE8-FAD4-4DD1-9FEE-A61A5D6A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20" name="process-2">
            <a:extLst xmlns:a="http://schemas.openxmlformats.org/drawingml/2006/main">
              <a:ext uri="{FF2B5EF4-FFF2-40B4-BE49-F238E27FC236}">
                <a16:creationId xmlns:a16="http://schemas.microsoft.com/office/drawing/2014/main" id="{AAE0ED95-FA8C-4994-816B-45F3B132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rocess-no-2">
            <a:extLst xmlns:a="http://schemas.openxmlformats.org/drawingml/2006/main">
              <a:ext uri="{FF2B5EF4-FFF2-40B4-BE49-F238E27FC236}">
                <a16:creationId xmlns:a16="http://schemas.microsoft.com/office/drawing/2014/main" id="{17FC8260-70F6-4184-8BD3-8926C09E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03</a:t>
            </a:r>
          </a:p>
        </p:txBody>
      </p:sp>
      <p:sp>
        <p:nvSpPr>
          <p:cNvPr id="22" name="process-title-2">
            <a:extLst xmlns:a="http://schemas.openxmlformats.org/drawingml/2006/main">
              <a:ext uri="{FF2B5EF4-FFF2-40B4-BE49-F238E27FC236}">
                <a16:creationId xmlns:a16="http://schemas.microsoft.com/office/drawing/2014/main" id="{7E7331DF-E34E-41E3-BC84-A46D0C21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形成判断</a:t>
            </a:r>
          </a:p>
        </p:txBody>
      </p:sp>
      <p:sp>
        <p:nvSpPr>
          <p:cNvPr id="23" name="process-detail-2">
            <a:extLst xmlns:a="http://schemas.openxmlformats.org/drawingml/2006/main">
              <a:ext uri="{FF2B5EF4-FFF2-40B4-BE49-F238E27FC236}">
                <a16:creationId xmlns:a16="http://schemas.microsoft.com/office/drawing/2014/main" id="{A30D7ED5-DEEC-4958-9D58-1583D2C2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24" name="process-3">
            <a:extLst xmlns:a="http://schemas.openxmlformats.org/drawingml/2006/main">
              <a:ext uri="{FF2B5EF4-FFF2-40B4-BE49-F238E27FC236}">
                <a16:creationId xmlns:a16="http://schemas.microsoft.com/office/drawing/2014/main" id="{15DCC04D-E17E-4C16-AD59-7DC4E3D4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25" name="process-no-3">
            <a:extLst xmlns:a="http://schemas.openxmlformats.org/drawingml/2006/main">
              <a:ext uri="{FF2B5EF4-FFF2-40B4-BE49-F238E27FC236}">
                <a16:creationId xmlns:a16="http://schemas.microsoft.com/office/drawing/2014/main" id="{9470E7E8-C0C0-433D-A9B7-1E1F796D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04</a:t>
            </a:r>
          </a:p>
        </p:txBody>
      </p:sp>
      <p:sp>
        <p:nvSpPr>
          <p:cNvPr id="26" name="process-title-3">
            <a:extLst xmlns:a="http://schemas.openxmlformats.org/drawingml/2006/main">
              <a:ext uri="{FF2B5EF4-FFF2-40B4-BE49-F238E27FC236}">
                <a16:creationId xmlns:a16="http://schemas.microsoft.com/office/drawing/2014/main" id="{3D6FCB50-42CF-4BB2-A3F4-D892B194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执行行动</a:t>
            </a:r>
          </a:p>
        </p:txBody>
      </p:sp>
      <p:sp>
        <p:nvSpPr>
          <p:cNvPr id="27" name="process-detail-3">
            <a:extLst xmlns:a="http://schemas.openxmlformats.org/drawingml/2006/main">
              <a:ext uri="{FF2B5EF4-FFF2-40B4-BE49-F238E27FC236}">
                <a16:creationId xmlns:a16="http://schemas.microsoft.com/office/drawing/2014/main" id="{3EC8046E-9041-4E2E-88FC-C836B720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28" name="process-4">
            <a:extLst xmlns:a="http://schemas.openxmlformats.org/drawingml/2006/main">
              <a:ext uri="{FF2B5EF4-FFF2-40B4-BE49-F238E27FC236}">
                <a16:creationId xmlns:a16="http://schemas.microsoft.com/office/drawing/2014/main" id="{EEA7152A-6715-4287-959A-DEB1B7C1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29" name="process-no-4">
            <a:extLst xmlns:a="http://schemas.openxmlformats.org/drawingml/2006/main">
              <a:ext uri="{FF2B5EF4-FFF2-40B4-BE49-F238E27FC236}">
                <a16:creationId xmlns:a16="http://schemas.microsoft.com/office/drawing/2014/main" id="{669285E9-5515-4238-97CD-87041121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05</a:t>
            </a:r>
          </a:p>
        </p:txBody>
      </p:sp>
      <p:sp>
        <p:nvSpPr>
          <p:cNvPr id="30" name="process-title-4">
            <a:extLst xmlns:a="http://schemas.openxmlformats.org/drawingml/2006/main">
              <a:ext uri="{FF2B5EF4-FFF2-40B4-BE49-F238E27FC236}">
                <a16:creationId xmlns:a16="http://schemas.microsoft.com/office/drawing/2014/main" id="{B05806A6-F518-4F3C-849E-37E5530A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验证结果</a:t>
            </a:r>
          </a:p>
        </p:txBody>
      </p:sp>
      <p:sp>
        <p:nvSpPr>
          <p:cNvPr id="31" name="process-detail-4">
            <a:extLst xmlns:a="http://schemas.openxmlformats.org/drawingml/2006/main">
              <a:ext uri="{FF2B5EF4-FFF2-40B4-BE49-F238E27FC236}">
                <a16:creationId xmlns:a16="http://schemas.microsoft.com/office/drawing/2014/main" id="{1E7BD84D-1B9F-4586-A69F-CBD342B0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</p:spTree>
    <p:extLst>
      <p:ext uri="{BB962C8B-B14F-4D97-AF65-F5344CB8AC3E}">
        <p14:creationId xmlns:p14="http://schemas.microsoft.com/office/powerpoint/2010/main" val="7251914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le-60-45">
            <a:extLst xmlns:a="http://schemas.openxmlformats.org/drawingml/2006/main">
              <a:ext uri="{FF2B5EF4-FFF2-40B4-BE49-F238E27FC236}">
                <a16:creationId xmlns:a16="http://schemas.microsoft.com/office/drawing/2014/main" id="{4C924570-BF30-4FDE-9E76-225B9700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09701B1E-11FC-4006-AB46-369B49D3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7E387A91-1627-4688-917E-817008AA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时间与里程碑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C58D3A-B7A6-419B-811A-C019ECC4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06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C6390DBD-A4EE-4C6F-B110-890FC9AA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598134F2-E420-4648-B430-26732DD4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3DB8FB7A-CD0D-4BED-A51A-98886450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FD018B8-A53D-4AEC-8E11-A88D0610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06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83C9E00A-1869-428E-9F77-7708F5D5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关键节点沿同一时间轴推进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2839F9C-8459-4E50-B30C-49D26B9C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时间、里程碑和交付物必须来自原始材料。</a:t>
            </a:r>
          </a:p>
        </p:txBody>
      </p:sp>
      <p:sp>
        <p:nvSpPr>
          <p:cNvPr id="11" name="rule-110-385">
            <a:extLst xmlns:a="http://schemas.openxmlformats.org/drawingml/2006/main">
              <a:ext uri="{FF2B5EF4-FFF2-40B4-BE49-F238E27FC236}">
                <a16:creationId xmlns:a16="http://schemas.microsoft.com/office/drawing/2014/main" id="{A9342F5B-6A10-425F-A2BE-BA49F008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ime-dot-0">
            <a:extLst xmlns:a="http://schemas.openxmlformats.org/drawingml/2006/main">
              <a:ext uri="{FF2B5EF4-FFF2-40B4-BE49-F238E27FC236}">
                <a16:creationId xmlns:a16="http://schemas.microsoft.com/office/drawing/2014/main" id="{D74CC9FD-6413-4F76-BC40-5ADB3AB5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ime-0">
            <a:extLst xmlns:a="http://schemas.openxmlformats.org/drawingml/2006/main">
              <a:ext uri="{FF2B5EF4-FFF2-40B4-BE49-F238E27FC236}">
                <a16:creationId xmlns:a16="http://schemas.microsoft.com/office/drawing/2014/main" id="{3B71A822-CCCF-449C-97FC-C6FB379E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当前</a:t>
            </a:r>
          </a:p>
        </p:txBody>
      </p:sp>
      <p:sp>
        <p:nvSpPr>
          <p:cNvPr id="14" name="time-title-0">
            <a:extLst xmlns:a="http://schemas.openxmlformats.org/drawingml/2006/main">
              <a:ext uri="{FF2B5EF4-FFF2-40B4-BE49-F238E27FC236}">
                <a16:creationId xmlns:a16="http://schemas.microsoft.com/office/drawing/2014/main" id="{C303263D-F1C8-4465-89F6-EC261850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当前基础</a:t>
            </a:r>
          </a:p>
        </p:txBody>
      </p:sp>
      <p:sp>
        <p:nvSpPr>
          <p:cNvPr id="15" name="time-detail-0">
            <a:extLst xmlns:a="http://schemas.openxmlformats.org/drawingml/2006/main">
              <a:ext uri="{FF2B5EF4-FFF2-40B4-BE49-F238E27FC236}">
                <a16:creationId xmlns:a16="http://schemas.microsoft.com/office/drawing/2014/main" id="{CBA652D8-DAC9-468B-A125-69A937B5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  <p:sp>
        <p:nvSpPr>
          <p:cNvPr id="16" name="time-dot-1">
            <a:extLst xmlns:a="http://schemas.openxmlformats.org/drawingml/2006/main">
              <a:ext uri="{FF2B5EF4-FFF2-40B4-BE49-F238E27FC236}">
                <a16:creationId xmlns:a16="http://schemas.microsoft.com/office/drawing/2014/main" id="{99B4B845-009E-49EE-B272-89916E1D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ime-1">
            <a:extLst xmlns:a="http://schemas.openxmlformats.org/drawingml/2006/main">
              <a:ext uri="{FF2B5EF4-FFF2-40B4-BE49-F238E27FC236}">
                <a16:creationId xmlns:a16="http://schemas.microsoft.com/office/drawing/2014/main" id="{0EF5FEAB-3EB7-43A7-8786-6FC32B98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T+1</a:t>
            </a:r>
          </a:p>
        </p:txBody>
      </p:sp>
      <p:sp>
        <p:nvSpPr>
          <p:cNvPr id="18" name="time-title-1">
            <a:extLst xmlns:a="http://schemas.openxmlformats.org/drawingml/2006/main">
              <a:ext uri="{FF2B5EF4-FFF2-40B4-BE49-F238E27FC236}">
                <a16:creationId xmlns:a16="http://schemas.microsoft.com/office/drawing/2014/main" id="{9BDFE997-6C8E-403A-8DC3-756BC015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完成审批</a:t>
            </a:r>
          </a:p>
        </p:txBody>
      </p:sp>
      <p:sp>
        <p:nvSpPr>
          <p:cNvPr id="19" name="time-detail-1">
            <a:extLst xmlns:a="http://schemas.openxmlformats.org/drawingml/2006/main">
              <a:ext uri="{FF2B5EF4-FFF2-40B4-BE49-F238E27FC236}">
                <a16:creationId xmlns:a16="http://schemas.microsoft.com/office/drawing/2014/main" id="{576063B8-1314-4DFB-BF0E-FA8BFFDF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  <p:sp>
        <p:nvSpPr>
          <p:cNvPr id="20" name="time-dot-2">
            <a:extLst xmlns:a="http://schemas.openxmlformats.org/drawingml/2006/main">
              <a:ext uri="{FF2B5EF4-FFF2-40B4-BE49-F238E27FC236}">
                <a16:creationId xmlns:a16="http://schemas.microsoft.com/office/drawing/2014/main" id="{0196C643-FD0E-40A1-8C80-AC8B9DD1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ime-2">
            <a:extLst xmlns:a="http://schemas.openxmlformats.org/drawingml/2006/main">
              <a:ext uri="{FF2B5EF4-FFF2-40B4-BE49-F238E27FC236}">
                <a16:creationId xmlns:a16="http://schemas.microsoft.com/office/drawing/2014/main" id="{BF89A8A5-819A-451C-AEDA-DB1D8E31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T+2</a:t>
            </a:r>
          </a:p>
        </p:txBody>
      </p:sp>
      <p:sp>
        <p:nvSpPr>
          <p:cNvPr id="22" name="time-title-2">
            <a:extLst xmlns:a="http://schemas.openxmlformats.org/drawingml/2006/main">
              <a:ext uri="{FF2B5EF4-FFF2-40B4-BE49-F238E27FC236}">
                <a16:creationId xmlns:a16="http://schemas.microsoft.com/office/drawing/2014/main" id="{E43A184C-50D2-4F1F-94F5-69D050E5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进入运营</a:t>
            </a:r>
          </a:p>
        </p:txBody>
      </p:sp>
      <p:sp>
        <p:nvSpPr>
          <p:cNvPr id="23" name="time-detail-2">
            <a:extLst xmlns:a="http://schemas.openxmlformats.org/drawingml/2006/main">
              <a:ext uri="{FF2B5EF4-FFF2-40B4-BE49-F238E27FC236}">
                <a16:creationId xmlns:a16="http://schemas.microsoft.com/office/drawing/2014/main" id="{4300C92A-A4D8-4ECA-AF8C-EE1BADDB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  <p:sp>
        <p:nvSpPr>
          <p:cNvPr id="24" name="time-dot-3">
            <a:extLst xmlns:a="http://schemas.openxmlformats.org/drawingml/2006/main">
              <a:ext uri="{FF2B5EF4-FFF2-40B4-BE49-F238E27FC236}">
                <a16:creationId xmlns:a16="http://schemas.microsoft.com/office/drawing/2014/main" id="{94F51D32-A9E9-4AB9-8BA2-F0D3B9C7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ime-3">
            <a:extLst xmlns:a="http://schemas.openxmlformats.org/drawingml/2006/main">
              <a:ext uri="{FF2B5EF4-FFF2-40B4-BE49-F238E27FC236}">
                <a16:creationId xmlns:a16="http://schemas.microsoft.com/office/drawing/2014/main" id="{E743B9F3-A13F-4D3F-81C2-0F16ED0F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目标节点</a:t>
            </a:r>
          </a:p>
        </p:txBody>
      </p:sp>
      <p:sp>
        <p:nvSpPr>
          <p:cNvPr id="26" name="time-title-3">
            <a:extLst xmlns:a="http://schemas.openxmlformats.org/drawingml/2006/main">
              <a:ext uri="{FF2B5EF4-FFF2-40B4-BE49-F238E27FC236}">
                <a16:creationId xmlns:a16="http://schemas.microsoft.com/office/drawing/2014/main" id="{FC7F194B-CB35-4F39-ADAE-8FB974A2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形成目标能力</a:t>
            </a:r>
          </a:p>
        </p:txBody>
      </p:sp>
      <p:sp>
        <p:nvSpPr>
          <p:cNvPr id="27" name="time-detail-3">
            <a:extLst xmlns:a="http://schemas.openxmlformats.org/drawingml/2006/main">
              <a:ext uri="{FF2B5EF4-FFF2-40B4-BE49-F238E27FC236}">
                <a16:creationId xmlns:a16="http://schemas.microsoft.com/office/drawing/2014/main" id="{5D836F98-81AF-480D-A3F2-CB09E3F8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</p:spTree>
    <p:extLst>
      <p:ext uri="{BB962C8B-B14F-4D97-AF65-F5344CB8AC3E}">
        <p14:creationId xmlns:p14="http://schemas.microsoft.com/office/powerpoint/2010/main" val="19057427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rule-60-45">
            <a:extLst xmlns:a="http://schemas.openxmlformats.org/drawingml/2006/main">
              <a:ext uri="{FF2B5EF4-FFF2-40B4-BE49-F238E27FC236}">
                <a16:creationId xmlns:a16="http://schemas.microsoft.com/office/drawing/2014/main" id="{156D17B4-04C2-403D-BD57-ACDD712B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EEE006EE-2242-47B9-9AB2-C9DAD137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3B235BEE-74FF-424F-8B71-C0BEDBC1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角色与职责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0AEDD8-E612-4AD4-B6FC-FE042608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07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E15862B7-3720-4E85-9EFA-B9D05835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FFD5BF9A-C37D-465B-8536-074C7AE1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587A06A0-0F83-42B3-9FA4-94898414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8B36C2D-E445-437A-B15B-D0A92BEC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07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87585B56-2009-428B-A12A-D46CB441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每个角色沿同一流程承担明确责任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CE095DC-8A2F-4636-BEB1-C54ED750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用角色和动作组织阅读，不把职责拆成孤立卡片。</a:t>
            </a:r>
          </a:p>
        </p:txBody>
      </p:sp>
      <p:sp>
        <p:nvSpPr>
          <p:cNvPr id="11" name="lane-0">
            <a:extLst xmlns:a="http://schemas.openxmlformats.org/drawingml/2006/main">
              <a:ext uri="{FF2B5EF4-FFF2-40B4-BE49-F238E27FC236}">
                <a16:creationId xmlns:a16="http://schemas.microsoft.com/office/drawing/2014/main" id="{BD44708B-E34C-4317-BA9C-15564FFF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lane-actor-0">
            <a:extLst xmlns:a="http://schemas.openxmlformats.org/drawingml/2006/main">
              <a:ext uri="{FF2B5EF4-FFF2-40B4-BE49-F238E27FC236}">
                <a16:creationId xmlns:a16="http://schemas.microsoft.com/office/drawing/2014/main" id="{4B1FE841-1CA7-49BF-AF0E-4D6079C4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业务 Owner</a:t>
            </a:r>
          </a:p>
        </p:txBody>
      </p:sp>
      <p:sp>
        <p:nvSpPr>
          <p:cNvPr id="13" name="lane-0-0">
            <a:extLst xmlns:a="http://schemas.openxmlformats.org/drawingml/2006/main">
              <a:ext uri="{FF2B5EF4-FFF2-40B4-BE49-F238E27FC236}">
                <a16:creationId xmlns:a16="http://schemas.microsoft.com/office/drawing/2014/main" id="{096F6677-1D7E-4646-AF85-59B49739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输入：主要责任</a:t>
            </a:r>
          </a:p>
        </p:txBody>
      </p:sp>
      <p:sp>
        <p:nvSpPr>
          <p:cNvPr id="14" name="lane-0-1">
            <a:extLst xmlns:a="http://schemas.openxmlformats.org/drawingml/2006/main">
              <a:ext uri="{FF2B5EF4-FFF2-40B4-BE49-F238E27FC236}">
                <a16:creationId xmlns:a16="http://schemas.microsoft.com/office/drawing/2014/main" id="{3D54A54E-965D-4988-893F-4BB5B956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判断：配合</a:t>
            </a:r>
          </a:p>
        </p:txBody>
      </p:sp>
      <p:sp>
        <p:nvSpPr>
          <p:cNvPr id="15" name="lane-0-2">
            <a:extLst xmlns:a="http://schemas.openxmlformats.org/drawingml/2006/main">
              <a:ext uri="{FF2B5EF4-FFF2-40B4-BE49-F238E27FC236}">
                <a16:creationId xmlns:a16="http://schemas.microsoft.com/office/drawing/2014/main" id="{46BFFBDE-A2E3-4D65-B572-2CC2B5B3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行动：配合</a:t>
            </a:r>
          </a:p>
        </p:txBody>
      </p:sp>
      <p:sp>
        <p:nvSpPr>
          <p:cNvPr id="16" name="lane-0-3">
            <a:extLst xmlns:a="http://schemas.openxmlformats.org/drawingml/2006/main">
              <a:ext uri="{FF2B5EF4-FFF2-40B4-BE49-F238E27FC236}">
                <a16:creationId xmlns:a16="http://schemas.microsoft.com/office/drawing/2014/main" id="{D22B7343-CE55-44DB-844C-1FA60B7F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结果：配合</a:t>
            </a:r>
          </a:p>
        </p:txBody>
      </p:sp>
      <p:sp>
        <p:nvSpPr>
          <p:cNvPr id="17" name="lane-1">
            <a:extLst xmlns:a="http://schemas.openxmlformats.org/drawingml/2006/main">
              <a:ext uri="{FF2B5EF4-FFF2-40B4-BE49-F238E27FC236}">
                <a16:creationId xmlns:a16="http://schemas.microsoft.com/office/drawing/2014/main" id="{8C2724BB-937B-4849-9B46-64ABCCD9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9875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8" name="lane-actor-1">
            <a:extLst xmlns:a="http://schemas.openxmlformats.org/drawingml/2006/main">
              <a:ext uri="{FF2B5EF4-FFF2-40B4-BE49-F238E27FC236}">
                <a16:creationId xmlns:a16="http://schemas.microsoft.com/office/drawing/2014/main" id="{BECB3CCB-F4A6-4CDC-A461-AFE78C75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数据 / 风险</a:t>
            </a:r>
          </a:p>
        </p:txBody>
      </p:sp>
      <p:sp>
        <p:nvSpPr>
          <p:cNvPr id="19" name="lane-1-0">
            <a:extLst xmlns:a="http://schemas.openxmlformats.org/drawingml/2006/main">
              <a:ext uri="{FF2B5EF4-FFF2-40B4-BE49-F238E27FC236}">
                <a16:creationId xmlns:a16="http://schemas.microsoft.com/office/drawing/2014/main" id="{D37C3582-5E3A-438C-8E6E-1D946770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输入：配合</a:t>
            </a:r>
          </a:p>
        </p:txBody>
      </p:sp>
      <p:sp>
        <p:nvSpPr>
          <p:cNvPr id="20" name="lane-1-1">
            <a:extLst xmlns:a="http://schemas.openxmlformats.org/drawingml/2006/main">
              <a:ext uri="{FF2B5EF4-FFF2-40B4-BE49-F238E27FC236}">
                <a16:creationId xmlns:a16="http://schemas.microsoft.com/office/drawing/2014/main" id="{5E067852-B61F-43C7-9B2F-64340009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判断：主要责任</a:t>
            </a:r>
          </a:p>
        </p:txBody>
      </p:sp>
      <p:sp>
        <p:nvSpPr>
          <p:cNvPr id="21" name="lane-1-2">
            <a:extLst xmlns:a="http://schemas.openxmlformats.org/drawingml/2006/main">
              <a:ext uri="{FF2B5EF4-FFF2-40B4-BE49-F238E27FC236}">
                <a16:creationId xmlns:a16="http://schemas.microsoft.com/office/drawing/2014/main" id="{4B45A059-E1F1-454D-910B-A51ADBE1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行动：配合</a:t>
            </a:r>
          </a:p>
        </p:txBody>
      </p:sp>
      <p:sp>
        <p:nvSpPr>
          <p:cNvPr id="22" name="lane-1-3">
            <a:extLst xmlns:a="http://schemas.openxmlformats.org/drawingml/2006/main">
              <a:ext uri="{FF2B5EF4-FFF2-40B4-BE49-F238E27FC236}">
                <a16:creationId xmlns:a16="http://schemas.microsoft.com/office/drawing/2014/main" id="{5569D57F-80AB-4F10-9639-CF85C7C7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结果：配合</a:t>
            </a:r>
          </a:p>
        </p:txBody>
      </p:sp>
      <p:sp>
        <p:nvSpPr>
          <p:cNvPr id="23" name="lane-2">
            <a:extLst xmlns:a="http://schemas.openxmlformats.org/drawingml/2006/main">
              <a:ext uri="{FF2B5EF4-FFF2-40B4-BE49-F238E27FC236}">
                <a16:creationId xmlns:a16="http://schemas.microsoft.com/office/drawing/2014/main" id="{28DCE4C7-B641-4684-AB58-DC11E0FA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lane-actor-2">
            <a:extLst xmlns:a="http://schemas.openxmlformats.org/drawingml/2006/main">
              <a:ext uri="{FF2B5EF4-FFF2-40B4-BE49-F238E27FC236}">
                <a16:creationId xmlns:a16="http://schemas.microsoft.com/office/drawing/2014/main" id="{4BEFA98F-885B-4E26-A7C7-04AC2AA7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合作机构</a:t>
            </a:r>
          </a:p>
        </p:txBody>
      </p:sp>
      <p:sp>
        <p:nvSpPr>
          <p:cNvPr id="25" name="lane-2-0">
            <a:extLst xmlns:a="http://schemas.openxmlformats.org/drawingml/2006/main">
              <a:ext uri="{FF2B5EF4-FFF2-40B4-BE49-F238E27FC236}">
                <a16:creationId xmlns:a16="http://schemas.microsoft.com/office/drawing/2014/main" id="{80FC4BFE-0F07-4169-AC5B-65130113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输入：配合</a:t>
            </a:r>
          </a:p>
        </p:txBody>
      </p:sp>
      <p:sp>
        <p:nvSpPr>
          <p:cNvPr id="26" name="lane-2-1">
            <a:extLst xmlns:a="http://schemas.openxmlformats.org/drawingml/2006/main">
              <a:ext uri="{FF2B5EF4-FFF2-40B4-BE49-F238E27FC236}">
                <a16:creationId xmlns:a16="http://schemas.microsoft.com/office/drawing/2014/main" id="{FBBDB7E3-DE17-4BCE-91DB-C56C8362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判断：配合</a:t>
            </a:r>
          </a:p>
        </p:txBody>
      </p:sp>
      <p:sp>
        <p:nvSpPr>
          <p:cNvPr id="27" name="lane-2-2">
            <a:extLst xmlns:a="http://schemas.openxmlformats.org/drawingml/2006/main">
              <a:ext uri="{FF2B5EF4-FFF2-40B4-BE49-F238E27FC236}">
                <a16:creationId xmlns:a16="http://schemas.microsoft.com/office/drawing/2014/main" id="{1C6A484B-6477-45D2-818E-8E7BE5A4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行动：主要责任</a:t>
            </a:r>
          </a:p>
        </p:txBody>
      </p:sp>
      <p:sp>
        <p:nvSpPr>
          <p:cNvPr id="28" name="lane-2-3">
            <a:extLst xmlns:a="http://schemas.openxmlformats.org/drawingml/2006/main">
              <a:ext uri="{FF2B5EF4-FFF2-40B4-BE49-F238E27FC236}">
                <a16:creationId xmlns:a16="http://schemas.microsoft.com/office/drawing/2014/main" id="{81AACBA2-960B-46ED-B0CA-3E818963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结果：配合</a:t>
            </a:r>
          </a:p>
        </p:txBody>
      </p:sp>
      <p:sp>
        <p:nvSpPr>
          <p:cNvPr id="29" name="lane-3">
            <a:extLst xmlns:a="http://schemas.openxmlformats.org/drawingml/2006/main">
              <a:ext uri="{FF2B5EF4-FFF2-40B4-BE49-F238E27FC236}">
                <a16:creationId xmlns:a16="http://schemas.microsoft.com/office/drawing/2014/main" id="{4D940709-8FD2-44E3-9E46-FAD059B7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lane-actor-3">
            <a:extLst xmlns:a="http://schemas.openxmlformats.org/drawingml/2006/main">
              <a:ext uri="{FF2B5EF4-FFF2-40B4-BE49-F238E27FC236}">
                <a16:creationId xmlns:a16="http://schemas.microsoft.com/office/drawing/2014/main" id="{D45F05D4-FF85-44B0-A56F-5F316D0C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管理层</a:t>
            </a:r>
          </a:p>
        </p:txBody>
      </p:sp>
      <p:sp>
        <p:nvSpPr>
          <p:cNvPr id="31" name="lane-3-0">
            <a:extLst xmlns:a="http://schemas.openxmlformats.org/drawingml/2006/main">
              <a:ext uri="{FF2B5EF4-FFF2-40B4-BE49-F238E27FC236}">
                <a16:creationId xmlns:a16="http://schemas.microsoft.com/office/drawing/2014/main" id="{8F844BAD-0F6D-47D6-83B9-372E94F2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输入：配合</a:t>
            </a:r>
          </a:p>
        </p:txBody>
      </p:sp>
      <p:sp>
        <p:nvSpPr>
          <p:cNvPr id="32" name="lane-3-1">
            <a:extLst xmlns:a="http://schemas.openxmlformats.org/drawingml/2006/main">
              <a:ext uri="{FF2B5EF4-FFF2-40B4-BE49-F238E27FC236}">
                <a16:creationId xmlns:a16="http://schemas.microsoft.com/office/drawing/2014/main" id="{45923FAC-712F-4A85-8F11-60900D8C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判断：配合</a:t>
            </a:r>
          </a:p>
        </p:txBody>
      </p:sp>
      <p:sp>
        <p:nvSpPr>
          <p:cNvPr id="33" name="lane-3-2">
            <a:extLst xmlns:a="http://schemas.openxmlformats.org/drawingml/2006/main">
              <a:ext uri="{FF2B5EF4-FFF2-40B4-BE49-F238E27FC236}">
                <a16:creationId xmlns:a16="http://schemas.microsoft.com/office/drawing/2014/main" id="{D53FDD32-4C18-4B61-AA90-C4338899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行动：配合</a:t>
            </a:r>
          </a:p>
        </p:txBody>
      </p:sp>
      <p:sp>
        <p:nvSpPr>
          <p:cNvPr id="34" name="lane-3-3">
            <a:extLst xmlns:a="http://schemas.openxmlformats.org/drawingml/2006/main">
              <a:ext uri="{FF2B5EF4-FFF2-40B4-BE49-F238E27FC236}">
                <a16:creationId xmlns:a16="http://schemas.microsoft.com/office/drawing/2014/main" id="{0CEC4ACA-B451-4FA4-8880-163A4E9B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结果：主要责任</a:t>
            </a:r>
          </a:p>
        </p:txBody>
      </p:sp>
    </p:spTree>
    <p:extLst>
      <p:ext uri="{BB962C8B-B14F-4D97-AF65-F5344CB8AC3E}">
        <p14:creationId xmlns:p14="http://schemas.microsoft.com/office/powerpoint/2010/main" val="317317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rule-60-45">
            <a:extLst xmlns:a="http://schemas.openxmlformats.org/drawingml/2006/main">
              <a:ext uri="{FF2B5EF4-FFF2-40B4-BE49-F238E27FC236}">
                <a16:creationId xmlns:a16="http://schemas.microsoft.com/office/drawing/2014/main" id="{1C23E234-BF24-4FF8-96C4-02DC332B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23D73EDC-74DC-4489-BEA7-698C8C4A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78FC80E0-59CC-4474-8D64-A3EBA4BB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方案比较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1E7E9B-C039-43A9-932D-D743FAF1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08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43730EBD-ACD5-42AA-B243-6D0CA702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1868D01D-1E20-45E8-96A2-B3F67B91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CC30CD10-41D7-4CD4-A4D9-8CB64798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0531B33-A043-4EC9-97F5-B8DB5619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08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00B8BDC-F5E3-4BE8-9B0A-E4984A93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两个方案按同一维度比较，差异一眼可见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37A1F024-1E7A-45EF-8D16-538519BD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评价维度保持一致，结论不能由版式制造。</a:t>
            </a:r>
          </a:p>
        </p:txBody>
      </p:sp>
      <p:sp>
        <p:nvSpPr>
          <p:cNvPr id="11" name="comparison-0">
            <a:extLst xmlns:a="http://schemas.openxmlformats.org/drawingml/2006/main">
              <a:ext uri="{FF2B5EF4-FFF2-40B4-BE49-F238E27FC236}">
                <a16:creationId xmlns:a16="http://schemas.microsoft.com/office/drawing/2014/main" id="{509B8285-EFC5-4D28-8C95-5A949BE7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429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comparison-accent-0">
            <a:extLst xmlns:a="http://schemas.openxmlformats.org/drawingml/2006/main">
              <a:ext uri="{FF2B5EF4-FFF2-40B4-BE49-F238E27FC236}">
                <a16:creationId xmlns:a16="http://schemas.microsoft.com/office/drawing/2014/main" id="{01A60742-5F08-46C4-84BE-F71BBCDD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42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mparison-title-0">
            <a:extLst xmlns:a="http://schemas.openxmlformats.org/drawingml/2006/main">
              <a:ext uri="{FF2B5EF4-FFF2-40B4-BE49-F238E27FC236}">
                <a16:creationId xmlns:a16="http://schemas.microsoft.com/office/drawing/2014/main" id="{E1550E69-158B-4512-8FD2-756C57EA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方案 A</a:t>
            </a:r>
          </a:p>
        </p:txBody>
      </p:sp>
      <p:sp>
        <p:nvSpPr>
          <p:cNvPr id="14" name="rule-90-292">
            <a:extLst xmlns:a="http://schemas.openxmlformats.org/drawingml/2006/main">
              <a:ext uri="{FF2B5EF4-FFF2-40B4-BE49-F238E27FC236}">
                <a16:creationId xmlns:a16="http://schemas.microsoft.com/office/drawing/2014/main" id="{1397175F-14E6-4E6C-AD62-551FB9BC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mparison-label-0-0">
            <a:extLst xmlns:a="http://schemas.openxmlformats.org/drawingml/2006/main">
              <a:ext uri="{FF2B5EF4-FFF2-40B4-BE49-F238E27FC236}">
                <a16:creationId xmlns:a16="http://schemas.microsoft.com/office/drawing/2014/main" id="{8D654F39-48C2-4DCB-B9F9-0B9D4488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适用场景</a:t>
            </a:r>
          </a:p>
        </p:txBody>
      </p:sp>
      <p:sp>
        <p:nvSpPr>
          <p:cNvPr id="16" name="comparison-value-0-0">
            <a:extLst xmlns:a="http://schemas.openxmlformats.org/drawingml/2006/main">
              <a:ext uri="{FF2B5EF4-FFF2-40B4-BE49-F238E27FC236}">
                <a16:creationId xmlns:a16="http://schemas.microsoft.com/office/drawing/2014/main" id="{FB719637-F483-41DE-946B-81B55FBB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76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17" name="rule-90-356">
            <a:extLst xmlns:a="http://schemas.openxmlformats.org/drawingml/2006/main">
              <a:ext uri="{FF2B5EF4-FFF2-40B4-BE49-F238E27FC236}">
                <a16:creationId xmlns:a16="http://schemas.microsoft.com/office/drawing/2014/main" id="{D0C3283C-9FEC-47CB-B899-FEBEC6E2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mparison-label-0-1">
            <a:extLst xmlns:a="http://schemas.openxmlformats.org/drawingml/2006/main">
              <a:ext uri="{FF2B5EF4-FFF2-40B4-BE49-F238E27FC236}">
                <a16:creationId xmlns:a16="http://schemas.microsoft.com/office/drawing/2014/main" id="{C9D089B4-AA25-49C9-998A-9DE3F832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关键优势</a:t>
            </a:r>
          </a:p>
        </p:txBody>
      </p:sp>
      <p:sp>
        <p:nvSpPr>
          <p:cNvPr id="19" name="comparison-value-0-1">
            <a:extLst xmlns:a="http://schemas.openxmlformats.org/drawingml/2006/main">
              <a:ext uri="{FF2B5EF4-FFF2-40B4-BE49-F238E27FC236}">
                <a16:creationId xmlns:a16="http://schemas.microsoft.com/office/drawing/2014/main" id="{F4DD276B-1280-43A3-89AA-55035BC5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86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20" name="rule-90-420">
            <a:extLst xmlns:a="http://schemas.openxmlformats.org/drawingml/2006/main">
              <a:ext uri="{FF2B5EF4-FFF2-40B4-BE49-F238E27FC236}">
                <a16:creationId xmlns:a16="http://schemas.microsoft.com/office/drawing/2014/main" id="{FBECAA1A-F2FB-4411-B513-EDC7CA81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mparison-label-0-2">
            <a:extLst xmlns:a="http://schemas.openxmlformats.org/drawingml/2006/main">
              <a:ext uri="{FF2B5EF4-FFF2-40B4-BE49-F238E27FC236}">
                <a16:creationId xmlns:a16="http://schemas.microsoft.com/office/drawing/2014/main" id="{3AFEEF18-9966-4D1C-81DF-52275639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主要限制</a:t>
            </a:r>
          </a:p>
        </p:txBody>
      </p:sp>
      <p:sp>
        <p:nvSpPr>
          <p:cNvPr id="22" name="comparison-value-0-2">
            <a:extLst xmlns:a="http://schemas.openxmlformats.org/drawingml/2006/main">
              <a:ext uri="{FF2B5EF4-FFF2-40B4-BE49-F238E27FC236}">
                <a16:creationId xmlns:a16="http://schemas.microsoft.com/office/drawing/2014/main" id="{597C8738-1094-462B-8481-2DBC79B4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95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23" name="rule-90-484">
            <a:extLst xmlns:a="http://schemas.openxmlformats.org/drawingml/2006/main">
              <a:ext uri="{FF2B5EF4-FFF2-40B4-BE49-F238E27FC236}">
                <a16:creationId xmlns:a16="http://schemas.microsoft.com/office/drawing/2014/main" id="{0B0C5D66-3E74-48D3-A4F5-DF1EC768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mparison-label-0-3">
            <a:extLst xmlns:a="http://schemas.openxmlformats.org/drawingml/2006/main">
              <a:ext uri="{FF2B5EF4-FFF2-40B4-BE49-F238E27FC236}">
                <a16:creationId xmlns:a16="http://schemas.microsoft.com/office/drawing/2014/main" id="{8D9096A8-8D3A-4795-AE4F-F7039158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053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验证条件</a:t>
            </a:r>
          </a:p>
        </p:txBody>
      </p:sp>
      <p:sp>
        <p:nvSpPr>
          <p:cNvPr id="25" name="comparison-value-0-3">
            <a:extLst xmlns:a="http://schemas.openxmlformats.org/drawingml/2006/main">
              <a:ext uri="{FF2B5EF4-FFF2-40B4-BE49-F238E27FC236}">
                <a16:creationId xmlns:a16="http://schemas.microsoft.com/office/drawing/2014/main" id="{1A2E2374-05E2-490B-B194-945A5165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05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26" name="comparison-1">
            <a:extLst xmlns:a="http://schemas.openxmlformats.org/drawingml/2006/main">
              <a:ext uri="{FF2B5EF4-FFF2-40B4-BE49-F238E27FC236}">
                <a16:creationId xmlns:a16="http://schemas.microsoft.com/office/drawing/2014/main" id="{36480E75-9D83-46BC-9CAA-97E418C2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7" name="comparison-accent-1">
            <a:extLst xmlns:a="http://schemas.openxmlformats.org/drawingml/2006/main">
              <a:ext uri="{FF2B5EF4-FFF2-40B4-BE49-F238E27FC236}">
                <a16:creationId xmlns:a16="http://schemas.microsoft.com/office/drawing/2014/main" id="{3980B2AC-59FB-477E-BEE4-A833F1F9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rison-title-1">
            <a:extLst xmlns:a="http://schemas.openxmlformats.org/drawingml/2006/main">
              <a:ext uri="{FF2B5EF4-FFF2-40B4-BE49-F238E27FC236}">
                <a16:creationId xmlns:a16="http://schemas.microsoft.com/office/drawing/2014/main" id="{4AF857AE-D072-4158-A0F6-1496F16F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方案 B</a:t>
            </a:r>
          </a:p>
        </p:txBody>
      </p:sp>
      <p:sp>
        <p:nvSpPr>
          <p:cNvPr id="29" name="rule-680-292">
            <a:extLst xmlns:a="http://schemas.openxmlformats.org/drawingml/2006/main">
              <a:ext uri="{FF2B5EF4-FFF2-40B4-BE49-F238E27FC236}">
                <a16:creationId xmlns:a16="http://schemas.microsoft.com/office/drawing/2014/main" id="{152A5501-A2B1-42D2-AE28-F727363E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omparison-label-1-0">
            <a:extLst xmlns:a="http://schemas.openxmlformats.org/drawingml/2006/main">
              <a:ext uri="{FF2B5EF4-FFF2-40B4-BE49-F238E27FC236}">
                <a16:creationId xmlns:a16="http://schemas.microsoft.com/office/drawing/2014/main" id="{865EB682-3967-4AAB-8F7C-D0047990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76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适用场景</a:t>
            </a:r>
          </a:p>
        </p:txBody>
      </p:sp>
      <p:sp>
        <p:nvSpPr>
          <p:cNvPr id="31" name="comparison-value-1-0">
            <a:extLst xmlns:a="http://schemas.openxmlformats.org/drawingml/2006/main">
              <a:ext uri="{FF2B5EF4-FFF2-40B4-BE49-F238E27FC236}">
                <a16:creationId xmlns:a16="http://schemas.microsoft.com/office/drawing/2014/main" id="{F1D793FA-2668-4898-8619-FA802AAB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876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32" name="rule-680-356">
            <a:extLst xmlns:a="http://schemas.openxmlformats.org/drawingml/2006/main">
              <a:ext uri="{FF2B5EF4-FFF2-40B4-BE49-F238E27FC236}">
                <a16:creationId xmlns:a16="http://schemas.microsoft.com/office/drawing/2014/main" id="{02B08850-2BC1-40EF-904C-EB1A8E74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omparison-label-1-1">
            <a:extLst xmlns:a="http://schemas.openxmlformats.org/drawingml/2006/main">
              <a:ext uri="{FF2B5EF4-FFF2-40B4-BE49-F238E27FC236}">
                <a16:creationId xmlns:a16="http://schemas.microsoft.com/office/drawing/2014/main" id="{307C41D6-D13F-4D46-A904-CB1E360B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关键优势</a:t>
            </a:r>
          </a:p>
        </p:txBody>
      </p:sp>
      <p:sp>
        <p:nvSpPr>
          <p:cNvPr id="34" name="comparison-value-1-1">
            <a:extLst xmlns:a="http://schemas.openxmlformats.org/drawingml/2006/main">
              <a:ext uri="{FF2B5EF4-FFF2-40B4-BE49-F238E27FC236}">
                <a16:creationId xmlns:a16="http://schemas.microsoft.com/office/drawing/2014/main" id="{E10BC334-F43B-4462-A907-29F4DC69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86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35" name="rule-680-420">
            <a:extLst xmlns:a="http://schemas.openxmlformats.org/drawingml/2006/main">
              <a:ext uri="{FF2B5EF4-FFF2-40B4-BE49-F238E27FC236}">
                <a16:creationId xmlns:a16="http://schemas.microsoft.com/office/drawing/2014/main" id="{334464A7-C757-4F89-BB47-D9FDE862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rison-label-1-2">
            <a:extLst xmlns:a="http://schemas.openxmlformats.org/drawingml/2006/main">
              <a:ext uri="{FF2B5EF4-FFF2-40B4-BE49-F238E27FC236}">
                <a16:creationId xmlns:a16="http://schemas.microsoft.com/office/drawing/2014/main" id="{4482AAE1-3CB9-4D39-9325-9D6BC783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主要限制</a:t>
            </a:r>
          </a:p>
        </p:txBody>
      </p:sp>
      <p:sp>
        <p:nvSpPr>
          <p:cNvPr id="37" name="comparison-value-1-2">
            <a:extLst xmlns:a="http://schemas.openxmlformats.org/drawingml/2006/main">
              <a:ext uri="{FF2B5EF4-FFF2-40B4-BE49-F238E27FC236}">
                <a16:creationId xmlns:a16="http://schemas.microsoft.com/office/drawing/2014/main" id="{C8F6F123-98C8-4F15-8320-CEEF5435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95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38" name="rule-680-484">
            <a:extLst xmlns:a="http://schemas.openxmlformats.org/drawingml/2006/main">
              <a:ext uri="{FF2B5EF4-FFF2-40B4-BE49-F238E27FC236}">
                <a16:creationId xmlns:a16="http://schemas.microsoft.com/office/drawing/2014/main" id="{9F514BDF-C819-4B9A-9B26-4962A35B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101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rison-label-1-3">
            <a:extLst xmlns:a="http://schemas.openxmlformats.org/drawingml/2006/main">
              <a:ext uri="{FF2B5EF4-FFF2-40B4-BE49-F238E27FC236}">
                <a16:creationId xmlns:a16="http://schemas.microsoft.com/office/drawing/2014/main" id="{3E281F5F-F046-406B-9A7D-7AAE1A75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053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验证条件</a:t>
            </a:r>
          </a:p>
        </p:txBody>
      </p:sp>
      <p:sp>
        <p:nvSpPr>
          <p:cNvPr id="40" name="comparison-value-1-3">
            <a:extLst xmlns:a="http://schemas.openxmlformats.org/drawingml/2006/main">
              <a:ext uri="{FF2B5EF4-FFF2-40B4-BE49-F238E27FC236}">
                <a16:creationId xmlns:a16="http://schemas.microsoft.com/office/drawing/2014/main" id="{A2442C6F-FF1A-4B00-A54A-50C3E908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705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</p:spTree>
    <p:extLst>
      <p:ext uri="{BB962C8B-B14F-4D97-AF65-F5344CB8AC3E}">
        <p14:creationId xmlns:p14="http://schemas.microsoft.com/office/powerpoint/2010/main" val="5330111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rule-60-45">
            <a:extLst xmlns:a="http://schemas.openxmlformats.org/drawingml/2006/main">
              <a:ext uri="{FF2B5EF4-FFF2-40B4-BE49-F238E27FC236}">
                <a16:creationId xmlns:a16="http://schemas.microsoft.com/office/drawing/2014/main" id="{1C06AEE5-4E1C-49DD-9D73-0B5C0B26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481729FC-B4FA-4163-989C-18CAA177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89A24B86-4155-42C1-89F5-ACE454FD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分类矩阵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D02C2F-BA0D-4F0C-A14E-09A61751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09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1356C82F-20E9-424E-936D-4AC2E4DC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78CAE17E-B8E2-45DA-B610-9CF227EB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F3F87EC1-0C67-4536-91FE-4F715D40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B3CC9A1-319F-477B-9804-77CDDF2D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09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AC15BDE-5823-4249-9A40-4A372B19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两个分类维度交叉定位机会与风险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B98FF07B-4C91-437D-BE59-054C5DD7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用于类别 × 类别，不用于伪造数值热力图。</a:t>
            </a:r>
          </a:p>
        </p:txBody>
      </p:sp>
      <p:sp>
        <p:nvSpPr>
          <p:cNvPr id="11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E5293492-D711-4CD8-B583-03C055CB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DF8"/>
                </a:solidFill>
              </a:defRPr>
            </a:pPr>
            <a:r>
              <a:rPr sz="1125" b="1">
                <a:solidFill>
                  <a:srgbClr val="FFFDF8"/>
                </a:solidFill>
              </a:rPr>
              <a:t>低影响</a:t>
            </a:r>
          </a:p>
        </p:txBody>
      </p:sp>
      <p:sp>
        <p:nvSpPr>
          <p:cNvPr id="12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47FE8AD9-BAAF-4AFC-A2EE-BE0973AF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DF8"/>
                </a:solidFill>
              </a:defRPr>
            </a:pPr>
            <a:r>
              <a:rPr sz="1125" b="1">
                <a:solidFill>
                  <a:srgbClr val="FFFDF8"/>
                </a:solidFill>
              </a:rPr>
              <a:t>中影响</a:t>
            </a:r>
          </a:p>
        </p:txBody>
      </p:sp>
      <p:sp>
        <p:nvSpPr>
          <p:cNvPr id="13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66A0FCD1-253E-4243-BDB2-409F2723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DF8"/>
                </a:solidFill>
              </a:defRPr>
            </a:pPr>
            <a:r>
              <a:rPr sz="1125" b="1">
                <a:solidFill>
                  <a:srgbClr val="FFFDF8"/>
                </a:solidFill>
              </a:rPr>
              <a:t>高影响</a:t>
            </a:r>
          </a:p>
        </p:txBody>
      </p:sp>
      <p:sp>
        <p:nvSpPr>
          <p:cNvPr id="14" name="matrix-head">
            <a:extLst xmlns:a="http://schemas.openxmlformats.org/drawingml/2006/main">
              <a:ext uri="{FF2B5EF4-FFF2-40B4-BE49-F238E27FC236}">
                <a16:creationId xmlns:a16="http://schemas.microsoft.com/office/drawing/2014/main" id="{3910DB26-C159-4715-9976-26F14CF7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14500"/>
            <a:ext cx="8001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2377640A-C8C3-4B44-9DF8-2D4ADC22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高可行性</a:t>
            </a:r>
          </a:p>
        </p:txBody>
      </p:sp>
      <p:sp>
        <p:nvSpPr>
          <p:cNvPr id="16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C27EC1B0-5602-4FE4-A17D-B53D0812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5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matrix-copy-0-0">
            <a:extLst xmlns:a="http://schemas.openxmlformats.org/drawingml/2006/main">
              <a:ext uri="{FF2B5EF4-FFF2-40B4-BE49-F238E27FC236}">
                <a16:creationId xmlns:a16="http://schemas.microsoft.com/office/drawing/2014/main" id="{C7307ABF-4A78-4496-B5D7-3359E5AA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18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B8A0B39A-47F0-4699-9272-1BEFBF79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3336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ACB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9" name="matrix-copy-0-1">
            <a:extLst xmlns:a="http://schemas.openxmlformats.org/drawingml/2006/main">
              <a:ext uri="{FF2B5EF4-FFF2-40B4-BE49-F238E27FC236}">
                <a16:creationId xmlns:a16="http://schemas.microsoft.com/office/drawing/2014/main" id="{6F92368E-D298-436D-BD07-4842CE80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0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0C076F96-5C8E-4D25-9B83-12D32F85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336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CDB2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1" name="matrix-copy-0-2">
            <a:extLst xmlns:a="http://schemas.openxmlformats.org/drawingml/2006/main">
              <a:ext uri="{FF2B5EF4-FFF2-40B4-BE49-F238E27FC236}">
                <a16:creationId xmlns:a16="http://schemas.microsoft.com/office/drawing/2014/main" id="{636C9C80-B2AE-4179-B113-88E03BFF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2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B70ABFCE-7AA3-4F4B-8D54-E2C2FBF9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中可行性</a:t>
            </a:r>
          </a:p>
        </p:txBody>
      </p:sp>
      <p:sp>
        <p:nvSpPr>
          <p:cNvPr id="23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787C6559-9A4C-44B1-987E-46F9D146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8137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matrix-copy-1-0">
            <a:extLst xmlns:a="http://schemas.openxmlformats.org/drawingml/2006/main">
              <a:ext uri="{FF2B5EF4-FFF2-40B4-BE49-F238E27FC236}">
                <a16:creationId xmlns:a16="http://schemas.microsoft.com/office/drawing/2014/main" id="{8DF64A83-E7DC-4593-9DF2-3893D7F7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7147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5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DE149FE4-6958-4426-AA8F-E7C95B67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137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5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matrix-copy-1-1">
            <a:extLst xmlns:a="http://schemas.openxmlformats.org/drawingml/2006/main">
              <a:ext uri="{FF2B5EF4-FFF2-40B4-BE49-F238E27FC236}">
                <a16:creationId xmlns:a16="http://schemas.microsoft.com/office/drawing/2014/main" id="{9E09ACC6-56F9-4531-A9E6-D76DF1D8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7147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7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225B348B-A5F8-4FB0-887E-89E762D8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8137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ACB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8" name="matrix-copy-1-2">
            <a:extLst xmlns:a="http://schemas.openxmlformats.org/drawingml/2006/main">
              <a:ext uri="{FF2B5EF4-FFF2-40B4-BE49-F238E27FC236}">
                <a16:creationId xmlns:a16="http://schemas.microsoft.com/office/drawing/2014/main" id="{2D81212D-7C94-425F-A1AF-545DE64D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147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9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1B1AC6BB-D6A3-464B-BD3F-FD91A9A8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低可行性</a:t>
            </a:r>
          </a:p>
        </p:txBody>
      </p:sp>
      <p:sp>
        <p:nvSpPr>
          <p:cNvPr id="30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E4E785DE-D986-425C-800C-15D22EE0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291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1" name="matrix-copy-2-0">
            <a:extLst xmlns:a="http://schemas.openxmlformats.org/drawingml/2006/main">
              <a:ext uri="{FF2B5EF4-FFF2-40B4-BE49-F238E27FC236}">
                <a16:creationId xmlns:a16="http://schemas.microsoft.com/office/drawing/2014/main" id="{415FAC57-982A-47D3-B7E7-2CAD3DFC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32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B698CBFD-F4D0-4DC7-89F9-54E1E3C6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4291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3" name="matrix-copy-2-1">
            <a:extLst xmlns:a="http://schemas.openxmlformats.org/drawingml/2006/main">
              <a:ext uri="{FF2B5EF4-FFF2-40B4-BE49-F238E27FC236}">
                <a16:creationId xmlns:a16="http://schemas.microsoft.com/office/drawing/2014/main" id="{34AEB144-731C-4D21-B75B-25359653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3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487BD0CA-3D8A-46D1-9B79-7F8480C3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291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5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5" name="matrix-copy-2-2">
            <a:extLst xmlns:a="http://schemas.openxmlformats.org/drawingml/2006/main">
              <a:ext uri="{FF2B5EF4-FFF2-40B4-BE49-F238E27FC236}">
                <a16:creationId xmlns:a16="http://schemas.microsoft.com/office/drawing/2014/main" id="{D847D551-CA65-4E1A-BE2A-1DAC208F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</p:spTree>
    <p:extLst>
      <p:ext uri="{BB962C8B-B14F-4D97-AF65-F5344CB8AC3E}">
        <p14:creationId xmlns:p14="http://schemas.microsoft.com/office/powerpoint/2010/main" val="15739094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rule-60-45">
            <a:extLst xmlns:a="http://schemas.openxmlformats.org/drawingml/2006/main">
              <a:ext uri="{FF2B5EF4-FFF2-40B4-BE49-F238E27FC236}">
                <a16:creationId xmlns:a16="http://schemas.microsoft.com/office/drawing/2014/main" id="{A07DCCAF-C620-4438-A44A-AE97AD42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F116B04A-79D8-4B16-B1C9-C2A20516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A9AB00EC-B795-4E8A-856D-2FDBBE8C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精确数据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6CB9E1-4E65-4E36-BDD0-E2577B2F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10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386A4475-BCD1-4AA5-A65A-C3199D68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D1EC4F7F-E38A-4A50-9067-B04974E9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F54C8C60-EEBC-4DCD-B163-95A9F0F7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18E889F-F381-46E8-BF41-0F998F17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10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CBC70552-6723-4BE5-9DE4-D72899FD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精确数字优先用表格，指标口径同时可见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54528BA-7AA8-4A37-94A2-E0811A8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每个指标保留单位、期间、统计对象和来源。</a:t>
            </a:r>
          </a:p>
        </p:txBody>
      </p:sp>
      <p:sp>
        <p:nvSpPr>
          <p:cNvPr id="11" name="th-0">
            <a:extLst xmlns:a="http://schemas.openxmlformats.org/drawingml/2006/main">
              <a:ext uri="{FF2B5EF4-FFF2-40B4-BE49-F238E27FC236}">
                <a16:creationId xmlns:a16="http://schemas.microsoft.com/office/drawing/2014/main" id="{DE3AEEFD-EF2D-4794-9344-1499C8BC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h-text-0">
            <a:extLst xmlns:a="http://schemas.openxmlformats.org/drawingml/2006/main">
              <a:ext uri="{FF2B5EF4-FFF2-40B4-BE49-F238E27FC236}">
                <a16:creationId xmlns:a16="http://schemas.microsoft.com/office/drawing/2014/main" id="{D0A859C3-0DA1-47EA-9D9E-8770CD72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指标</a:t>
            </a:r>
          </a:p>
        </p:txBody>
      </p:sp>
      <p:sp>
        <p:nvSpPr>
          <p:cNvPr id="13" name="th-1">
            <a:extLst xmlns:a="http://schemas.openxmlformats.org/drawingml/2006/main">
              <a:ext uri="{FF2B5EF4-FFF2-40B4-BE49-F238E27FC236}">
                <a16:creationId xmlns:a16="http://schemas.microsoft.com/office/drawing/2014/main" id="{38401FB6-A034-46FF-9F9B-6B762E76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h-text-1">
            <a:extLst xmlns:a="http://schemas.openxmlformats.org/drawingml/2006/main">
              <a:ext uri="{FF2B5EF4-FFF2-40B4-BE49-F238E27FC236}">
                <a16:creationId xmlns:a16="http://schemas.microsoft.com/office/drawing/2014/main" id="{1F1086DB-49E0-4B37-A412-B7C5DAEA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8595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本期</a:t>
            </a:r>
          </a:p>
        </p:txBody>
      </p:sp>
      <p:sp>
        <p:nvSpPr>
          <p:cNvPr id="15" name="th-2">
            <a:extLst xmlns:a="http://schemas.openxmlformats.org/drawingml/2006/main">
              <a:ext uri="{FF2B5EF4-FFF2-40B4-BE49-F238E27FC236}">
                <a16:creationId xmlns:a16="http://schemas.microsoft.com/office/drawing/2014/main" id="{AF5054CE-0014-4683-827F-8908AB5D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h-text-2">
            <a:extLst xmlns:a="http://schemas.openxmlformats.org/drawingml/2006/main">
              <a:ext uri="{FF2B5EF4-FFF2-40B4-BE49-F238E27FC236}">
                <a16:creationId xmlns:a16="http://schemas.microsoft.com/office/drawing/2014/main" id="{0CCD6191-FC55-4379-877C-AF715173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8595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目标</a:t>
            </a:r>
          </a:p>
        </p:txBody>
      </p:sp>
      <p:sp>
        <p:nvSpPr>
          <p:cNvPr id="17" name="th-3">
            <a:extLst xmlns:a="http://schemas.openxmlformats.org/drawingml/2006/main">
              <a:ext uri="{FF2B5EF4-FFF2-40B4-BE49-F238E27FC236}">
                <a16:creationId xmlns:a16="http://schemas.microsoft.com/office/drawing/2014/main" id="{DF83EDA4-1C59-4E02-BBD8-C23CC31D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09750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-text-3">
            <a:extLst xmlns:a="http://schemas.openxmlformats.org/drawingml/2006/main">
              <a:ext uri="{FF2B5EF4-FFF2-40B4-BE49-F238E27FC236}">
                <a16:creationId xmlns:a16="http://schemas.microsoft.com/office/drawing/2014/main" id="{9433084A-000D-456E-B821-0A4E27D0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8595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变化</a:t>
            </a:r>
          </a:p>
        </p:txBody>
      </p:sp>
      <p:sp>
        <p:nvSpPr>
          <p:cNvPr id="19" name="th-4">
            <a:extLst xmlns:a="http://schemas.openxmlformats.org/drawingml/2006/main">
              <a:ext uri="{FF2B5EF4-FFF2-40B4-BE49-F238E27FC236}">
                <a16:creationId xmlns:a16="http://schemas.microsoft.com/office/drawing/2014/main" id="{919A9D35-45C0-4FEB-8248-19C840D8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h-text-4">
            <a:extLst xmlns:a="http://schemas.openxmlformats.org/drawingml/2006/main">
              <a:ext uri="{FF2B5EF4-FFF2-40B4-BE49-F238E27FC236}">
                <a16:creationId xmlns:a16="http://schemas.microsoft.com/office/drawing/2014/main" id="{4F1A1820-BF03-457E-B9E0-A53D42A7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85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口径 / 说明</a:t>
            </a:r>
          </a:p>
        </p:txBody>
      </p:sp>
      <p:sp>
        <p:nvSpPr>
          <p:cNvPr id="21" name="td-0-0">
            <a:extLst xmlns:a="http://schemas.openxmlformats.org/drawingml/2006/main">
              <a:ext uri="{FF2B5EF4-FFF2-40B4-BE49-F238E27FC236}">
                <a16:creationId xmlns:a16="http://schemas.microsoft.com/office/drawing/2014/main" id="{C29B162D-7F4C-4099-B0DA-AF444824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td-text-0-0">
            <a:extLst xmlns:a="http://schemas.openxmlformats.org/drawingml/2006/main">
              <a:ext uri="{FF2B5EF4-FFF2-40B4-BE49-F238E27FC236}">
                <a16:creationId xmlns:a16="http://schemas.microsoft.com/office/drawing/2014/main" id="{697AAA4E-B397-4CCA-B8B2-D6D9236C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A</a:t>
            </a:r>
          </a:p>
        </p:txBody>
      </p:sp>
      <p:sp>
        <p:nvSpPr>
          <p:cNvPr id="23" name="td-0-1">
            <a:extLst xmlns:a="http://schemas.openxmlformats.org/drawingml/2006/main">
              <a:ext uri="{FF2B5EF4-FFF2-40B4-BE49-F238E27FC236}">
                <a16:creationId xmlns:a16="http://schemas.microsoft.com/office/drawing/2014/main" id="{01555573-D6C9-4865-A1EF-D40CEB37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050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td-text-0-1">
            <a:extLst xmlns:a="http://schemas.openxmlformats.org/drawingml/2006/main">
              <a:ext uri="{FF2B5EF4-FFF2-40B4-BE49-F238E27FC236}">
                <a16:creationId xmlns:a16="http://schemas.microsoft.com/office/drawing/2014/main" id="{4147817D-0297-41E2-B7E7-2FE5BC52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42887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25" name="td-0-2">
            <a:extLst xmlns:a="http://schemas.openxmlformats.org/drawingml/2006/main">
              <a:ext uri="{FF2B5EF4-FFF2-40B4-BE49-F238E27FC236}">
                <a16:creationId xmlns:a16="http://schemas.microsoft.com/office/drawing/2014/main" id="{FE1660E6-FD9B-4DF9-BE25-46FDFE4D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050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td-text-0-2">
            <a:extLst xmlns:a="http://schemas.openxmlformats.org/drawingml/2006/main">
              <a:ext uri="{FF2B5EF4-FFF2-40B4-BE49-F238E27FC236}">
                <a16:creationId xmlns:a16="http://schemas.microsoft.com/office/drawing/2014/main" id="{A080B44D-5B7F-4683-844B-1966B87A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27" name="td-0-3">
            <a:extLst xmlns:a="http://schemas.openxmlformats.org/drawingml/2006/main">
              <a:ext uri="{FF2B5EF4-FFF2-40B4-BE49-F238E27FC236}">
                <a16:creationId xmlns:a16="http://schemas.microsoft.com/office/drawing/2014/main" id="{BD7AF5CD-F278-4970-9D84-939F72FE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050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8" name="td-text-0-3">
            <a:extLst xmlns:a="http://schemas.openxmlformats.org/drawingml/2006/main">
              <a:ext uri="{FF2B5EF4-FFF2-40B4-BE49-F238E27FC236}">
                <a16:creationId xmlns:a16="http://schemas.microsoft.com/office/drawing/2014/main" id="{F7746DD5-919C-4821-95E1-04515015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42887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29" name="td-0-4">
            <a:extLst xmlns:a="http://schemas.openxmlformats.org/drawingml/2006/main">
              <a:ext uri="{FF2B5EF4-FFF2-40B4-BE49-F238E27FC236}">
                <a16:creationId xmlns:a16="http://schemas.microsoft.com/office/drawing/2014/main" id="{746E8995-DBE6-4E0E-BD6C-7574D06B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05050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td-text-0-4">
            <a:extLst xmlns:a="http://schemas.openxmlformats.org/drawingml/2006/main">
              <a:ext uri="{FF2B5EF4-FFF2-40B4-BE49-F238E27FC236}">
                <a16:creationId xmlns:a16="http://schemas.microsoft.com/office/drawing/2014/main" id="{D80DF036-C9C2-4662-8405-E3EBE181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4288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  <p:sp>
        <p:nvSpPr>
          <p:cNvPr id="31" name="td-1-0">
            <a:extLst xmlns:a="http://schemas.openxmlformats.org/drawingml/2006/main">
              <a:ext uri="{FF2B5EF4-FFF2-40B4-BE49-F238E27FC236}">
                <a16:creationId xmlns:a16="http://schemas.microsoft.com/office/drawing/2014/main" id="{17C2918C-E9A1-4B75-AECC-E0D3AB3E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2" name="td-text-1-0">
            <a:extLst xmlns:a="http://schemas.openxmlformats.org/drawingml/2006/main">
              <a:ext uri="{FF2B5EF4-FFF2-40B4-BE49-F238E27FC236}">
                <a16:creationId xmlns:a16="http://schemas.microsoft.com/office/drawing/2014/main" id="{F65C043F-3907-4E87-A230-B50014D4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43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B</a:t>
            </a:r>
          </a:p>
        </p:txBody>
      </p:sp>
      <p:sp>
        <p:nvSpPr>
          <p:cNvPr id="33" name="td-1-1">
            <a:extLst xmlns:a="http://schemas.openxmlformats.org/drawingml/2006/main">
              <a:ext uri="{FF2B5EF4-FFF2-40B4-BE49-F238E27FC236}">
                <a16:creationId xmlns:a16="http://schemas.microsoft.com/office/drawing/2014/main" id="{A963C266-A27C-4FD1-A0DB-2BC35DB7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1942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4" name="td-text-1-1">
            <a:extLst xmlns:a="http://schemas.openxmlformats.org/drawingml/2006/main">
              <a:ext uri="{FF2B5EF4-FFF2-40B4-BE49-F238E27FC236}">
                <a16:creationId xmlns:a16="http://schemas.microsoft.com/office/drawing/2014/main" id="{D24889B9-803A-47C1-A1EA-B3F75682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43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35" name="td-1-2">
            <a:extLst xmlns:a="http://schemas.openxmlformats.org/drawingml/2006/main">
              <a:ext uri="{FF2B5EF4-FFF2-40B4-BE49-F238E27FC236}">
                <a16:creationId xmlns:a16="http://schemas.microsoft.com/office/drawing/2014/main" id="{A1C9F1CD-EF37-4A4F-B90E-1D14C3ED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6" name="td-text-1-2">
            <a:extLst xmlns:a="http://schemas.openxmlformats.org/drawingml/2006/main">
              <a:ext uri="{FF2B5EF4-FFF2-40B4-BE49-F238E27FC236}">
                <a16:creationId xmlns:a16="http://schemas.microsoft.com/office/drawing/2014/main" id="{B4CFDF96-C95F-47CF-8FFB-242C82AF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43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37" name="td-1-3">
            <a:extLst xmlns:a="http://schemas.openxmlformats.org/drawingml/2006/main">
              <a:ext uri="{FF2B5EF4-FFF2-40B4-BE49-F238E27FC236}">
                <a16:creationId xmlns:a16="http://schemas.microsoft.com/office/drawing/2014/main" id="{BEC2961F-4790-403C-8C45-4B0A3087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1942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8" name="td-text-1-3">
            <a:extLst xmlns:a="http://schemas.openxmlformats.org/drawingml/2006/main">
              <a:ext uri="{FF2B5EF4-FFF2-40B4-BE49-F238E27FC236}">
                <a16:creationId xmlns:a16="http://schemas.microsoft.com/office/drawing/2014/main" id="{7DEDF157-F93D-4770-A5F9-252014AF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143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39" name="td-1-4">
            <a:extLst xmlns:a="http://schemas.openxmlformats.org/drawingml/2006/main">
              <a:ext uri="{FF2B5EF4-FFF2-40B4-BE49-F238E27FC236}">
                <a16:creationId xmlns:a16="http://schemas.microsoft.com/office/drawing/2014/main" id="{CA05ACD1-93E7-4209-AEDD-15E2C0B4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19425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0" name="td-text-1-4">
            <a:extLst xmlns:a="http://schemas.openxmlformats.org/drawingml/2006/main">
              <a:ext uri="{FF2B5EF4-FFF2-40B4-BE49-F238E27FC236}">
                <a16:creationId xmlns:a16="http://schemas.microsoft.com/office/drawing/2014/main" id="{084FA8AC-085C-4E76-83EE-2BFBE438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432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  <p:sp>
        <p:nvSpPr>
          <p:cNvPr id="41" name="td-2-0">
            <a:extLst xmlns:a="http://schemas.openxmlformats.org/drawingml/2006/main">
              <a:ext uri="{FF2B5EF4-FFF2-40B4-BE49-F238E27FC236}">
                <a16:creationId xmlns:a16="http://schemas.microsoft.com/office/drawing/2014/main" id="{DE24B201-0CA3-4251-8AFC-EE8E2878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2" name="td-text-2-0">
            <a:extLst xmlns:a="http://schemas.openxmlformats.org/drawingml/2006/main">
              <a:ext uri="{FF2B5EF4-FFF2-40B4-BE49-F238E27FC236}">
                <a16:creationId xmlns:a16="http://schemas.microsoft.com/office/drawing/2014/main" id="{F85AE627-A4DC-4970-9813-58F80A90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576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C</a:t>
            </a:r>
          </a:p>
        </p:txBody>
      </p:sp>
      <p:sp>
        <p:nvSpPr>
          <p:cNvPr id="43" name="td-2-1">
            <a:extLst xmlns:a="http://schemas.openxmlformats.org/drawingml/2006/main">
              <a:ext uri="{FF2B5EF4-FFF2-40B4-BE49-F238E27FC236}">
                <a16:creationId xmlns:a16="http://schemas.microsoft.com/office/drawing/2014/main" id="{2320FD5D-799E-43E7-BB42-8F4557ED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3380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4" name="td-text-2-1">
            <a:extLst xmlns:a="http://schemas.openxmlformats.org/drawingml/2006/main">
              <a:ext uri="{FF2B5EF4-FFF2-40B4-BE49-F238E27FC236}">
                <a16:creationId xmlns:a16="http://schemas.microsoft.com/office/drawing/2014/main" id="{719521DC-9DFD-455A-817E-1F9A6521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85762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45" name="td-2-2">
            <a:extLst xmlns:a="http://schemas.openxmlformats.org/drawingml/2006/main">
              <a:ext uri="{FF2B5EF4-FFF2-40B4-BE49-F238E27FC236}">
                <a16:creationId xmlns:a16="http://schemas.microsoft.com/office/drawing/2014/main" id="{96375C3A-AAD5-4CA4-A542-488518FB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6" name="td-text-2-2">
            <a:extLst xmlns:a="http://schemas.openxmlformats.org/drawingml/2006/main">
              <a:ext uri="{FF2B5EF4-FFF2-40B4-BE49-F238E27FC236}">
                <a16:creationId xmlns:a16="http://schemas.microsoft.com/office/drawing/2014/main" id="{17B49E8B-CBF4-4FE4-A619-C1732ADA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5762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47" name="td-2-3">
            <a:extLst xmlns:a="http://schemas.openxmlformats.org/drawingml/2006/main">
              <a:ext uri="{FF2B5EF4-FFF2-40B4-BE49-F238E27FC236}">
                <a16:creationId xmlns:a16="http://schemas.microsoft.com/office/drawing/2014/main" id="{3F3D9ACF-32C1-42FE-A494-EB3E98FF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3380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8" name="td-text-2-3">
            <a:extLst xmlns:a="http://schemas.openxmlformats.org/drawingml/2006/main">
              <a:ext uri="{FF2B5EF4-FFF2-40B4-BE49-F238E27FC236}">
                <a16:creationId xmlns:a16="http://schemas.microsoft.com/office/drawing/2014/main" id="{86B48304-40DA-4A58-92F8-C83B1F59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5762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49" name="td-2-4">
            <a:extLst xmlns:a="http://schemas.openxmlformats.org/drawingml/2006/main">
              <a:ext uri="{FF2B5EF4-FFF2-40B4-BE49-F238E27FC236}">
                <a16:creationId xmlns:a16="http://schemas.microsoft.com/office/drawing/2014/main" id="{399F1B64-83BD-43F2-9B03-B3181FBA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33800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0" name="td-text-2-4">
            <a:extLst xmlns:a="http://schemas.openxmlformats.org/drawingml/2006/main">
              <a:ext uri="{FF2B5EF4-FFF2-40B4-BE49-F238E27FC236}">
                <a16:creationId xmlns:a16="http://schemas.microsoft.com/office/drawing/2014/main" id="{EB5DBE7C-C26A-44F8-B0A5-250D6B64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5762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  <p:sp>
        <p:nvSpPr>
          <p:cNvPr id="51" name="td-3-0">
            <a:extLst xmlns:a="http://schemas.openxmlformats.org/drawingml/2006/main">
              <a:ext uri="{FF2B5EF4-FFF2-40B4-BE49-F238E27FC236}">
                <a16:creationId xmlns:a16="http://schemas.microsoft.com/office/drawing/2014/main" id="{20101EDF-9CB4-49D4-85DD-4DC01CCD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48175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2" name="td-text-3-0">
            <a:extLst xmlns:a="http://schemas.openxmlformats.org/drawingml/2006/main">
              <a:ext uri="{FF2B5EF4-FFF2-40B4-BE49-F238E27FC236}">
                <a16:creationId xmlns:a16="http://schemas.microsoft.com/office/drawing/2014/main" id="{368B2EEF-A9D6-40D2-BE68-AF44C312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D</a:t>
            </a:r>
          </a:p>
        </p:txBody>
      </p:sp>
      <p:sp>
        <p:nvSpPr>
          <p:cNvPr id="53" name="td-3-1">
            <a:extLst xmlns:a="http://schemas.openxmlformats.org/drawingml/2006/main">
              <a:ext uri="{FF2B5EF4-FFF2-40B4-BE49-F238E27FC236}">
                <a16:creationId xmlns:a16="http://schemas.microsoft.com/office/drawing/2014/main" id="{C00F130E-8703-4EF7-A00E-929B6904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4817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4" name="td-text-3-1">
            <a:extLst xmlns:a="http://schemas.openxmlformats.org/drawingml/2006/main">
              <a:ext uri="{FF2B5EF4-FFF2-40B4-BE49-F238E27FC236}">
                <a16:creationId xmlns:a16="http://schemas.microsoft.com/office/drawing/2014/main" id="{E0986D92-5D27-45FA-81CE-BFEA70F7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57200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55" name="td-3-2">
            <a:extLst xmlns:a="http://schemas.openxmlformats.org/drawingml/2006/main">
              <a:ext uri="{FF2B5EF4-FFF2-40B4-BE49-F238E27FC236}">
                <a16:creationId xmlns:a16="http://schemas.microsoft.com/office/drawing/2014/main" id="{E268C5E6-0576-4963-9EC8-FD7291CD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4817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6" name="td-text-3-2">
            <a:extLst xmlns:a="http://schemas.openxmlformats.org/drawingml/2006/main">
              <a:ext uri="{FF2B5EF4-FFF2-40B4-BE49-F238E27FC236}">
                <a16:creationId xmlns:a16="http://schemas.microsoft.com/office/drawing/2014/main" id="{27AAB208-7D1F-448D-BB55-0D834439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57200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57" name="td-3-3">
            <a:extLst xmlns:a="http://schemas.openxmlformats.org/drawingml/2006/main">
              <a:ext uri="{FF2B5EF4-FFF2-40B4-BE49-F238E27FC236}">
                <a16:creationId xmlns:a16="http://schemas.microsoft.com/office/drawing/2014/main" id="{CFA9A844-40D9-467C-9399-86B7DA68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4817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8" name="td-text-3-3">
            <a:extLst xmlns:a="http://schemas.openxmlformats.org/drawingml/2006/main">
              <a:ext uri="{FF2B5EF4-FFF2-40B4-BE49-F238E27FC236}">
                <a16:creationId xmlns:a16="http://schemas.microsoft.com/office/drawing/2014/main" id="{F3BFFFAE-961E-4A0A-82A3-8797F659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57200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59" name="td-3-4">
            <a:extLst xmlns:a="http://schemas.openxmlformats.org/drawingml/2006/main">
              <a:ext uri="{FF2B5EF4-FFF2-40B4-BE49-F238E27FC236}">
                <a16:creationId xmlns:a16="http://schemas.microsoft.com/office/drawing/2014/main" id="{C1C4A9E8-CFFE-448C-A07B-791F2645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48175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60" name="td-text-3-4">
            <a:extLst xmlns:a="http://schemas.openxmlformats.org/drawingml/2006/main">
              <a:ext uri="{FF2B5EF4-FFF2-40B4-BE49-F238E27FC236}">
                <a16:creationId xmlns:a16="http://schemas.microsoft.com/office/drawing/2014/main" id="{C94AA53E-B73D-49CB-91AE-6619EABC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5720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</p:spTree>
    <p:extLst>
      <p:ext uri="{BB962C8B-B14F-4D97-AF65-F5344CB8AC3E}">
        <p14:creationId xmlns:p14="http://schemas.microsoft.com/office/powerpoint/2010/main" val="6796052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ule-60-45">
            <a:extLst xmlns:a="http://schemas.openxmlformats.org/drawingml/2006/main">
              <a:ext uri="{FF2B5EF4-FFF2-40B4-BE49-F238E27FC236}">
                <a16:creationId xmlns:a16="http://schemas.microsoft.com/office/drawing/2014/main" id="{33FB1E4C-B96F-49E1-92FD-05C84AAE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BC215AA5-73C3-45DC-BA90-312156DD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0AEAAA07-9111-41E3-BA71-9B3C9A6B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数据与趋势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92D097-5E0D-443B-BFA2-024C1204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11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DDD4A99A-4508-40D2-9D2D-FA810345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3AD975E9-46E5-4E99-B046-8B467C33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72D9A65E-4F16-471C-ADC3-3A8C926B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811E7DA-6D33-4995-813B-86FC1AE2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11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82C33EF3-ED9B-4EFA-B661-EC43E5CF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类别对比用柱状图，连续时间用折线图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37218E42-CC53-4123-852C-A51A66A6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图表必须包含真实数值、单位、期间、统计对象和来源。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66750" y="1905000"/>
          <a:ext xmlns:a="http://schemas.openxmlformats.org/drawingml/2006/main" cx="4953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2bb07c54104123"/>
          </a:graphicData>
        </a:graphic>
      </p:graphicFrame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286500" y="1905000"/>
          <a:ext xmlns:a="http://schemas.openxmlformats.org/drawingml/2006/main" cx="4953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476b33a8e3445b"/>
          </a:graphicData>
        </a:graphic>
      </p:graphicFrame>
      <p:sp>
        <p:nvSpPr>
          <p:cNvPr id="13" name="chart-note">
            <a:extLst xmlns:a="http://schemas.openxmlformats.org/drawingml/2006/main">
              <a:ext uri="{FF2B5EF4-FFF2-40B4-BE49-F238E27FC236}">
                <a16:creationId xmlns:a16="http://schemas.microsoft.com/office/drawing/2014/main" id="{E65D9D3F-B312-4C22-AECB-8B4BAEEF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单位：示例单位   ·   期间：示例期间   ·   统计对象：示例对象   ·   生成时必须替换数据与来源</a:t>
            </a:r>
          </a:p>
        </p:txBody>
      </p:sp>
    </p:spTree>
    <p:extLst>
      <p:ext uri="{BB962C8B-B14F-4D97-AF65-F5344CB8AC3E}">
        <p14:creationId xmlns:p14="http://schemas.microsoft.com/office/powerpoint/2010/main" val="20514470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ule-60-45">
            <a:extLst xmlns:a="http://schemas.openxmlformats.org/drawingml/2006/main">
              <a:ext uri="{FF2B5EF4-FFF2-40B4-BE49-F238E27FC236}">
                <a16:creationId xmlns:a16="http://schemas.microsoft.com/office/drawing/2014/main" id="{FE9BBD48-DC33-47FF-B946-F16B41CB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408E2029-2267-4DC4-AA95-0C0A9350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58393463-68EC-4C35-95A1-2F324DBC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风险与行动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FD317F-D38E-46CB-8F0B-9CE4A2DF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12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224404F5-EE4A-4768-A3FD-3A331C6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FE47CAA3-2F95-485C-8253-091C9F58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AD935244-D3AB-498D-916E-F1B0902E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58FB9DA-9D7A-4064-ACFD-BD8F3B2F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12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12ACE756-FFE7-41AD-8307-AE4E6C97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风险必须对应行动、Owner 与验证节点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84BC6C2E-9690-49CF-A1DF-192D7583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风险不是背景说明，而是需要被管理的事项。</a:t>
            </a:r>
          </a:p>
        </p:txBody>
      </p:sp>
      <p:sp>
        <p:nvSpPr>
          <p:cNvPr id="11" name="risk-head-0">
            <a:extLst xmlns:a="http://schemas.openxmlformats.org/drawingml/2006/main">
              <a:ext uri="{FF2B5EF4-FFF2-40B4-BE49-F238E27FC236}">
                <a16:creationId xmlns:a16="http://schemas.microsoft.com/office/drawing/2014/main" id="{9D504D99-EA14-4532-AC49-D6DB3CBF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isk-head-text-0">
            <a:extLst xmlns:a="http://schemas.openxmlformats.org/drawingml/2006/main">
              <a:ext uri="{FF2B5EF4-FFF2-40B4-BE49-F238E27FC236}">
                <a16:creationId xmlns:a16="http://schemas.microsoft.com/office/drawing/2014/main" id="{9C4246EF-F225-4C34-BD28-4D2529FE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风险</a:t>
            </a:r>
          </a:p>
        </p:txBody>
      </p:sp>
      <p:sp>
        <p:nvSpPr>
          <p:cNvPr id="13" name="risk-head-1">
            <a:extLst xmlns:a="http://schemas.openxmlformats.org/drawingml/2006/main">
              <a:ext uri="{FF2B5EF4-FFF2-40B4-BE49-F238E27FC236}">
                <a16:creationId xmlns:a16="http://schemas.microsoft.com/office/drawing/2014/main" id="{9BE60988-5C61-4EA9-9F8E-44EB9F9F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097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isk-head-text-1">
            <a:extLst xmlns:a="http://schemas.openxmlformats.org/drawingml/2006/main">
              <a:ext uri="{FF2B5EF4-FFF2-40B4-BE49-F238E27FC236}">
                <a16:creationId xmlns:a16="http://schemas.microsoft.com/office/drawing/2014/main" id="{441BE68D-C3C5-4A07-9E2E-7385DD0B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8595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影响</a:t>
            </a:r>
          </a:p>
        </p:txBody>
      </p:sp>
      <p:sp>
        <p:nvSpPr>
          <p:cNvPr id="15" name="risk-head-2">
            <a:extLst xmlns:a="http://schemas.openxmlformats.org/drawingml/2006/main">
              <a:ext uri="{FF2B5EF4-FFF2-40B4-BE49-F238E27FC236}">
                <a16:creationId xmlns:a16="http://schemas.microsoft.com/office/drawing/2014/main" id="{4CD01B95-DC74-4E1B-A8C3-7432532D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isk-head-text-2">
            <a:extLst xmlns:a="http://schemas.openxmlformats.org/drawingml/2006/main">
              <a:ext uri="{FF2B5EF4-FFF2-40B4-BE49-F238E27FC236}">
                <a16:creationId xmlns:a16="http://schemas.microsoft.com/office/drawing/2014/main" id="{AEC8A92B-42EC-43CB-A901-75EB2994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行动</a:t>
            </a:r>
          </a:p>
        </p:txBody>
      </p:sp>
      <p:sp>
        <p:nvSpPr>
          <p:cNvPr id="17" name="risk-head-3">
            <a:extLst xmlns:a="http://schemas.openxmlformats.org/drawingml/2006/main">
              <a:ext uri="{FF2B5EF4-FFF2-40B4-BE49-F238E27FC236}">
                <a16:creationId xmlns:a16="http://schemas.microsoft.com/office/drawing/2014/main" id="{B34B1D90-C5F9-40F3-A8DC-B5861391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257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isk-head-text-3">
            <a:extLst xmlns:a="http://schemas.openxmlformats.org/drawingml/2006/main">
              <a:ext uri="{FF2B5EF4-FFF2-40B4-BE49-F238E27FC236}">
                <a16:creationId xmlns:a16="http://schemas.microsoft.com/office/drawing/2014/main" id="{D1126EF8-710B-4D66-9CCC-3B0105A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85950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Owner / 时间</a:t>
            </a:r>
          </a:p>
        </p:txBody>
      </p:sp>
      <p:sp>
        <p:nvSpPr>
          <p:cNvPr id="19" name="risk-0-0">
            <a:extLst xmlns:a="http://schemas.openxmlformats.org/drawingml/2006/main">
              <a:ext uri="{FF2B5EF4-FFF2-40B4-BE49-F238E27FC236}">
                <a16:creationId xmlns:a16="http://schemas.microsoft.com/office/drawing/2014/main" id="{10D72A89-4139-4656-818B-3614ECA9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0" name="risk-text-0-0">
            <a:extLst xmlns:a="http://schemas.openxmlformats.org/drawingml/2006/main">
              <a:ext uri="{FF2B5EF4-FFF2-40B4-BE49-F238E27FC236}">
                <a16:creationId xmlns:a16="http://schemas.microsoft.com/office/drawing/2014/main" id="{75D57B93-B7FC-43B8-919F-3D3B333E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填写已确认风险</a:t>
            </a:r>
          </a:p>
        </p:txBody>
      </p:sp>
      <p:sp>
        <p:nvSpPr>
          <p:cNvPr id="21" name="risk-0-1">
            <a:extLst xmlns:a="http://schemas.openxmlformats.org/drawingml/2006/main">
              <a:ext uri="{FF2B5EF4-FFF2-40B4-BE49-F238E27FC236}">
                <a16:creationId xmlns:a16="http://schemas.microsoft.com/office/drawing/2014/main" id="{01112DFC-A7B2-4231-B126-A7F690AA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risk-text-0-1">
            <a:extLst xmlns:a="http://schemas.openxmlformats.org/drawingml/2006/main">
              <a:ext uri="{FF2B5EF4-FFF2-40B4-BE49-F238E27FC236}">
                <a16:creationId xmlns:a16="http://schemas.microsoft.com/office/drawing/2014/main" id="{D50938D0-4E84-4EB6-94E7-8209A5D9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431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说明可能影响</a:t>
            </a:r>
          </a:p>
        </p:txBody>
      </p:sp>
      <p:sp>
        <p:nvSpPr>
          <p:cNvPr id="23" name="risk-0-2">
            <a:extLst xmlns:a="http://schemas.openxmlformats.org/drawingml/2006/main">
              <a:ext uri="{FF2B5EF4-FFF2-40B4-BE49-F238E27FC236}">
                <a16:creationId xmlns:a16="http://schemas.microsoft.com/office/drawing/2014/main" id="{A2369188-15D0-4798-8EE4-12E770EA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risk-text-0-2">
            <a:extLst xmlns:a="http://schemas.openxmlformats.org/drawingml/2006/main">
              <a:ext uri="{FF2B5EF4-FFF2-40B4-BE49-F238E27FC236}">
                <a16:creationId xmlns:a16="http://schemas.microsoft.com/office/drawing/2014/main" id="{833A89CA-F7B6-4FF4-B502-4CDDA8C1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43175"/>
            <a:ext cx="251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填写应对动作</a:t>
            </a:r>
          </a:p>
        </p:txBody>
      </p:sp>
      <p:sp>
        <p:nvSpPr>
          <p:cNvPr id="25" name="risk-0-3">
            <a:extLst xmlns:a="http://schemas.openxmlformats.org/drawingml/2006/main">
              <a:ext uri="{FF2B5EF4-FFF2-40B4-BE49-F238E27FC236}">
                <a16:creationId xmlns:a16="http://schemas.microsoft.com/office/drawing/2014/main" id="{47F8130C-C8EA-41DA-8247-FC73E462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2571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risk-text-0-3">
            <a:extLst xmlns:a="http://schemas.openxmlformats.org/drawingml/2006/main">
              <a:ext uri="{FF2B5EF4-FFF2-40B4-BE49-F238E27FC236}">
                <a16:creationId xmlns:a16="http://schemas.microsoft.com/office/drawing/2014/main" id="{AD726AE1-9F6D-4357-95EC-33F61586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43175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Owner · 时间</a:t>
            </a:r>
          </a:p>
        </p:txBody>
      </p:sp>
      <p:sp>
        <p:nvSpPr>
          <p:cNvPr id="27" name="risk-1-0">
            <a:extLst xmlns:a="http://schemas.openxmlformats.org/drawingml/2006/main">
              <a:ext uri="{FF2B5EF4-FFF2-40B4-BE49-F238E27FC236}">
                <a16:creationId xmlns:a16="http://schemas.microsoft.com/office/drawing/2014/main" id="{071AF351-5003-4F29-A099-2615D1A3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8" name="risk-text-1-0">
            <a:extLst xmlns:a="http://schemas.openxmlformats.org/drawingml/2006/main">
              <a:ext uri="{FF2B5EF4-FFF2-40B4-BE49-F238E27FC236}">
                <a16:creationId xmlns:a16="http://schemas.microsoft.com/office/drawing/2014/main" id="{5DC52BDF-C375-4486-B8E3-0D9E5647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填写已确认风险</a:t>
            </a:r>
          </a:p>
        </p:txBody>
      </p:sp>
      <p:sp>
        <p:nvSpPr>
          <p:cNvPr id="29" name="risk-1-1">
            <a:extLst xmlns:a="http://schemas.openxmlformats.org/drawingml/2006/main">
              <a:ext uri="{FF2B5EF4-FFF2-40B4-BE49-F238E27FC236}">
                <a16:creationId xmlns:a16="http://schemas.microsoft.com/office/drawing/2014/main" id="{F05C1489-236B-41A6-9F9F-29AB87F7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52800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risk-text-1-1">
            <a:extLst xmlns:a="http://schemas.openxmlformats.org/drawingml/2006/main">
              <a:ext uri="{FF2B5EF4-FFF2-40B4-BE49-F238E27FC236}">
                <a16:creationId xmlns:a16="http://schemas.microsoft.com/office/drawing/2014/main" id="{0DCA0A82-EBF0-4769-B33C-FC959159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9092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说明可能影响</a:t>
            </a:r>
          </a:p>
        </p:txBody>
      </p:sp>
      <p:sp>
        <p:nvSpPr>
          <p:cNvPr id="31" name="risk-1-2">
            <a:extLst xmlns:a="http://schemas.openxmlformats.org/drawingml/2006/main">
              <a:ext uri="{FF2B5EF4-FFF2-40B4-BE49-F238E27FC236}">
                <a16:creationId xmlns:a16="http://schemas.microsoft.com/office/drawing/2014/main" id="{A961E07E-5DA5-457C-A3A6-6FDDD83A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2" name="risk-text-1-2">
            <a:extLst xmlns:a="http://schemas.openxmlformats.org/drawingml/2006/main">
              <a:ext uri="{FF2B5EF4-FFF2-40B4-BE49-F238E27FC236}">
                <a16:creationId xmlns:a16="http://schemas.microsoft.com/office/drawing/2014/main" id="{BB21E154-266E-4FAA-997B-9F93BE6D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90925"/>
            <a:ext cx="251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填写应对动作</a:t>
            </a:r>
          </a:p>
        </p:txBody>
      </p:sp>
      <p:sp>
        <p:nvSpPr>
          <p:cNvPr id="33" name="risk-1-3">
            <a:extLst xmlns:a="http://schemas.openxmlformats.org/drawingml/2006/main">
              <a:ext uri="{FF2B5EF4-FFF2-40B4-BE49-F238E27FC236}">
                <a16:creationId xmlns:a16="http://schemas.microsoft.com/office/drawing/2014/main" id="{174E23D7-FBCD-49DA-88F7-CC1FEBE7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2571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4" name="risk-text-1-3">
            <a:extLst xmlns:a="http://schemas.openxmlformats.org/drawingml/2006/main">
              <a:ext uri="{FF2B5EF4-FFF2-40B4-BE49-F238E27FC236}">
                <a16:creationId xmlns:a16="http://schemas.microsoft.com/office/drawing/2014/main" id="{FF257D45-9C90-4655-9D06-B031A295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590925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Owner · 时间</a:t>
            </a:r>
          </a:p>
        </p:txBody>
      </p:sp>
      <p:sp>
        <p:nvSpPr>
          <p:cNvPr id="35" name="risk-2-0">
            <a:extLst xmlns:a="http://schemas.openxmlformats.org/drawingml/2006/main">
              <a:ext uri="{FF2B5EF4-FFF2-40B4-BE49-F238E27FC236}">
                <a16:creationId xmlns:a16="http://schemas.microsoft.com/office/drawing/2014/main" id="{9BA7C42E-9D76-4DAE-995D-9C4626E8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00550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6" name="risk-text-2-0">
            <a:extLst xmlns:a="http://schemas.openxmlformats.org/drawingml/2006/main">
              <a:ext uri="{FF2B5EF4-FFF2-40B4-BE49-F238E27FC236}">
                <a16:creationId xmlns:a16="http://schemas.microsoft.com/office/drawing/2014/main" id="{7736313D-7572-443F-A877-C81CB2BD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填写已确认风险</a:t>
            </a:r>
          </a:p>
        </p:txBody>
      </p:sp>
      <p:sp>
        <p:nvSpPr>
          <p:cNvPr id="37" name="risk-2-1">
            <a:extLst xmlns:a="http://schemas.openxmlformats.org/drawingml/2006/main">
              <a:ext uri="{FF2B5EF4-FFF2-40B4-BE49-F238E27FC236}">
                <a16:creationId xmlns:a16="http://schemas.microsoft.com/office/drawing/2014/main" id="{1722DA79-B2BF-4123-8799-93B88F2B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00550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8" name="risk-text-2-1">
            <a:extLst xmlns:a="http://schemas.openxmlformats.org/drawingml/2006/main">
              <a:ext uri="{FF2B5EF4-FFF2-40B4-BE49-F238E27FC236}">
                <a16:creationId xmlns:a16="http://schemas.microsoft.com/office/drawing/2014/main" id="{7B5EFC0D-456C-45FD-B46A-DE4A50AB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386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说明可能影响</a:t>
            </a:r>
          </a:p>
        </p:txBody>
      </p:sp>
      <p:sp>
        <p:nvSpPr>
          <p:cNvPr id="39" name="risk-2-2">
            <a:extLst xmlns:a="http://schemas.openxmlformats.org/drawingml/2006/main">
              <a:ext uri="{FF2B5EF4-FFF2-40B4-BE49-F238E27FC236}">
                <a16:creationId xmlns:a16="http://schemas.microsoft.com/office/drawing/2014/main" id="{0237E5CB-F9A9-4074-97ED-6F22C41F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0055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0" name="risk-text-2-2">
            <a:extLst xmlns:a="http://schemas.openxmlformats.org/drawingml/2006/main">
              <a:ext uri="{FF2B5EF4-FFF2-40B4-BE49-F238E27FC236}">
                <a16:creationId xmlns:a16="http://schemas.microsoft.com/office/drawing/2014/main" id="{DEE31F39-8ECB-4BB7-BC58-797A9EBC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38675"/>
            <a:ext cx="251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填写应对动作</a:t>
            </a:r>
          </a:p>
        </p:txBody>
      </p:sp>
      <p:sp>
        <p:nvSpPr>
          <p:cNvPr id="41" name="risk-2-3">
            <a:extLst xmlns:a="http://schemas.openxmlformats.org/drawingml/2006/main">
              <a:ext uri="{FF2B5EF4-FFF2-40B4-BE49-F238E27FC236}">
                <a16:creationId xmlns:a16="http://schemas.microsoft.com/office/drawing/2014/main" id="{A662E978-D7E1-4EDE-AF0B-DE0329FF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00550"/>
            <a:ext cx="2571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2" name="risk-text-2-3">
            <a:extLst xmlns:a="http://schemas.openxmlformats.org/drawingml/2006/main">
              <a:ext uri="{FF2B5EF4-FFF2-40B4-BE49-F238E27FC236}">
                <a16:creationId xmlns:a16="http://schemas.microsoft.com/office/drawing/2014/main" id="{163CF5CF-3989-43CD-BFE2-63883994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638675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Owner · 时间</a:t>
            </a:r>
          </a:p>
        </p:txBody>
      </p:sp>
    </p:spTree>
    <p:extLst>
      <p:ext uri="{BB962C8B-B14F-4D97-AF65-F5344CB8AC3E}">
        <p14:creationId xmlns:p14="http://schemas.microsoft.com/office/powerpoint/2010/main" val="19284718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ule-60-45">
            <a:extLst xmlns:a="http://schemas.openxmlformats.org/drawingml/2006/main">
              <a:ext uri="{FF2B5EF4-FFF2-40B4-BE49-F238E27FC236}">
                <a16:creationId xmlns:a16="http://schemas.microsoft.com/office/drawing/2014/main" id="{B9165233-E986-4A5F-BC0B-BB541D70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535279E7-307D-4CA1-B1E0-3A0461A0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ABA28397-910B-419B-A7D4-FD7F29B4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决策与下一步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F7CFBC-062F-46DA-AFE9-AEDF5B9D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13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B65D255A-5AEC-4ABD-ABC5-BE43A284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9B679202-7B75-438E-9EB7-4CF9C58F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A955DF02-BCF7-4CF4-8884-BF05C233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9EA78A7-260A-4D86-B111-579E972B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13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ADB61496-9DA0-40CC-B368-C51BFA06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管理层只需回答一个决策问题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C3A878C6-1AB5-43DB-A1EB-F6195C1C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行动项比背景信息更醒目。</a:t>
            </a:r>
          </a:p>
        </p:txBody>
      </p:sp>
      <p:sp>
        <p:nvSpPr>
          <p:cNvPr id="11" name="decision-main">
            <a:extLst xmlns:a="http://schemas.openxmlformats.org/drawingml/2006/main">
              <a:ext uri="{FF2B5EF4-FFF2-40B4-BE49-F238E27FC236}">
                <a16:creationId xmlns:a16="http://schemas.microsoft.com/office/drawing/2014/main" id="{BF5D28F5-6998-4011-A250-2EFDBEB4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6191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95-220">
            <a:extLst xmlns:a="http://schemas.openxmlformats.org/drawingml/2006/main">
              <a:ext uri="{FF2B5EF4-FFF2-40B4-BE49-F238E27FC236}">
                <a16:creationId xmlns:a16="http://schemas.microsoft.com/office/drawing/2014/main" id="{480DBD59-7DA8-43AE-B365-3AFCDD98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CDB2"/>
                </a:solidFill>
              </a:defRPr>
            </a:pPr>
            <a:r>
              <a:rPr sz="750" b="1">
                <a:solidFill>
                  <a:srgbClr val="8CCDB2"/>
                </a:solidFill>
              </a:rPr>
              <a:t>DECISION</a:t>
            </a:r>
          </a:p>
        </p:txBody>
      </p:sp>
      <p:sp>
        <p:nvSpPr>
          <p:cNvPr id="13" name="decision-copy">
            <a:extLst xmlns:a="http://schemas.openxmlformats.org/drawingml/2006/main">
              <a:ext uri="{FF2B5EF4-FFF2-40B4-BE49-F238E27FC236}">
                <a16:creationId xmlns:a16="http://schemas.microsoft.com/office/drawing/2014/main" id="{1D48118D-D9F2-4F44-B449-7E2385E8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670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DF8"/>
                </a:solidFill>
              </a:defRPr>
            </a:pPr>
            <a:r>
              <a:rPr sz="2175" b="1">
                <a:solidFill>
                  <a:srgbClr val="FFFDF8"/>
                </a:solidFill>
              </a:rPr>
              <a:t>是否批准进入下一阶段，并以明确的事实和结果标准复盘？</a:t>
            </a:r>
          </a:p>
        </p:txBody>
      </p:sp>
      <p:sp>
        <p:nvSpPr>
          <p:cNvPr id="14" name="decision-reason">
            <a:extLst xmlns:a="http://schemas.openxmlformats.org/drawingml/2006/main">
              <a:ext uri="{FF2B5EF4-FFF2-40B4-BE49-F238E27FC236}">
                <a16:creationId xmlns:a16="http://schemas.microsoft.com/office/drawing/2014/main" id="{9618AE3F-FD17-4EE9-BDC3-95722B91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依据 01｜填写关键证据</a:t>
            </a:r>
          </a:p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依据 02｜填写风险边界</a:t>
            </a:r>
          </a:p>
        </p:txBody>
      </p:sp>
      <p:sp>
        <p:nvSpPr>
          <p:cNvPr id="15" name="decision-action-0-bg">
            <a:extLst xmlns:a="http://schemas.openxmlformats.org/drawingml/2006/main">
              <a:ext uri="{FF2B5EF4-FFF2-40B4-BE49-F238E27FC236}">
                <a16:creationId xmlns:a16="http://schemas.microsoft.com/office/drawing/2014/main" id="{623A3E9E-9F09-491A-9360-56FE840E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6" name="decision-action-0-accent">
            <a:extLst xmlns:a="http://schemas.openxmlformats.org/drawingml/2006/main">
              <a:ext uri="{FF2B5EF4-FFF2-40B4-BE49-F238E27FC236}">
                <a16:creationId xmlns:a16="http://schemas.microsoft.com/office/drawing/2014/main" id="{4DDDCF20-3D5F-4DB4-8823-672F20BD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ecision-action-0-title">
            <a:extLst xmlns:a="http://schemas.openxmlformats.org/drawingml/2006/main">
              <a:ext uri="{FF2B5EF4-FFF2-40B4-BE49-F238E27FC236}">
                <a16:creationId xmlns:a16="http://schemas.microsoft.com/office/drawing/2014/main" id="{310629F0-7854-4A55-AAEB-0F6653ED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621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确认范围</a:t>
            </a:r>
          </a:p>
        </p:txBody>
      </p:sp>
      <p:sp>
        <p:nvSpPr>
          <p:cNvPr id="18" name="decision-action-0-detail">
            <a:extLst xmlns:a="http://schemas.openxmlformats.org/drawingml/2006/main">
              <a:ext uri="{FF2B5EF4-FFF2-40B4-BE49-F238E27FC236}">
                <a16:creationId xmlns:a16="http://schemas.microsoft.com/office/drawing/2014/main" id="{88010784-74C8-48B0-AFE0-A47F6A22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2410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填写动作、责任人和时间</a:t>
            </a:r>
          </a:p>
        </p:txBody>
      </p:sp>
      <p:sp>
        <p:nvSpPr>
          <p:cNvPr id="19" name="decision-action-1-bg">
            <a:extLst xmlns:a="http://schemas.openxmlformats.org/drawingml/2006/main">
              <a:ext uri="{FF2B5EF4-FFF2-40B4-BE49-F238E27FC236}">
                <a16:creationId xmlns:a16="http://schemas.microsoft.com/office/drawing/2014/main" id="{FE26BCE3-AB20-426D-AACD-533A1FB8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0" name="decision-action-1-accent">
            <a:extLst xmlns:a="http://schemas.openxmlformats.org/drawingml/2006/main">
              <a:ext uri="{FF2B5EF4-FFF2-40B4-BE49-F238E27FC236}">
                <a16:creationId xmlns:a16="http://schemas.microsoft.com/office/drawing/2014/main" id="{B8C171E5-B44E-4E87-AF16-9401FFB3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ecision-action-1-title">
            <a:extLst xmlns:a="http://schemas.openxmlformats.org/drawingml/2006/main">
              <a:ext uri="{FF2B5EF4-FFF2-40B4-BE49-F238E27FC236}">
                <a16:creationId xmlns:a16="http://schemas.microsoft.com/office/drawing/2014/main" id="{BA509C71-7D95-4481-8A2B-087281A7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0040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落实 Owner</a:t>
            </a:r>
          </a:p>
        </p:txBody>
      </p:sp>
      <p:sp>
        <p:nvSpPr>
          <p:cNvPr id="22" name="decision-action-1-detail">
            <a:extLst xmlns:a="http://schemas.openxmlformats.org/drawingml/2006/main">
              <a:ext uri="{FF2B5EF4-FFF2-40B4-BE49-F238E27FC236}">
                <a16:creationId xmlns:a16="http://schemas.microsoft.com/office/drawing/2014/main" id="{A70C0E1F-F119-49DD-B6EB-041E5F46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填写动作、责任人和时间</a:t>
            </a:r>
          </a:p>
        </p:txBody>
      </p:sp>
      <p:sp>
        <p:nvSpPr>
          <p:cNvPr id="23" name="decision-action-2-bg">
            <a:extLst xmlns:a="http://schemas.openxmlformats.org/drawingml/2006/main">
              <a:ext uri="{FF2B5EF4-FFF2-40B4-BE49-F238E27FC236}">
                <a16:creationId xmlns:a16="http://schemas.microsoft.com/office/drawing/2014/main" id="{3D7CEB1F-2D61-4953-B3E3-CD3B5790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8625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decision-action-2-accent">
            <a:extLst xmlns:a="http://schemas.openxmlformats.org/drawingml/2006/main">
              <a:ext uri="{FF2B5EF4-FFF2-40B4-BE49-F238E27FC236}">
                <a16:creationId xmlns:a16="http://schemas.microsoft.com/office/drawing/2014/main" id="{A9224872-DAF9-4A27-8940-86902CB3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862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ecision-action-2-title">
            <a:extLst xmlns:a="http://schemas.openxmlformats.org/drawingml/2006/main">
              <a:ext uri="{FF2B5EF4-FFF2-40B4-BE49-F238E27FC236}">
                <a16:creationId xmlns:a16="http://schemas.microsoft.com/office/drawing/2014/main" id="{B4BC851B-164F-4BA8-AD35-24E1D4A4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386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设定验证节点</a:t>
            </a:r>
          </a:p>
        </p:txBody>
      </p:sp>
      <p:sp>
        <p:nvSpPr>
          <p:cNvPr id="26" name="decision-action-2-detail">
            <a:extLst xmlns:a="http://schemas.openxmlformats.org/drawingml/2006/main">
              <a:ext uri="{FF2B5EF4-FFF2-40B4-BE49-F238E27FC236}">
                <a16:creationId xmlns:a16="http://schemas.microsoft.com/office/drawing/2014/main" id="{F9467F06-E9CB-4B33-8F02-B9030E8B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0060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填写动作、责任人和时间</a:t>
            </a:r>
          </a:p>
        </p:txBody>
      </p:sp>
    </p:spTree>
    <p:extLst>
      <p:ext uri="{BB962C8B-B14F-4D97-AF65-F5344CB8AC3E}">
        <p14:creationId xmlns:p14="http://schemas.microsoft.com/office/powerpoint/2010/main" val="15318793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rule-60-45">
            <a:extLst xmlns:a="http://schemas.openxmlformats.org/drawingml/2006/main">
              <a:ext uri="{FF2B5EF4-FFF2-40B4-BE49-F238E27FC236}">
                <a16:creationId xmlns:a16="http://schemas.microsoft.com/office/drawing/2014/main" id="{89EC54D7-40BC-4583-8C00-46A4082D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1866C5F7-AD01-460B-BF67-D4832E5B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75EA7778-DD13-4C70-87C1-25A02AD2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业务能力链路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028263-35A1-45BB-AA83-A3121CF8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14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B0162AEE-CFEF-459C-A226-37E050FA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4F1E6DC7-9A04-45AF-8AA1-676BBBDD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54F9AF66-23EB-4893-8F73-18EBC6BF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8A33E17-E72A-4E5D-B064-C3FCD6B3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14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8B8F0EC9-D3C3-4273-9570-CE13E01A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入口、能力与服务承接形成一条完整链路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20E3EC1F-B9FD-4784-B752-A86C449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重要主体作为视觉锚点，说明文字保持辅助地位。若有重大决策，可使用右侧强调模块。</a:t>
            </a:r>
          </a:p>
        </p:txBody>
      </p:sp>
      <p:sp>
        <p:nvSpPr>
          <p:cNvPr id="11" name="rule-120-397">
            <a:extLst xmlns:a="http://schemas.openxmlformats.org/drawingml/2006/main">
              <a:ext uri="{FF2B5EF4-FFF2-40B4-BE49-F238E27FC236}">
                <a16:creationId xmlns:a16="http://schemas.microsoft.com/office/drawing/2014/main" id="{EFCD183E-A6ED-44DD-A449-334ACFF2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81425"/>
            <a:ext cx="7191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61FCBDAC-FAF5-45D0-BAB0-EAD8A574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C794D"/>
                </a:solidFill>
              </a:defRPr>
            </a:pPr>
            <a:r>
              <a:rPr sz="1875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13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8C9B31D0-F399-413A-9C1D-723F92A6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619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C794D"/>
                </a:solidFill>
              </a:defRPr>
            </a:pPr>
            <a:r>
              <a:rPr sz="1875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14" name="chain-node-0">
            <a:extLst xmlns:a="http://schemas.openxmlformats.org/drawingml/2006/main">
              <a:ext uri="{FF2B5EF4-FFF2-40B4-BE49-F238E27FC236}">
                <a16:creationId xmlns:a16="http://schemas.microsoft.com/office/drawing/2014/main" id="{482CA0AE-1090-4FB7-BB75-998BBE80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209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5" name="chain-node-accent-0">
            <a:extLst xmlns:a="http://schemas.openxmlformats.org/drawingml/2006/main">
              <a:ext uri="{FF2B5EF4-FFF2-40B4-BE49-F238E27FC236}">
                <a16:creationId xmlns:a16="http://schemas.microsoft.com/office/drawing/2014/main" id="{5601820C-D4CB-4C1B-B370-CB75A733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hain-no-0">
            <a:extLst xmlns:a="http://schemas.openxmlformats.org/drawingml/2006/main">
              <a:ext uri="{FF2B5EF4-FFF2-40B4-BE49-F238E27FC236}">
                <a16:creationId xmlns:a16="http://schemas.microsoft.com/office/drawing/2014/main" id="{CB817A5A-9635-469B-B365-F4286AB1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266950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C794D"/>
                </a:solidFill>
              </a:defRPr>
            </a:pPr>
            <a:r>
              <a:rPr sz="900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7" name="chain-role-0">
            <a:extLst xmlns:a="http://schemas.openxmlformats.org/drawingml/2006/main">
              <a:ext uri="{FF2B5EF4-FFF2-40B4-BE49-F238E27FC236}">
                <a16:creationId xmlns:a16="http://schemas.microsoft.com/office/drawing/2014/main" id="{1012F5A5-D419-44F9-9193-D9AF1AEA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47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客户触达</a:t>
            </a:r>
          </a:p>
        </p:txBody>
      </p:sp>
      <p:sp>
        <p:nvSpPr>
          <p:cNvPr id="18" name="chain-name-0">
            <a:extLst xmlns:a="http://schemas.openxmlformats.org/drawingml/2006/main">
              <a:ext uri="{FF2B5EF4-FFF2-40B4-BE49-F238E27FC236}">
                <a16:creationId xmlns:a16="http://schemas.microsoft.com/office/drawing/2014/main" id="{73BCA1CB-3FF5-4EB6-A277-23B7467B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62275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前台入口</a:t>
            </a:r>
          </a:p>
        </p:txBody>
      </p:sp>
      <p:sp>
        <p:nvSpPr>
          <p:cNvPr id="19" name="chain-entities-0">
            <a:extLst xmlns:a="http://schemas.openxmlformats.org/drawingml/2006/main">
              <a:ext uri="{FF2B5EF4-FFF2-40B4-BE49-F238E27FC236}">
                <a16:creationId xmlns:a16="http://schemas.microsoft.com/office/drawing/2014/main" id="{441A5E7D-EC10-4F56-9A97-6A61467C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619500"/>
            <a:ext cx="166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M-PESA</a:t>
            </a:r>
          </a:p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Mint APP</a:t>
            </a:r>
          </a:p>
        </p:txBody>
      </p:sp>
      <p:sp>
        <p:nvSpPr>
          <p:cNvPr id="20" name="rule-89-474">
            <a:extLst xmlns:a="http://schemas.openxmlformats.org/drawingml/2006/main">
              <a:ext uri="{FF2B5EF4-FFF2-40B4-BE49-F238E27FC236}">
                <a16:creationId xmlns:a16="http://schemas.microsoft.com/office/drawing/2014/main" id="{CA600395-630C-4B65-AD26-18A9452E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514850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hain-capability-0">
            <a:extLst xmlns:a="http://schemas.openxmlformats.org/drawingml/2006/main">
              <a:ext uri="{FF2B5EF4-FFF2-40B4-BE49-F238E27FC236}">
                <a16:creationId xmlns:a16="http://schemas.microsoft.com/office/drawing/2014/main" id="{A2B4E6CF-1E3E-4CAF-9FAB-F2EBA1D5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86300"/>
            <a:ext cx="166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形成双入口</a:t>
            </a:r>
          </a:p>
        </p:txBody>
      </p:sp>
      <p:sp>
        <p:nvSpPr>
          <p:cNvPr id="22" name="chain-node-1">
            <a:extLst xmlns:a="http://schemas.openxmlformats.org/drawingml/2006/main">
              <a:ext uri="{FF2B5EF4-FFF2-40B4-BE49-F238E27FC236}">
                <a16:creationId xmlns:a16="http://schemas.microsoft.com/office/drawing/2014/main" id="{0D05FE94-59EF-409B-891C-19BA2354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00250"/>
            <a:ext cx="209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3" name="chain-node-accent-1">
            <a:extLst xmlns:a="http://schemas.openxmlformats.org/drawingml/2006/main">
              <a:ext uri="{FF2B5EF4-FFF2-40B4-BE49-F238E27FC236}">
                <a16:creationId xmlns:a16="http://schemas.microsoft.com/office/drawing/2014/main" id="{011EA969-4BBA-42D4-AEF8-44CCD8F2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002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hain-no-1">
            <a:extLst xmlns:a="http://schemas.openxmlformats.org/drawingml/2006/main">
              <a:ext uri="{FF2B5EF4-FFF2-40B4-BE49-F238E27FC236}">
                <a16:creationId xmlns:a16="http://schemas.microsoft.com/office/drawing/2014/main" id="{31165C98-954C-4751-A247-0F64FAB2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266950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02</a:t>
            </a:r>
          </a:p>
        </p:txBody>
      </p:sp>
      <p:sp>
        <p:nvSpPr>
          <p:cNvPr id="25" name="chain-role-1">
            <a:extLst xmlns:a="http://schemas.openxmlformats.org/drawingml/2006/main">
              <a:ext uri="{FF2B5EF4-FFF2-40B4-BE49-F238E27FC236}">
                <a16:creationId xmlns:a16="http://schemas.microsoft.com/office/drawing/2014/main" id="{626B487E-4581-4CEA-91B5-8B18D5C6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647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流量与风险</a:t>
            </a:r>
          </a:p>
        </p:txBody>
      </p:sp>
      <p:sp>
        <p:nvSpPr>
          <p:cNvPr id="26" name="chain-name-1">
            <a:extLst xmlns:a="http://schemas.openxmlformats.org/drawingml/2006/main">
              <a:ext uri="{FF2B5EF4-FFF2-40B4-BE49-F238E27FC236}">
                <a16:creationId xmlns:a16="http://schemas.microsoft.com/office/drawing/2014/main" id="{B46DF76B-686E-48BE-A91C-2D6BC3A7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962275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能力协同</a:t>
            </a:r>
          </a:p>
        </p:txBody>
      </p:sp>
      <p:sp>
        <p:nvSpPr>
          <p:cNvPr id="27" name="chain-entities-1">
            <a:extLst xmlns:a="http://schemas.openxmlformats.org/drawingml/2006/main">
              <a:ext uri="{FF2B5EF4-FFF2-40B4-BE49-F238E27FC236}">
                <a16:creationId xmlns:a16="http://schemas.microsoft.com/office/drawing/2014/main" id="{3AE3DB01-7FC2-4341-94BE-3DAD132D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619500"/>
            <a:ext cx="166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Transsion</a:t>
            </a:r>
          </a:p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微众</a:t>
            </a:r>
          </a:p>
        </p:txBody>
      </p:sp>
      <p:sp>
        <p:nvSpPr>
          <p:cNvPr id="28" name="rule-349-474">
            <a:extLst xmlns:a="http://schemas.openxmlformats.org/drawingml/2006/main">
              <a:ext uri="{FF2B5EF4-FFF2-40B4-BE49-F238E27FC236}">
                <a16:creationId xmlns:a16="http://schemas.microsoft.com/office/drawing/2014/main" id="{C766CAE8-18AD-49C9-8A0F-B411F2BC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514850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hain-capability-1">
            <a:extLst xmlns:a="http://schemas.openxmlformats.org/drawingml/2006/main">
              <a:ext uri="{FF2B5EF4-FFF2-40B4-BE49-F238E27FC236}">
                <a16:creationId xmlns:a16="http://schemas.microsoft.com/office/drawing/2014/main" id="{DD9F142B-15B2-4DBB-B806-EBFEB725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686300"/>
            <a:ext cx="166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流量 + 风险能力</a:t>
            </a:r>
          </a:p>
        </p:txBody>
      </p:sp>
      <p:sp>
        <p:nvSpPr>
          <p:cNvPr id="30" name="chain-node-2">
            <a:extLst xmlns:a="http://schemas.openxmlformats.org/drawingml/2006/main">
              <a:ext uri="{FF2B5EF4-FFF2-40B4-BE49-F238E27FC236}">
                <a16:creationId xmlns:a16="http://schemas.microsoft.com/office/drawing/2014/main" id="{22A614D3-4054-492D-90AB-C75A5C93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00250"/>
            <a:ext cx="209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1" name="chain-node-accent-2">
            <a:extLst xmlns:a="http://schemas.openxmlformats.org/drawingml/2006/main">
              <a:ext uri="{FF2B5EF4-FFF2-40B4-BE49-F238E27FC236}">
                <a16:creationId xmlns:a16="http://schemas.microsoft.com/office/drawing/2014/main" id="{9081AB6E-47B4-4189-8A62-7F9EB647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002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chain-no-2">
            <a:extLst xmlns:a="http://schemas.openxmlformats.org/drawingml/2006/main">
              <a:ext uri="{FF2B5EF4-FFF2-40B4-BE49-F238E27FC236}">
                <a16:creationId xmlns:a16="http://schemas.microsoft.com/office/drawing/2014/main" id="{A6FF98B1-837C-40B9-8343-74C82A0E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266950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7E89"/>
                </a:solidFill>
              </a:defRPr>
            </a:pPr>
            <a:r>
              <a:rPr sz="900" b="1">
                <a:solidFill>
                  <a:srgbClr val="547E89"/>
                </a:solidFill>
              </a:rPr>
              <a:t>03</a:t>
            </a:r>
          </a:p>
        </p:txBody>
      </p:sp>
      <p:sp>
        <p:nvSpPr>
          <p:cNvPr id="33" name="chain-role-2">
            <a:extLst xmlns:a="http://schemas.openxmlformats.org/drawingml/2006/main">
              <a:ext uri="{FF2B5EF4-FFF2-40B4-BE49-F238E27FC236}">
                <a16:creationId xmlns:a16="http://schemas.microsoft.com/office/drawing/2014/main" id="{CD046EDE-BE9D-4A18-AE44-AB6463A5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647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金融服务</a:t>
            </a:r>
          </a:p>
        </p:txBody>
      </p:sp>
      <p:sp>
        <p:nvSpPr>
          <p:cNvPr id="34" name="chain-name-2">
            <a:extLst xmlns:a="http://schemas.openxmlformats.org/drawingml/2006/main">
              <a:ext uri="{FF2B5EF4-FFF2-40B4-BE49-F238E27FC236}">
                <a16:creationId xmlns:a16="http://schemas.microsoft.com/office/drawing/2014/main" id="{BD33CCDD-2E24-4C11-961A-BF3C532B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962275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银行承接</a:t>
            </a:r>
          </a:p>
        </p:txBody>
      </p:sp>
      <p:sp>
        <p:nvSpPr>
          <p:cNvPr id="35" name="chain-entities-2">
            <a:extLst xmlns:a="http://schemas.openxmlformats.org/drawingml/2006/main">
              <a:ext uri="{FF2B5EF4-FFF2-40B4-BE49-F238E27FC236}">
                <a16:creationId xmlns:a16="http://schemas.microsoft.com/office/drawing/2014/main" id="{B9E2200F-493F-4031-9899-D7D26654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619500"/>
            <a:ext cx="166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传音银行</a:t>
            </a:r>
          </a:p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接入银行</a:t>
            </a:r>
          </a:p>
        </p:txBody>
      </p:sp>
      <p:sp>
        <p:nvSpPr>
          <p:cNvPr id="36" name="rule-609-474">
            <a:extLst xmlns:a="http://schemas.openxmlformats.org/drawingml/2006/main">
              <a:ext uri="{FF2B5EF4-FFF2-40B4-BE49-F238E27FC236}">
                <a16:creationId xmlns:a16="http://schemas.microsoft.com/office/drawing/2014/main" id="{6F64F647-CE29-42EB-A4B0-9E1F9EB4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514850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hain-capability-2">
            <a:extLst xmlns:a="http://schemas.openxmlformats.org/drawingml/2006/main">
              <a:ext uri="{FF2B5EF4-FFF2-40B4-BE49-F238E27FC236}">
                <a16:creationId xmlns:a16="http://schemas.microsoft.com/office/drawing/2014/main" id="{741C33DB-4972-40FA-8B88-33C8EF60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686300"/>
            <a:ext cx="166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承接银行业务</a:t>
            </a:r>
          </a:p>
        </p:txBody>
      </p:sp>
      <p:sp>
        <p:nvSpPr>
          <p:cNvPr id="38" name="chain-callout">
            <a:extLst xmlns:a="http://schemas.openxmlformats.org/drawingml/2006/main">
              <a:ext uri="{FF2B5EF4-FFF2-40B4-BE49-F238E27FC236}">
                <a16:creationId xmlns:a16="http://schemas.microsoft.com/office/drawing/2014/main" id="{0DD244C9-FBF4-442E-8CDC-647830B8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3333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label-900-242">
            <a:extLst xmlns:a="http://schemas.openxmlformats.org/drawingml/2006/main">
              <a:ext uri="{FF2B5EF4-FFF2-40B4-BE49-F238E27FC236}">
                <a16:creationId xmlns:a16="http://schemas.microsoft.com/office/drawing/2014/main" id="{61C53BF0-35F8-4B50-BEE0-A884C9C1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050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CDB2"/>
                </a:solidFill>
              </a:defRPr>
            </a:pPr>
            <a:r>
              <a:rPr sz="750" b="1">
                <a:solidFill>
                  <a:srgbClr val="8CCDB2"/>
                </a:solidFill>
              </a:rPr>
              <a:t>讨论重点</a:t>
            </a:r>
          </a:p>
        </p:txBody>
      </p:sp>
      <p:sp>
        <p:nvSpPr>
          <p:cNvPr id="40" name="chain-callout-title">
            <a:extLst xmlns:a="http://schemas.openxmlformats.org/drawingml/2006/main">
              <a:ext uri="{FF2B5EF4-FFF2-40B4-BE49-F238E27FC236}">
                <a16:creationId xmlns:a16="http://schemas.microsoft.com/office/drawing/2014/main" id="{A047325A-CAB6-43EF-A082-31534CBC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DF8"/>
                </a:solidFill>
              </a:defRPr>
            </a:pPr>
            <a:r>
              <a:rPr sz="2325" b="1">
                <a:solidFill>
                  <a:srgbClr val="FFFDF8"/>
                </a:solidFill>
              </a:rPr>
              <a:t>是否继续探索</a:t>
            </a:r>
          </a:p>
          <a:p xmlns:a="http://schemas.openxmlformats.org/drawingml/2006/main">
            <a:pPr algn="l">
              <a:defRPr sz="2325" b="1">
                <a:solidFill>
                  <a:srgbClr val="FFFDF8"/>
                </a:solidFill>
              </a:defRPr>
            </a:pPr>
            <a:r>
              <a:rPr sz="2325" b="1">
                <a:solidFill>
                  <a:srgbClr val="FFFDF8"/>
                </a:solidFill>
              </a:rPr>
              <a:t>三层合作</a:t>
            </a:r>
          </a:p>
        </p:txBody>
      </p:sp>
      <p:sp>
        <p:nvSpPr>
          <p:cNvPr id="41" name="chain-callout-detail">
            <a:extLst xmlns:a="http://schemas.openxmlformats.org/drawingml/2006/main">
              <a:ext uri="{FF2B5EF4-FFF2-40B4-BE49-F238E27FC236}">
                <a16:creationId xmlns:a16="http://schemas.microsoft.com/office/drawing/2014/main" id="{DB621A89-C4A5-495D-A946-C8D626F2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910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围绕入口、能力协同与银行承接进一步确认</a:t>
            </a:r>
          </a:p>
        </p:txBody>
      </p:sp>
    </p:spTree>
    <p:extLst>
      <p:ext uri="{BB962C8B-B14F-4D97-AF65-F5344CB8AC3E}">
        <p14:creationId xmlns:p14="http://schemas.microsoft.com/office/powerpoint/2010/main" val="598894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le-60-45">
            <a:extLst xmlns:a="http://schemas.openxmlformats.org/drawingml/2006/main">
              <a:ext uri="{FF2B5EF4-FFF2-40B4-BE49-F238E27FC236}">
                <a16:creationId xmlns:a16="http://schemas.microsoft.com/office/drawing/2014/main" id="{1C1C86D2-664B-4727-853E-7B32DA25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0CFBCACD-1925-43C6-BE0B-C12FCBC4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A7FF70D7-76BC-43D6-976B-93DD4CBF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关键风险判断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DDD087-6CD7-4D99-B392-6285C4B4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15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A7E7B81A-3541-40E6-9326-1DD8D8B9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772826D2-2321-4270-B166-3760653B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1F926B83-31C8-43C5-8DA8-91F45A30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81DE01C-6024-4053-AA3F-DCF7B82C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15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FB9C484E-11CE-4A55-8D2C-1A471A12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正式合作证据不足，可能影响监管真实性审核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B7F15843-0250-47F4-A292-50CF903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风险页先给出判断，再说明证据、影响和需要推动的动作。</a:t>
            </a:r>
          </a:p>
        </p:txBody>
      </p:sp>
      <p:sp>
        <p:nvSpPr>
          <p:cNvPr id="11" name="risk-judgment">
            <a:extLst xmlns:a="http://schemas.openxmlformats.org/drawingml/2006/main">
              <a:ext uri="{FF2B5EF4-FFF2-40B4-BE49-F238E27FC236}">
                <a16:creationId xmlns:a16="http://schemas.microsoft.com/office/drawing/2014/main" id="{224714AE-DBAC-4FC1-9D92-BC609AAF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63817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4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95-225">
            <a:extLst xmlns:a="http://schemas.openxmlformats.org/drawingml/2006/main">
              <a:ext uri="{FF2B5EF4-FFF2-40B4-BE49-F238E27FC236}">
                <a16:creationId xmlns:a16="http://schemas.microsoft.com/office/drawing/2014/main" id="{D0081C22-9EEC-4E8E-9807-98FB6389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4312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0B5A1"/>
                </a:solidFill>
              </a:defRPr>
            </a:pPr>
            <a:r>
              <a:rPr sz="750" b="1">
                <a:solidFill>
                  <a:srgbClr val="F0B5A1"/>
                </a:solidFill>
              </a:rPr>
              <a:t>KEY RISK</a:t>
            </a:r>
          </a:p>
        </p:txBody>
      </p:sp>
      <p:sp>
        <p:nvSpPr>
          <p:cNvPr id="13" name="risk-level">
            <a:extLst xmlns:a="http://schemas.openxmlformats.org/drawingml/2006/main">
              <a:ext uri="{FF2B5EF4-FFF2-40B4-BE49-F238E27FC236}">
                <a16:creationId xmlns:a16="http://schemas.microsoft.com/office/drawing/2014/main" id="{E2F51736-7068-46B3-A313-7F923FF9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高影响</a:t>
            </a:r>
          </a:p>
        </p:txBody>
      </p:sp>
      <p:sp>
        <p:nvSpPr>
          <p:cNvPr id="14" name="risk-title">
            <a:extLst xmlns:a="http://schemas.openxmlformats.org/drawingml/2006/main">
              <a:ext uri="{FF2B5EF4-FFF2-40B4-BE49-F238E27FC236}">
                <a16:creationId xmlns:a16="http://schemas.microsoft.com/office/drawing/2014/main" id="{FAA52FBD-8E5D-4864-B530-1BD4FA52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57500"/>
            <a:ext cx="5334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DF8"/>
                </a:solidFill>
              </a:defRPr>
            </a:pPr>
            <a:r>
              <a:rPr sz="2700" b="1">
                <a:solidFill>
                  <a:srgbClr val="FFFDF8"/>
                </a:solidFill>
              </a:rPr>
              <a:t>合作真实性证据</a:t>
            </a:r>
          </a:p>
          <a:p xmlns:a="http://schemas.openxmlformats.org/drawingml/2006/main">
            <a:pPr algn="l">
              <a:defRPr sz="2700" b="1">
                <a:solidFill>
                  <a:srgbClr val="FFFDF8"/>
                </a:solidFill>
              </a:defRPr>
            </a:pPr>
            <a:r>
              <a:rPr sz="2700" b="1">
                <a:solidFill>
                  <a:srgbClr val="FFFDF8"/>
                </a:solidFill>
              </a:rPr>
              <a:t>仍不充分</a:t>
            </a:r>
          </a:p>
        </p:txBody>
      </p:sp>
      <p:sp>
        <p:nvSpPr>
          <p:cNvPr id="15" name="risk-summary">
            <a:extLst xmlns:a="http://schemas.openxmlformats.org/drawingml/2006/main">
              <a:ext uri="{FF2B5EF4-FFF2-40B4-BE49-F238E27FC236}">
                <a16:creationId xmlns:a16="http://schemas.microsoft.com/office/drawing/2014/main" id="{3EC06C23-261A-4EE7-BCE7-803C0D87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767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D9CF"/>
                </a:solidFill>
              </a:defRPr>
            </a:pPr>
            <a:r>
              <a:rPr sz="1125" b="0">
                <a:solidFill>
                  <a:srgbClr val="F4D9CF"/>
                </a:solidFill>
              </a:rPr>
              <a:t>重要风险判断应独立成页或进入显著风险模块，不能埋在正文说明中。</a:t>
            </a:r>
          </a:p>
        </p:txBody>
      </p:sp>
      <p:sp>
        <p:nvSpPr>
          <p:cNvPr id="16" name="risk-side-0">
            <a:extLst xmlns:a="http://schemas.openxmlformats.org/drawingml/2006/main">
              <a:ext uri="{FF2B5EF4-FFF2-40B4-BE49-F238E27FC236}">
                <a16:creationId xmlns:a16="http://schemas.microsoft.com/office/drawing/2014/main" id="{F857CD3C-29D4-4540-90A4-C8A91456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09750"/>
            <a:ext cx="4429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risk-side-accent-0">
            <a:extLst xmlns:a="http://schemas.openxmlformats.org/drawingml/2006/main">
              <a:ext uri="{FF2B5EF4-FFF2-40B4-BE49-F238E27FC236}">
                <a16:creationId xmlns:a16="http://schemas.microsoft.com/office/drawing/2014/main" id="{E7B00877-163F-46DD-BC01-C256A7D1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097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isk-side-label-0">
            <a:extLst xmlns:a="http://schemas.openxmlformats.org/drawingml/2006/main">
              <a:ext uri="{FF2B5EF4-FFF2-40B4-BE49-F238E27FC236}">
                <a16:creationId xmlns:a16="http://schemas.microsoft.com/office/drawing/2014/main" id="{57D6E522-5DEA-4AD2-87C9-3F75094D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981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判断依据</a:t>
            </a:r>
          </a:p>
        </p:txBody>
      </p:sp>
      <p:sp>
        <p:nvSpPr>
          <p:cNvPr id="19" name="risk-side-value-0">
            <a:extLst xmlns:a="http://schemas.openxmlformats.org/drawingml/2006/main">
              <a:ext uri="{FF2B5EF4-FFF2-40B4-BE49-F238E27FC236}">
                <a16:creationId xmlns:a16="http://schemas.microsoft.com/office/drawing/2014/main" id="{7482CA1B-C01E-4F30-AB1F-814DB948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955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A24"/>
                </a:solidFill>
              </a:defRPr>
            </a:pPr>
            <a:r>
              <a:rPr sz="1425" b="1">
                <a:solidFill>
                  <a:srgbClr val="162A24"/>
                </a:solidFill>
              </a:rPr>
              <a:t>目前仅有意向材料</a:t>
            </a:r>
          </a:p>
        </p:txBody>
      </p:sp>
      <p:sp>
        <p:nvSpPr>
          <p:cNvPr id="20" name="risk-side-1">
            <a:extLst xmlns:a="http://schemas.openxmlformats.org/drawingml/2006/main">
              <a:ext uri="{FF2B5EF4-FFF2-40B4-BE49-F238E27FC236}">
                <a16:creationId xmlns:a16="http://schemas.microsoft.com/office/drawing/2014/main" id="{903FD6EB-3415-4088-AC9D-844C547B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05150"/>
            <a:ext cx="4429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1" name="risk-side-accent-1">
            <a:extLst xmlns:a="http://schemas.openxmlformats.org/drawingml/2006/main">
              <a:ext uri="{FF2B5EF4-FFF2-40B4-BE49-F238E27FC236}">
                <a16:creationId xmlns:a16="http://schemas.microsoft.com/office/drawing/2014/main" id="{5155C2C9-BF86-4C89-AB11-8A26E761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051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isk-side-label-1">
            <a:extLst xmlns:a="http://schemas.openxmlformats.org/drawingml/2006/main">
              <a:ext uri="{FF2B5EF4-FFF2-40B4-BE49-F238E27FC236}">
                <a16:creationId xmlns:a16="http://schemas.microsoft.com/office/drawing/2014/main" id="{10965863-9873-46AA-9ADB-00FB3FD3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2766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C794D"/>
                </a:solidFill>
              </a:defRPr>
            </a:pPr>
            <a:r>
              <a:rPr sz="900" b="1">
                <a:solidFill>
                  <a:srgbClr val="BC794D"/>
                </a:solidFill>
              </a:rPr>
              <a:t>可能影响</a:t>
            </a:r>
          </a:p>
        </p:txBody>
      </p:sp>
      <p:sp>
        <p:nvSpPr>
          <p:cNvPr id="23" name="risk-side-value-1">
            <a:extLst xmlns:a="http://schemas.openxmlformats.org/drawingml/2006/main">
              <a:ext uri="{FF2B5EF4-FFF2-40B4-BE49-F238E27FC236}">
                <a16:creationId xmlns:a16="http://schemas.microsoft.com/office/drawing/2014/main" id="{A8F54D48-40A7-4F2D-9293-ABEA8BEE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909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A24"/>
                </a:solidFill>
              </a:defRPr>
            </a:pPr>
            <a:r>
              <a:rPr sz="1425" b="1">
                <a:solidFill>
                  <a:srgbClr val="162A24"/>
                </a:solidFill>
              </a:rPr>
              <a:t>影响监管真实性审核</a:t>
            </a:r>
          </a:p>
        </p:txBody>
      </p:sp>
      <p:sp>
        <p:nvSpPr>
          <p:cNvPr id="24" name="risk-side-2">
            <a:extLst xmlns:a="http://schemas.openxmlformats.org/drawingml/2006/main">
              <a:ext uri="{FF2B5EF4-FFF2-40B4-BE49-F238E27FC236}">
                <a16:creationId xmlns:a16="http://schemas.microsoft.com/office/drawing/2014/main" id="{42F090E9-E124-4E51-A499-C7A21BF6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00550"/>
            <a:ext cx="4429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5" name="risk-side-accent-2">
            <a:extLst xmlns:a="http://schemas.openxmlformats.org/drawingml/2006/main">
              <a:ext uri="{FF2B5EF4-FFF2-40B4-BE49-F238E27FC236}">
                <a16:creationId xmlns:a16="http://schemas.microsoft.com/office/drawing/2014/main" id="{C8475C4B-68B3-43D3-BA55-8A6E1F5D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005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isk-side-label-2">
            <a:extLst xmlns:a="http://schemas.openxmlformats.org/drawingml/2006/main">
              <a:ext uri="{FF2B5EF4-FFF2-40B4-BE49-F238E27FC236}">
                <a16:creationId xmlns:a16="http://schemas.microsoft.com/office/drawing/2014/main" id="{B2E37772-1ABE-4543-B429-10D0C76B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5720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7E89"/>
                </a:solidFill>
              </a:defRPr>
            </a:pPr>
            <a:r>
              <a:rPr sz="900" b="1">
                <a:solidFill>
                  <a:srgbClr val="547E89"/>
                </a:solidFill>
              </a:rPr>
              <a:t>需要推动</a:t>
            </a:r>
          </a:p>
        </p:txBody>
      </p:sp>
      <p:sp>
        <p:nvSpPr>
          <p:cNvPr id="27" name="risk-side-value-2">
            <a:extLst xmlns:a="http://schemas.openxmlformats.org/drawingml/2006/main">
              <a:ext uri="{FF2B5EF4-FFF2-40B4-BE49-F238E27FC236}">
                <a16:creationId xmlns:a16="http://schemas.microsoft.com/office/drawing/2014/main" id="{786135F2-51D9-400B-848A-A7887811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8863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A24"/>
                </a:solidFill>
              </a:defRPr>
            </a:pPr>
            <a:r>
              <a:rPr sz="1425" b="1">
                <a:solidFill>
                  <a:srgbClr val="162A24"/>
                </a:solidFill>
              </a:rPr>
              <a:t>尽快签署正式协议</a:t>
            </a:r>
          </a:p>
        </p:txBody>
      </p:sp>
    </p:spTree>
    <p:extLst>
      <p:ext uri="{BB962C8B-B14F-4D97-AF65-F5344CB8AC3E}">
        <p14:creationId xmlns:p14="http://schemas.microsoft.com/office/powerpoint/2010/main" val="5180967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ule-60-45">
            <a:extLst xmlns:a="http://schemas.openxmlformats.org/drawingml/2006/main">
              <a:ext uri="{FF2B5EF4-FFF2-40B4-BE49-F238E27FC236}">
                <a16:creationId xmlns:a16="http://schemas.microsoft.com/office/drawing/2014/main" id="{5CE59334-257A-425C-AE8F-79466E49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91F1A488-3838-4474-8FC3-00892636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96A894BD-CA03-4AD6-BC5E-DB034FD2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资本与决策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A254F0-2435-491F-A70A-DB2121DC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16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22F949DE-9729-4D0D-9B69-4BFD7843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E614BED5-8256-4767-A9AC-410A8E23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557DEA83-5DDD-4B31-B35F-14502629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C14DB82-11C1-496D-8D85-11815EEE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16 / 18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1AFC81E0-D7D8-45B3-A889-468C08B4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启动资金约 5,000 万美元，股权及出资安排仍待明确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286D00B2-CD94-483B-8255-EF97EEFA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资金、规模和审批条件必须从普通说明中单独拎出。</a:t>
            </a:r>
          </a:p>
        </p:txBody>
      </p:sp>
      <p:sp>
        <p:nvSpPr>
          <p:cNvPr id="11" name="capital-main">
            <a:extLst xmlns:a="http://schemas.openxmlformats.org/drawingml/2006/main">
              <a:ext uri="{FF2B5EF4-FFF2-40B4-BE49-F238E27FC236}">
                <a16:creationId xmlns:a16="http://schemas.microsoft.com/office/drawing/2014/main" id="{8F4C29EF-CFF1-4B08-95FD-448D8B80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8577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95-225">
            <a:extLst xmlns:a="http://schemas.openxmlformats.org/drawingml/2006/main">
              <a:ext uri="{FF2B5EF4-FFF2-40B4-BE49-F238E27FC236}">
                <a16:creationId xmlns:a16="http://schemas.microsoft.com/office/drawing/2014/main" id="{12FFB201-EC16-434E-90C8-A4D6A5E5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431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E3CF"/>
                </a:solidFill>
              </a:defRPr>
            </a:pPr>
            <a:r>
              <a:rPr sz="750" b="1">
                <a:solidFill>
                  <a:srgbClr val="FFE3CF"/>
                </a:solidFill>
              </a:rPr>
              <a:t>CAPITAL</a:t>
            </a:r>
          </a:p>
        </p:txBody>
      </p:sp>
      <p:sp>
        <p:nvSpPr>
          <p:cNvPr id="13" name="capital-value">
            <a:extLst xmlns:a="http://schemas.openxmlformats.org/drawingml/2006/main">
              <a:ext uri="{FF2B5EF4-FFF2-40B4-BE49-F238E27FC236}">
                <a16:creationId xmlns:a16="http://schemas.microsoft.com/office/drawing/2014/main" id="{9E926D6C-25E8-4BC8-905E-5BC0DE6F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342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FFFDF8"/>
                </a:solidFill>
              </a:defRPr>
            </a:pPr>
            <a:r>
              <a:rPr sz="4875" b="1">
                <a:solidFill>
                  <a:srgbClr val="FFFDF8"/>
                </a:solidFill>
              </a:rPr>
              <a:t>5,000</a:t>
            </a:r>
          </a:p>
        </p:txBody>
      </p:sp>
      <p:sp>
        <p:nvSpPr>
          <p:cNvPr id="14" name="capital-unit">
            <a:extLst xmlns:a="http://schemas.openxmlformats.org/drawingml/2006/main">
              <a:ext uri="{FF2B5EF4-FFF2-40B4-BE49-F238E27FC236}">
                <a16:creationId xmlns:a16="http://schemas.microsoft.com/office/drawing/2014/main" id="{2F4D878E-3A36-42E7-84A6-F63308F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432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DF8"/>
                </a:solidFill>
              </a:defRPr>
            </a:pPr>
            <a:r>
              <a:rPr sz="1650" b="1">
                <a:solidFill>
                  <a:srgbClr val="FFFDF8"/>
                </a:solidFill>
              </a:rPr>
              <a:t>万美元</a:t>
            </a:r>
          </a:p>
        </p:txBody>
      </p:sp>
      <p:sp>
        <p:nvSpPr>
          <p:cNvPr id="15" name="capital-status">
            <a:extLst xmlns:a="http://schemas.openxmlformats.org/drawingml/2006/main">
              <a:ext uri="{FF2B5EF4-FFF2-40B4-BE49-F238E27FC236}">
                <a16:creationId xmlns:a16="http://schemas.microsoft.com/office/drawing/2014/main" id="{89A72152-5E08-4E10-95F3-57722502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38625"/>
            <a:ext cx="3857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0E6"/>
                </a:solidFill>
              </a:defRPr>
            </a:pPr>
            <a:r>
              <a:rPr sz="1125" b="0">
                <a:solidFill>
                  <a:srgbClr val="FFF0E6"/>
                </a:solidFill>
              </a:rPr>
              <a:t>当前状态｜启动资金规模已讨论，具体股权比例与出资安排待定</a:t>
            </a:r>
          </a:p>
        </p:txBody>
      </p:sp>
      <p:sp>
        <p:nvSpPr>
          <p:cNvPr id="16" name="capital-decision-label">
            <a:extLst xmlns:a="http://schemas.openxmlformats.org/drawingml/2006/main">
              <a:ext uri="{FF2B5EF4-FFF2-40B4-BE49-F238E27FC236}">
                <a16:creationId xmlns:a16="http://schemas.microsoft.com/office/drawing/2014/main" id="{0D0EFD00-4C59-401E-8360-06D41CE1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52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管理层需要推动</a:t>
            </a:r>
          </a:p>
        </p:txBody>
      </p:sp>
      <p:sp>
        <p:nvSpPr>
          <p:cNvPr id="17" name="capital-action-0">
            <a:extLst xmlns:a="http://schemas.openxmlformats.org/drawingml/2006/main">
              <a:ext uri="{FF2B5EF4-FFF2-40B4-BE49-F238E27FC236}">
                <a16:creationId xmlns:a16="http://schemas.microsoft.com/office/drawing/2014/main" id="{3C73CD74-0AB8-41F4-9078-11661169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28875"/>
            <a:ext cx="571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8" name="capital-action-no-0">
            <a:extLst xmlns:a="http://schemas.openxmlformats.org/drawingml/2006/main">
              <a:ext uri="{FF2B5EF4-FFF2-40B4-BE49-F238E27FC236}">
                <a16:creationId xmlns:a16="http://schemas.microsoft.com/office/drawing/2014/main" id="{BFFE9652-F240-4951-9176-3F5B52E6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1937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9" name="capital-action-title-0">
            <a:extLst xmlns:a="http://schemas.openxmlformats.org/drawingml/2006/main">
              <a:ext uri="{FF2B5EF4-FFF2-40B4-BE49-F238E27FC236}">
                <a16:creationId xmlns:a16="http://schemas.microsoft.com/office/drawing/2014/main" id="{541AC322-C590-4C3D-A624-BA7E6613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812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明确资本方案</a:t>
            </a:r>
          </a:p>
        </p:txBody>
      </p:sp>
      <p:sp>
        <p:nvSpPr>
          <p:cNvPr id="20" name="capital-action-detail-0">
            <a:extLst xmlns:a="http://schemas.openxmlformats.org/drawingml/2006/main">
              <a:ext uri="{FF2B5EF4-FFF2-40B4-BE49-F238E27FC236}">
                <a16:creationId xmlns:a16="http://schemas.microsoft.com/office/drawing/2014/main" id="{08D1B931-3D14-4EA3-BC7E-8446099F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0325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 Owner 与确认时间</a:t>
            </a:r>
          </a:p>
        </p:txBody>
      </p:sp>
      <p:sp>
        <p:nvSpPr>
          <p:cNvPr id="21" name="capital-action-1">
            <a:extLst xmlns:a="http://schemas.openxmlformats.org/drawingml/2006/main">
              <a:ext uri="{FF2B5EF4-FFF2-40B4-BE49-F238E27FC236}">
                <a16:creationId xmlns:a16="http://schemas.microsoft.com/office/drawing/2014/main" id="{67226664-106C-460A-9476-F6E269D7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71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capital-action-no-1">
            <a:extLst xmlns:a="http://schemas.openxmlformats.org/drawingml/2006/main">
              <a:ext uri="{FF2B5EF4-FFF2-40B4-BE49-F238E27FC236}">
                <a16:creationId xmlns:a16="http://schemas.microsoft.com/office/drawing/2014/main" id="{646F8A97-7B08-41FE-A4CC-6411EE50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61950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02</a:t>
            </a:r>
          </a:p>
        </p:txBody>
      </p:sp>
      <p:sp>
        <p:nvSpPr>
          <p:cNvPr id="23" name="capital-action-title-1">
            <a:extLst xmlns:a="http://schemas.openxmlformats.org/drawingml/2006/main">
              <a:ext uri="{FF2B5EF4-FFF2-40B4-BE49-F238E27FC236}">
                <a16:creationId xmlns:a16="http://schemas.microsoft.com/office/drawing/2014/main" id="{59B7B943-7332-4DB8-AC58-06D44D02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确认股权结构</a:t>
            </a:r>
          </a:p>
        </p:txBody>
      </p:sp>
      <p:sp>
        <p:nvSpPr>
          <p:cNvPr id="24" name="capital-action-detail-1">
            <a:extLst xmlns:a="http://schemas.openxmlformats.org/drawingml/2006/main">
              <a:ext uri="{FF2B5EF4-FFF2-40B4-BE49-F238E27FC236}">
                <a16:creationId xmlns:a16="http://schemas.microsoft.com/office/drawing/2014/main" id="{A55C9017-EC6F-437B-B384-36CA98BD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00450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 Owner 与确认时间</a:t>
            </a:r>
          </a:p>
        </p:txBody>
      </p:sp>
      <p:sp>
        <p:nvSpPr>
          <p:cNvPr id="25" name="capital-action-2">
            <a:extLst xmlns:a="http://schemas.openxmlformats.org/drawingml/2006/main">
              <a:ext uri="{FF2B5EF4-FFF2-40B4-BE49-F238E27FC236}">
                <a16:creationId xmlns:a16="http://schemas.microsoft.com/office/drawing/2014/main" id="{75BE9FE4-4EDA-4766-B6D9-F3FD2C87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29125"/>
            <a:ext cx="571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capital-action-no-2">
            <a:extLst xmlns:a="http://schemas.openxmlformats.org/drawingml/2006/main">
              <a:ext uri="{FF2B5EF4-FFF2-40B4-BE49-F238E27FC236}">
                <a16:creationId xmlns:a16="http://schemas.microsoft.com/office/drawing/2014/main" id="{D8F31BFF-E8C3-4AF0-8182-B74649EE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96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03</a:t>
            </a:r>
          </a:p>
        </p:txBody>
      </p:sp>
      <p:sp>
        <p:nvSpPr>
          <p:cNvPr id="27" name="capital-action-title-2">
            <a:extLst xmlns:a="http://schemas.openxmlformats.org/drawingml/2006/main">
              <a:ext uri="{FF2B5EF4-FFF2-40B4-BE49-F238E27FC236}">
                <a16:creationId xmlns:a16="http://schemas.microsoft.com/office/drawing/2014/main" id="{7B88A87D-6DCC-4FBC-B780-940659C7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81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锁定出资安排</a:t>
            </a:r>
          </a:p>
        </p:txBody>
      </p:sp>
      <p:sp>
        <p:nvSpPr>
          <p:cNvPr id="28" name="capital-action-detail-2">
            <a:extLst xmlns:a="http://schemas.openxmlformats.org/drawingml/2006/main">
              <a:ext uri="{FF2B5EF4-FFF2-40B4-BE49-F238E27FC236}">
                <a16:creationId xmlns:a16="http://schemas.microsoft.com/office/drawing/2014/main" id="{CD421C0C-6255-4424-BA01-B413DBCF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00575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 Owner 与确认时间</a:t>
            </a:r>
          </a:p>
        </p:txBody>
      </p:sp>
      <p:sp>
        <p:nvSpPr>
          <p:cNvPr id="29" name="capital-decision">
            <a:extLst xmlns:a="http://schemas.openxmlformats.org/drawingml/2006/main">
              <a:ext uri="{FF2B5EF4-FFF2-40B4-BE49-F238E27FC236}">
                <a16:creationId xmlns:a16="http://schemas.microsoft.com/office/drawing/2014/main" id="{082FF47E-0F8E-4666-9EC9-C97DA39E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476875"/>
            <a:ext cx="5715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apital-decision-text">
            <a:extLst xmlns:a="http://schemas.openxmlformats.org/drawingml/2006/main">
              <a:ext uri="{FF2B5EF4-FFF2-40B4-BE49-F238E27FC236}">
                <a16:creationId xmlns:a16="http://schemas.microsoft.com/office/drawing/2014/main" id="{F7FF2F72-4173-4707-9ED1-E1380BA4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572125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DF8"/>
                </a:solidFill>
              </a:defRPr>
            </a:pPr>
            <a:r>
              <a:rPr sz="1200" b="1">
                <a:solidFill>
                  <a:srgbClr val="FFFDF8"/>
                </a:solidFill>
              </a:rPr>
              <a:t>决策｜是否按该规模继续细化资本与股权方案</a:t>
            </a:r>
          </a:p>
        </p:txBody>
      </p:sp>
    </p:spTree>
    <p:extLst>
      <p:ext uri="{BB962C8B-B14F-4D97-AF65-F5344CB8AC3E}">
        <p14:creationId xmlns:p14="http://schemas.microsoft.com/office/powerpoint/2010/main" val="8129318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C786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61B552E-D962-417F-8197-4EDEFABF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2286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250" b="0">
                <a:solidFill>
                  <a:srgbClr val="FFFDF8"/>
                </a:solidFill>
              </a:defRPr>
            </a:pPr>
            <a:r>
              <a:rPr sz="5250" b="0">
                <a:solidFill>
                  <a:srgbClr val="FFFDF8"/>
                </a:solidFill>
              </a:rPr>
              <a:t>01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2C253EF-8DE3-4C3E-A55D-7E81202F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战略与目标</a:t>
            </a:r>
          </a:p>
        </p:txBody>
      </p:sp>
      <p:sp>
        <p:nvSpPr>
          <p:cNvPr id="3" name="section-claim">
            <a:extLst xmlns:a="http://schemas.openxmlformats.org/drawingml/2006/main">
              <a:ext uri="{FF2B5EF4-FFF2-40B4-BE49-F238E27FC236}">
                <a16:creationId xmlns:a16="http://schemas.microsoft.com/office/drawing/2014/main" id="{718EEB6D-0D66-435E-9E85-A5C55AD4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ECE5"/>
                </a:solidFill>
              </a:defRPr>
            </a:pPr>
            <a:r>
              <a:rPr sz="1500" b="0">
                <a:solidFill>
                  <a:srgbClr val="DCECE5"/>
                </a:solidFill>
              </a:rPr>
              <a:t>先明确本章节需要回答的问题，再进入证据与行动</a:t>
            </a:r>
          </a:p>
        </p:txBody>
      </p:sp>
      <p:sp>
        <p:nvSpPr>
          <p:cNvPr id="4" name="section-en">
            <a:extLst xmlns:a="http://schemas.openxmlformats.org/drawingml/2006/main">
              <a:ext uri="{FF2B5EF4-FFF2-40B4-BE49-F238E27FC236}">
                <a16:creationId xmlns:a16="http://schemas.microsoft.com/office/drawing/2014/main" id="{2CBAD0AB-754D-47ED-A335-0A70350B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CCDB2"/>
                </a:solidFill>
              </a:defRPr>
            </a:pPr>
            <a:r>
              <a:rPr sz="1125" b="1">
                <a:solidFill>
                  <a:srgbClr val="8CCDB2"/>
                </a:solidFill>
              </a:rPr>
              <a:t>STRATEGY &amp; DIRECTION</a:t>
            </a:r>
          </a:p>
        </p:txBody>
      </p:sp>
      <p:sp>
        <p:nvSpPr>
          <p:cNvPr id="5" name="rule-70-630">
            <a:extLst xmlns:a="http://schemas.openxmlformats.org/drawingml/2006/main">
              <a:ext uri="{FF2B5EF4-FFF2-40B4-BE49-F238E27FC236}">
                <a16:creationId xmlns:a16="http://schemas.microsoft.com/office/drawing/2014/main" id="{6BFD7EAA-3665-43AA-AE23-74FF8AB3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2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brand">
            <a:extLst xmlns:a="http://schemas.openxmlformats.org/drawingml/2006/main">
              <a:ext uri="{FF2B5EF4-FFF2-40B4-BE49-F238E27FC236}">
                <a16:creationId xmlns:a16="http://schemas.microsoft.com/office/drawing/2014/main" id="{8D8F3104-56EC-405D-AE98-1D08AFF4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DF8"/>
                </a:solidFill>
              </a:defRPr>
            </a:pPr>
            <a:r>
              <a:rPr sz="1200" b="1">
                <a:solidFill>
                  <a:srgbClr val="FFFDF8"/>
                </a:solidFill>
              </a:rPr>
              <a:t>mint</a:t>
            </a:r>
          </a:p>
        </p:txBody>
      </p:sp>
    </p:spTree>
    <p:extLst>
      <p:ext uri="{BB962C8B-B14F-4D97-AF65-F5344CB8AC3E}">
        <p14:creationId xmlns:p14="http://schemas.microsoft.com/office/powerpoint/2010/main" val="20954302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ing-brand">
            <a:extLst xmlns:a="http://schemas.openxmlformats.org/drawingml/2006/main">
              <a:ext uri="{FF2B5EF4-FFF2-40B4-BE49-F238E27FC236}">
                <a16:creationId xmlns:a16="http://schemas.microsoft.com/office/drawing/2014/main" id="{EED0DA42-8DF2-46CB-BB2E-79AB0B11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"/>
            <a:ext cx="152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2B879"/>
                </a:solidFill>
              </a:defRPr>
            </a:pPr>
            <a:r>
              <a:rPr sz="18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A155BC28-F8D0-491A-A74E-DF885CA0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C7866"/>
                </a:solidFill>
              </a:defRPr>
            </a:pPr>
            <a:r>
              <a:rPr sz="3450" b="1">
                <a:solidFill>
                  <a:srgbClr val="1C7866"/>
                </a:solidFill>
              </a:rPr>
              <a:t>谢谢</a:t>
            </a:r>
          </a:p>
        </p:txBody>
      </p:sp>
      <p:sp>
        <p:nvSpPr>
          <p:cNvPr id="3" name="closing-en">
            <a:extLst xmlns:a="http://schemas.openxmlformats.org/drawingml/2006/main">
              <a:ext uri="{FF2B5EF4-FFF2-40B4-BE49-F238E27FC236}">
                <a16:creationId xmlns:a16="http://schemas.microsoft.com/office/drawing/2014/main" id="{779B86A2-CF25-44C9-AFF3-20962EAC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C794D"/>
                </a:solidFill>
              </a:defRPr>
            </a:pPr>
            <a:r>
              <a:rPr sz="1200" b="1">
                <a:solidFill>
                  <a:srgbClr val="BC794D"/>
                </a:solidFill>
              </a:rPr>
              <a:t>THANK YOU</a:t>
            </a:r>
          </a:p>
        </p:txBody>
      </p:sp>
      <p:sp>
        <p:nvSpPr>
          <p:cNvPr id="4" name="closing-wave-0">
            <a:extLst xmlns:a="http://schemas.openxmlformats.org/drawingml/2006/main">
              <a:ext uri="{FF2B5EF4-FFF2-40B4-BE49-F238E27FC236}">
                <a16:creationId xmlns:a16="http://schemas.microsoft.com/office/drawing/2014/main" id="{3D4100E0-7E13-40F5-9F4A-CD2CE52E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4095750" cy="409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CCDB2"/>
            </a:solidFill>
            <a:prstDash val="solid"/>
          </a:ln>
        </p:spPr>
      </p:sp>
      <p:sp>
        <p:nvSpPr>
          <p:cNvPr id="5" name="closing-wave-1">
            <a:extLst xmlns:a="http://schemas.openxmlformats.org/drawingml/2006/main">
              <a:ext uri="{FF2B5EF4-FFF2-40B4-BE49-F238E27FC236}">
                <a16:creationId xmlns:a16="http://schemas.microsoft.com/office/drawing/2014/main" id="{677E0195-E888-45B0-856C-63F6BF3A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619250"/>
            <a:ext cx="3762375" cy="37623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6" name="closing-wave-2">
            <a:extLst xmlns:a="http://schemas.openxmlformats.org/drawingml/2006/main">
              <a:ext uri="{FF2B5EF4-FFF2-40B4-BE49-F238E27FC236}">
                <a16:creationId xmlns:a16="http://schemas.microsoft.com/office/drawing/2014/main" id="{999D8606-22B4-4AC4-81D4-AAB123E3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34290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47E89"/>
            </a:solidFill>
            <a:prstDash val="solid"/>
          </a:ln>
        </p:spPr>
      </p:sp>
      <p:sp>
        <p:nvSpPr>
          <p:cNvPr id="7" name="closing-wave-3">
            <a:extLst xmlns:a="http://schemas.openxmlformats.org/drawingml/2006/main">
              <a:ext uri="{FF2B5EF4-FFF2-40B4-BE49-F238E27FC236}">
                <a16:creationId xmlns:a16="http://schemas.microsoft.com/office/drawing/2014/main" id="{28DE44A6-1F95-4E33-B7A4-5CE63241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3095625" cy="3095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9525">
            <a:solidFill>
              <a:srgbClr val="0E453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79787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2026-08-13T08:44:10.5840000Z</dcterms:created>
  <dcterms:modified xsi:type="dcterms:W3CDTF">2026-08-13T08:44:10.5840000Z</dcterms:modified>
</coreProperties>
</file>